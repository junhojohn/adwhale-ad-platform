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0" r:id="rId2"/>
    <p:sldId id="262" r:id="rId3"/>
    <p:sldId id="265" r:id="rId4"/>
    <p:sldId id="263" r:id="rId5"/>
    <p:sldId id="266" r:id="rId6"/>
    <p:sldId id="264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35"/>
    <p:restoredTop sz="96301"/>
  </p:normalViewPr>
  <p:slideViewPr>
    <p:cSldViewPr snapToGrid="0">
      <p:cViewPr>
        <p:scale>
          <a:sx n="88" d="100"/>
          <a:sy n="88" d="100"/>
        </p:scale>
        <p:origin x="2208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A11D8-9FBF-BE45-8A5C-83720B617A33}" type="datetimeFigureOut">
              <a:rPr kumimoji="1" lang="ko-KR" altLang="en-US" smtClean="0"/>
              <a:t>2026. 10. 12.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2E87C-EAF6-AF46-88AE-5EAB464FB61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70233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EBFAA-990A-1A34-7BAC-45627785F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3DE641-E857-E19B-E818-C4DFAFE11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D98FF0-CE26-B19E-CA5C-66D11109B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28A41C-7160-08C0-E373-A8936573C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12E87C-EAF6-AF46-88AE-5EAB464FB610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88418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1EA4FF-6F54-74D2-F57B-C51F98C3D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C5202CD-7131-125F-FB6B-6A0658CD9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19579B-F2C6-3BA1-02C4-C482C1E9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0043-4A54-4B4D-A28D-5D80F74C5AE8}" type="datetimeFigureOut">
              <a:rPr kumimoji="1" lang="ko-KR" altLang="en-US" smtClean="0"/>
              <a:t>2026. 10. 12.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4F2FA2-D147-B5F3-4B62-BB6692CC1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D7624F-919F-3437-BDCB-78EA7D4D6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3D24-C834-EC41-A9A3-6D1CA58139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94960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CE2B9-DEF1-DE19-33B4-DAB9123FB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7BCF97-A3C4-7827-6D8A-855B53B85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998C97-EA0C-3F0E-BB9D-29862B8C2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0043-4A54-4B4D-A28D-5D80F74C5AE8}" type="datetimeFigureOut">
              <a:rPr kumimoji="1" lang="ko-KR" altLang="en-US" smtClean="0"/>
              <a:t>2026. 10. 12.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FCB9FB-40B1-3359-A6AF-0E5033A53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0FDF0E-14D7-CEC1-6FEB-898EEF344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3D24-C834-EC41-A9A3-6D1CA58139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27303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174959-23CD-3F59-7351-C60FE667A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8F275E-D14B-0F40-20E0-76090974C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39A50F-6874-0BC0-86FD-396EA6823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0043-4A54-4B4D-A28D-5D80F74C5AE8}" type="datetimeFigureOut">
              <a:rPr kumimoji="1" lang="ko-KR" altLang="en-US" smtClean="0"/>
              <a:t>2026. 10. 12.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1AAF28-95C3-8F87-1D6B-99D8E7A4B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529926-C1E0-FC93-CB92-5B8DB61F9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3D24-C834-EC41-A9A3-6D1CA58139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17496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75495E-A641-2023-7899-F4322F559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44A2F3-416E-A4CA-E960-FA8826F55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B53E08-C80D-C16C-4F0E-EF21CE975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6905E8-70C6-A8B9-0018-EE6A73833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0043-4A54-4B4D-A28D-5D80F74C5AE8}" type="datetimeFigureOut">
              <a:rPr kumimoji="1" lang="ko-KR" altLang="en-US" smtClean="0"/>
              <a:t>2026. 10. 12.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FA6333-5BB9-41A2-1312-E82756309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EA8071-070B-D957-791B-F507729E4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3D24-C834-EC41-A9A3-6D1CA58139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19463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27B045-C1D5-CCFC-D7FE-6DF529D42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15CA93-5550-8752-85EA-2641D0548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ADBAEC-8726-50B2-7724-00530F6F0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CB7A2E3-8347-5770-A5AD-B80EA9FB62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B826D5-58E8-A994-256C-94064B8C4F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386C18A-B4B1-C513-FD1F-BB2438D8C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0043-4A54-4B4D-A28D-5D80F74C5AE8}" type="datetimeFigureOut">
              <a:rPr kumimoji="1" lang="ko-KR" altLang="en-US" smtClean="0"/>
              <a:t>2026. 10. 12.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BA221F6-7DBA-96AA-CA3D-4925CDBE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704120-15B5-D9C4-BBA8-1FD246CA7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3D24-C834-EC41-A9A3-6D1CA58139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35124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06EB2B-BA6F-B39B-BC1F-E5A0FE480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A40521C-9D2C-8559-0577-74173C183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0043-4A54-4B4D-A28D-5D80F74C5AE8}" type="datetimeFigureOut">
              <a:rPr kumimoji="1" lang="ko-KR" altLang="en-US" smtClean="0"/>
              <a:t>2026. 10. 12.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C1C21F-01D5-F4B1-66D8-1C592691F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B41971-F0CF-55B1-9894-3F1D08228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3D24-C834-EC41-A9A3-6D1CA58139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780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E24CF1-2367-388E-1D1A-73543F03A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0043-4A54-4B4D-A28D-5D80F74C5AE8}" type="datetimeFigureOut">
              <a:rPr kumimoji="1" lang="ko-KR" altLang="en-US" smtClean="0"/>
              <a:t>2026. 10. 12.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205CEEF-3DB1-3DFD-5B46-062E046FE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D8326B-B2BC-C739-8C2C-E93CA4F06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3D24-C834-EC41-A9A3-6D1CA58139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707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F6803-D87C-988D-F672-41BEE73FB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F33964-669E-F95A-0CC6-981185D30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486047-5FF2-1ED9-4895-8E3FC2F3A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17F9C0-E4F7-FB98-8E50-1C2AB173A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0043-4A54-4B4D-A28D-5D80F74C5AE8}" type="datetimeFigureOut">
              <a:rPr kumimoji="1" lang="ko-KR" altLang="en-US" smtClean="0"/>
              <a:t>2026. 10. 12.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998565-7E7C-7822-D825-4EFB5FA7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5F822D-0068-58E9-FE73-D6F39A571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3D24-C834-EC41-A9A3-6D1CA58139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49503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3565E-8010-A124-8F06-1020A94B5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3720711-8A96-30E8-9550-605C0EA042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B6D178-4B58-2961-E31A-160A9083C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5D2527-0777-AA11-D411-FCDA7D96D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0043-4A54-4B4D-A28D-5D80F74C5AE8}" type="datetimeFigureOut">
              <a:rPr kumimoji="1" lang="ko-KR" altLang="en-US" smtClean="0"/>
              <a:t>2026. 10. 12.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39D660-44D8-A8DB-364D-3F3F6DDA1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DAA84F-3636-A4F1-826F-351FD12A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3D24-C834-EC41-A9A3-6D1CA58139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349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B6FB15-6363-C1B1-0EEE-30F12D6E3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6F1C7F-3F63-9D54-411C-C731F9634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4192CC-89F4-94F6-6848-BE9D8257C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0043-4A54-4B4D-A28D-5D80F74C5AE8}" type="datetimeFigureOut">
              <a:rPr kumimoji="1" lang="ko-KR" altLang="en-US" smtClean="0"/>
              <a:t>2026. 10. 12.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21079B-DBE9-91A6-423D-89987EF4C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E6503C-C5E6-8329-E88E-D6911F06A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3D24-C834-EC41-A9A3-6D1CA58139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34804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B6DF40D-B3F7-9770-08A5-9675FD80E1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AC0941-4E78-56AE-5EC5-12200FB05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5E69A2-7170-F5AD-EE18-A2C702D48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0043-4A54-4B4D-A28D-5D80F74C5AE8}" type="datetimeFigureOut">
              <a:rPr kumimoji="1" lang="ko-KR" altLang="en-US" smtClean="0"/>
              <a:t>2026. 10. 12.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1E34A2-05CE-CA64-DE3C-8E19BBDD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B47011-5C3E-FB3C-91EF-E632983BC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3D24-C834-EC41-A9A3-6D1CA58139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6000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1991E4-CE26-5548-514A-D2EF8B88C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45C12C-C004-8DB5-E472-7D8AB9437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89FD62-2BC9-83D5-D62B-4383403B3C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30043-4A54-4B4D-A28D-5D80F74C5AE8}" type="datetimeFigureOut">
              <a:rPr kumimoji="1" lang="ko-KR" altLang="en-US" smtClean="0"/>
              <a:t>2026. 10. 12.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654AB2-0EF8-9612-4935-1503B96245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DF44DF-7864-1381-5305-0A9025275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83D24-C834-EC41-A9A3-6D1CA58139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110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22D5C-C64A-B400-553A-DB39B9F3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02FA2F0-C878-2C37-4ED1-DD3198747585}"/>
              </a:ext>
            </a:extLst>
          </p:cNvPr>
          <p:cNvSpPr/>
          <p:nvPr/>
        </p:nvSpPr>
        <p:spPr>
          <a:xfrm>
            <a:off x="1607065" y="7168"/>
            <a:ext cx="2253543" cy="682507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3</a:t>
            </a:r>
            <a:r>
              <a:rPr kumimoji="1" lang="en-US" altLang="ko-KR" sz="1000" baseline="30000" dirty="0">
                <a:solidFill>
                  <a:sysClr val="windowText" lastClr="000000"/>
                </a:solidFill>
              </a:rPr>
              <a:t>rd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party App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074865E-80E5-E54A-58A5-88F7C29116F6}"/>
              </a:ext>
            </a:extLst>
          </p:cNvPr>
          <p:cNvSpPr/>
          <p:nvPr/>
        </p:nvSpPr>
        <p:spPr>
          <a:xfrm>
            <a:off x="1852442" y="1130963"/>
            <a:ext cx="1743472" cy="56427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ko-KR" altLang="en-US" sz="1000" dirty="0">
                <a:solidFill>
                  <a:sysClr val="windowText" lastClr="000000"/>
                </a:solidFill>
              </a:rPr>
              <a:t>광고화면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22687AF-2272-8B78-048B-6889EDEEB6DD}"/>
              </a:ext>
            </a:extLst>
          </p:cNvPr>
          <p:cNvSpPr/>
          <p:nvPr/>
        </p:nvSpPr>
        <p:spPr>
          <a:xfrm>
            <a:off x="2144273" y="1359885"/>
            <a:ext cx="1198978" cy="39133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ko-KR" sz="1000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adwhale-sdk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F023171-2D14-24BD-4ADC-90CDD32FBC2D}"/>
              </a:ext>
            </a:extLst>
          </p:cNvPr>
          <p:cNvSpPr/>
          <p:nvPr/>
        </p:nvSpPr>
        <p:spPr>
          <a:xfrm>
            <a:off x="2366007" y="2872171"/>
            <a:ext cx="71422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광고요청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467D5F-2BD2-6DE9-5F5E-328EA13EE4AD}"/>
              </a:ext>
            </a:extLst>
          </p:cNvPr>
          <p:cNvSpPr/>
          <p:nvPr/>
        </p:nvSpPr>
        <p:spPr>
          <a:xfrm>
            <a:off x="2357897" y="3755998"/>
            <a:ext cx="71422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광고응답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97BF48-3EAD-50E3-7126-6474220D3A7C}"/>
              </a:ext>
            </a:extLst>
          </p:cNvPr>
          <p:cNvSpPr/>
          <p:nvPr/>
        </p:nvSpPr>
        <p:spPr>
          <a:xfrm>
            <a:off x="4217718" y="17716"/>
            <a:ext cx="7957655" cy="682507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adwhale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-ad-platform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714D2B8-7B3D-0CD7-DC5F-A86F461F0811}"/>
              </a:ext>
            </a:extLst>
          </p:cNvPr>
          <p:cNvSpPr/>
          <p:nvPr/>
        </p:nvSpPr>
        <p:spPr>
          <a:xfrm>
            <a:off x="8279464" y="253549"/>
            <a:ext cx="3658947" cy="6954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ad-common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60173DF-571B-EC59-377E-D853D377990A}"/>
              </a:ext>
            </a:extLst>
          </p:cNvPr>
          <p:cNvSpPr/>
          <p:nvPr/>
        </p:nvSpPr>
        <p:spPr>
          <a:xfrm>
            <a:off x="8355773" y="525477"/>
            <a:ext cx="1146935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AdRequestEvent</a:t>
            </a:r>
            <a:endParaRPr kumimoji="1" lang="ko-KR" altLang="en-US" sz="10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4FC20EC-7A43-9FE9-31B1-B4FA731457A2}"/>
              </a:ext>
            </a:extLst>
          </p:cNvPr>
          <p:cNvSpPr/>
          <p:nvPr/>
        </p:nvSpPr>
        <p:spPr>
          <a:xfrm>
            <a:off x="10706781" y="514699"/>
            <a:ext cx="1146935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AdTrackingEvent</a:t>
            </a:r>
            <a:endParaRPr kumimoji="1" lang="ko-KR" altLang="en-US" sz="10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3212B9C-006F-ECA1-205D-3DD641F4079B}"/>
              </a:ext>
            </a:extLst>
          </p:cNvPr>
          <p:cNvSpPr/>
          <p:nvPr/>
        </p:nvSpPr>
        <p:spPr>
          <a:xfrm>
            <a:off x="9587404" y="520994"/>
            <a:ext cx="1034681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AdTopicEnum</a:t>
            </a:r>
            <a:endParaRPr kumimoji="1" lang="ko-KR" altLang="en-US" sz="10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140E1D3-5087-E6B5-AA1E-6F69B0D67300}"/>
              </a:ext>
            </a:extLst>
          </p:cNvPr>
          <p:cNvSpPr/>
          <p:nvPr/>
        </p:nvSpPr>
        <p:spPr>
          <a:xfrm>
            <a:off x="6746218" y="1127002"/>
            <a:ext cx="1732582" cy="5646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docker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ECC8901-BCF1-FCA3-9A6B-8085327C9881}"/>
              </a:ext>
            </a:extLst>
          </p:cNvPr>
          <p:cNvSpPr/>
          <p:nvPr/>
        </p:nvSpPr>
        <p:spPr>
          <a:xfrm>
            <a:off x="6979754" y="4793210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adwhale-kafka</a:t>
            </a:r>
            <a:endParaRPr kumimoji="1" lang="ko-KR" altLang="en-US" sz="100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5540D59-A10A-9E87-B55D-7B6621B99AE8}"/>
              </a:ext>
            </a:extLst>
          </p:cNvPr>
          <p:cNvSpPr/>
          <p:nvPr/>
        </p:nvSpPr>
        <p:spPr>
          <a:xfrm>
            <a:off x="6979754" y="6300727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adwhale-kafka-ui</a:t>
            </a:r>
            <a:endParaRPr kumimoji="1" lang="ko-KR" altLang="en-US" sz="1000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A743D93-C8C5-4390-14C6-A5A8BBF3294E}"/>
              </a:ext>
            </a:extLst>
          </p:cNvPr>
          <p:cNvSpPr/>
          <p:nvPr/>
        </p:nvSpPr>
        <p:spPr>
          <a:xfrm>
            <a:off x="4422757" y="1127003"/>
            <a:ext cx="2023708" cy="424220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(n</a:t>
            </a:r>
            <a:r>
              <a:rPr kumimoji="1" lang="ko-KR" altLang="en-US" sz="1000" dirty="0">
                <a:solidFill>
                  <a:sysClr val="windowText" lastClr="000000"/>
                </a:solidFill>
              </a:rPr>
              <a:t>대 구성 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Port:8081)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1" name="원통[C] 10">
            <a:extLst>
              <a:ext uri="{FF2B5EF4-FFF2-40B4-BE49-F238E27FC236}">
                <a16:creationId xmlns:a16="http://schemas.microsoft.com/office/drawing/2014/main" id="{ECBCC3B1-F727-7040-CCF8-8B406BF3D23B}"/>
              </a:ext>
            </a:extLst>
          </p:cNvPr>
          <p:cNvSpPr/>
          <p:nvPr/>
        </p:nvSpPr>
        <p:spPr>
          <a:xfrm>
            <a:off x="4628169" y="1359885"/>
            <a:ext cx="1570244" cy="3913339"/>
          </a:xfrm>
          <a:prstGeom prst="can">
            <a:avLst>
              <a:gd name="adj" fmla="val 8809"/>
            </a:avLst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</a:t>
            </a:r>
          </a:p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Server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C3DEF71-BD96-C6D4-2D89-9B2A01647A85}"/>
              </a:ext>
            </a:extLst>
          </p:cNvPr>
          <p:cNvSpPr/>
          <p:nvPr/>
        </p:nvSpPr>
        <p:spPr>
          <a:xfrm>
            <a:off x="4815608" y="3229620"/>
            <a:ext cx="1197556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AdController</a:t>
            </a:r>
            <a:endParaRPr kumimoji="1" lang="ko-KR" altLang="en-US" sz="10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1B22014-2D2E-514F-A180-6ABB706C0A74}"/>
              </a:ext>
            </a:extLst>
          </p:cNvPr>
          <p:cNvSpPr/>
          <p:nvPr/>
        </p:nvSpPr>
        <p:spPr>
          <a:xfrm>
            <a:off x="4815608" y="3755998"/>
            <a:ext cx="1197556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AdService</a:t>
            </a:r>
            <a:endParaRPr kumimoji="1" lang="ko-KR" altLang="en-US" sz="1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B330FA9-D5E6-88BD-E4C8-668DC9158D01}"/>
              </a:ext>
            </a:extLst>
          </p:cNvPr>
          <p:cNvSpPr/>
          <p:nvPr/>
        </p:nvSpPr>
        <p:spPr>
          <a:xfrm>
            <a:off x="4815608" y="4282376"/>
            <a:ext cx="1197556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AdEventProducer</a:t>
            </a:r>
            <a:endParaRPr kumimoji="1" lang="ko-KR" altLang="en-US" sz="10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43C6061-CCD6-7BA0-E8AF-25A93C6D84E8}"/>
              </a:ext>
            </a:extLst>
          </p:cNvPr>
          <p:cNvSpPr/>
          <p:nvPr/>
        </p:nvSpPr>
        <p:spPr>
          <a:xfrm>
            <a:off x="4815608" y="2370731"/>
            <a:ext cx="1197556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AdApiApplication</a:t>
            </a:r>
            <a:endParaRPr kumimoji="1" lang="ko-KR" altLang="en-US" sz="1000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E9C2B30-0E9E-0B35-8891-E35AC6F79F28}"/>
              </a:ext>
            </a:extLst>
          </p:cNvPr>
          <p:cNvCxnSpPr>
            <a:stCxn id="18" idx="2"/>
            <a:endCxn id="15" idx="0"/>
          </p:cNvCxnSpPr>
          <p:nvPr/>
        </p:nvCxnSpPr>
        <p:spPr>
          <a:xfrm>
            <a:off x="5414386" y="2727412"/>
            <a:ext cx="0" cy="502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6399682-A35A-0FCE-CC1C-407F4EBA0C86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5414386" y="3586301"/>
            <a:ext cx="0" cy="169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D5001B0-7D3B-7258-76CB-6CD32CF29556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5414386" y="4112679"/>
            <a:ext cx="0" cy="169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F82D5061-3EA6-45D9-411B-BF8740B99566}"/>
              </a:ext>
            </a:extLst>
          </p:cNvPr>
          <p:cNvCxnSpPr>
            <a:cxnSpLocks/>
            <a:stCxn id="16" idx="1"/>
            <a:endCxn id="8" idx="3"/>
          </p:cNvCxnSpPr>
          <p:nvPr/>
        </p:nvCxnSpPr>
        <p:spPr>
          <a:xfrm flipH="1">
            <a:off x="3072119" y="3934339"/>
            <a:ext cx="17434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0A0BD0C-692C-DD64-FFAD-0382A14A26B0}"/>
              </a:ext>
            </a:extLst>
          </p:cNvPr>
          <p:cNvSpPr txBox="1"/>
          <p:nvPr/>
        </p:nvSpPr>
        <p:spPr>
          <a:xfrm>
            <a:off x="3635145" y="2869371"/>
            <a:ext cx="179247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[POST] Http://localhost:8080/v1/ad/request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5B8A15-69BB-39CA-211C-3A803EBCA4F0}"/>
              </a:ext>
            </a:extLst>
          </p:cNvPr>
          <p:cNvSpPr txBox="1"/>
          <p:nvPr/>
        </p:nvSpPr>
        <p:spPr>
          <a:xfrm>
            <a:off x="3771875" y="3746230"/>
            <a:ext cx="5357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JSON</a:t>
            </a:r>
            <a:r>
              <a:rPr kumimoji="1" lang="ko-KR" altLang="en-US" sz="600" b="1" dirty="0">
                <a:solidFill>
                  <a:schemeClr val="accent2"/>
                </a:solidFill>
              </a:rPr>
              <a:t>객체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DB05BF5-390C-AC04-2988-431CBFC5838A}"/>
              </a:ext>
            </a:extLst>
          </p:cNvPr>
          <p:cNvCxnSpPr>
            <a:cxnSpLocks/>
            <a:endCxn id="67" idx="0"/>
          </p:cNvCxnSpPr>
          <p:nvPr/>
        </p:nvCxnSpPr>
        <p:spPr>
          <a:xfrm>
            <a:off x="5413291" y="4639057"/>
            <a:ext cx="1095" cy="151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126C8784-A7D8-AB27-74A8-BCEFFA9DDDC8}"/>
              </a:ext>
            </a:extLst>
          </p:cNvPr>
          <p:cNvSpPr/>
          <p:nvPr/>
        </p:nvSpPr>
        <p:spPr>
          <a:xfrm>
            <a:off x="4815608" y="4790342"/>
            <a:ext cx="1197556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spring-boot-starter-</a:t>
            </a:r>
            <a:r>
              <a:rPr kumimoji="1" lang="en-US" altLang="ko-KR" sz="800" dirty="0" err="1">
                <a:solidFill>
                  <a:sysClr val="windowText" lastClr="000000"/>
                </a:solidFill>
              </a:rPr>
              <a:t>kafka</a:t>
            </a:r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B5CCFD13-1B62-1593-1A70-C6FD858C716D}"/>
              </a:ext>
            </a:extLst>
          </p:cNvPr>
          <p:cNvCxnSpPr>
            <a:cxnSpLocks/>
            <a:stCxn id="67" idx="3"/>
            <a:endCxn id="56" idx="1"/>
          </p:cNvCxnSpPr>
          <p:nvPr/>
        </p:nvCxnSpPr>
        <p:spPr>
          <a:xfrm flipV="1">
            <a:off x="6013164" y="4971551"/>
            <a:ext cx="966590" cy="5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0B49C19-D250-78C7-F800-8170C8B81521}"/>
              </a:ext>
            </a:extLst>
          </p:cNvPr>
          <p:cNvSpPr/>
          <p:nvPr/>
        </p:nvSpPr>
        <p:spPr>
          <a:xfrm>
            <a:off x="8776730" y="1127002"/>
            <a:ext cx="3157567" cy="5646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ad-log-consumer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2" name="원통[C] 11">
            <a:extLst>
              <a:ext uri="{FF2B5EF4-FFF2-40B4-BE49-F238E27FC236}">
                <a16:creationId xmlns:a16="http://schemas.microsoft.com/office/drawing/2014/main" id="{B2CBCF5E-6614-8806-8182-00D0EEE4CF75}"/>
              </a:ext>
            </a:extLst>
          </p:cNvPr>
          <p:cNvSpPr/>
          <p:nvPr/>
        </p:nvSpPr>
        <p:spPr>
          <a:xfrm>
            <a:off x="9004167" y="1359885"/>
            <a:ext cx="1426977" cy="5348485"/>
          </a:xfrm>
          <a:prstGeom prst="can">
            <a:avLst>
              <a:gd name="adj" fmla="val 8527"/>
            </a:avLst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ad-log-consumer Kafka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7AD25AC-CB04-0095-784D-3B2CE6D4BC55}"/>
              </a:ext>
            </a:extLst>
          </p:cNvPr>
          <p:cNvSpPr/>
          <p:nvPr/>
        </p:nvSpPr>
        <p:spPr>
          <a:xfrm>
            <a:off x="9144485" y="5306481"/>
            <a:ext cx="1156624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AdLogConsumer</a:t>
            </a:r>
            <a:endParaRPr kumimoji="1" lang="ko-KR" altLang="en-US" sz="10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D39A11A-DF74-659F-423C-498E3E32013B}"/>
              </a:ext>
            </a:extLst>
          </p:cNvPr>
          <p:cNvSpPr/>
          <p:nvPr/>
        </p:nvSpPr>
        <p:spPr>
          <a:xfrm>
            <a:off x="9144486" y="1898251"/>
            <a:ext cx="1156624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AdLogConsumerApplication</a:t>
            </a:r>
            <a:endParaRPr kumimoji="1" lang="ko-KR" altLang="en-US" sz="1000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550ECAA-105C-6765-CEBC-B46F0DA13082}"/>
              </a:ext>
            </a:extLst>
          </p:cNvPr>
          <p:cNvCxnSpPr>
            <a:cxnSpLocks/>
            <a:stCxn id="23" idx="2"/>
            <a:endCxn id="70" idx="0"/>
          </p:cNvCxnSpPr>
          <p:nvPr/>
        </p:nvCxnSpPr>
        <p:spPr>
          <a:xfrm flipH="1">
            <a:off x="9722797" y="2254932"/>
            <a:ext cx="1" cy="2535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2C697AC-317A-391D-1990-A71B157683D2}"/>
              </a:ext>
            </a:extLst>
          </p:cNvPr>
          <p:cNvSpPr/>
          <p:nvPr/>
        </p:nvSpPr>
        <p:spPr>
          <a:xfrm>
            <a:off x="9144485" y="6300727"/>
            <a:ext cx="1156624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AdLogFileWriter</a:t>
            </a:r>
            <a:endParaRPr kumimoji="1" lang="ko-KR" altLang="en-US" sz="1000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56297CC-53FA-2525-D9BB-7203FA0DDE83}"/>
              </a:ext>
            </a:extLst>
          </p:cNvPr>
          <p:cNvCxnSpPr>
            <a:cxnSpLocks/>
            <a:stCxn id="22" idx="2"/>
            <a:endCxn id="132" idx="0"/>
          </p:cNvCxnSpPr>
          <p:nvPr/>
        </p:nvCxnSpPr>
        <p:spPr>
          <a:xfrm>
            <a:off x="9722797" y="5663162"/>
            <a:ext cx="1920" cy="138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13435BD-62E1-4E64-11F8-899BFD4FB1F4}"/>
              </a:ext>
            </a:extLst>
          </p:cNvPr>
          <p:cNvSpPr/>
          <p:nvPr/>
        </p:nvSpPr>
        <p:spPr>
          <a:xfrm>
            <a:off x="9134252" y="4790342"/>
            <a:ext cx="1177090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spring-boot-starter-</a:t>
            </a:r>
            <a:r>
              <a:rPr kumimoji="1" lang="en-US" altLang="ko-KR" sz="800" dirty="0" err="1">
                <a:solidFill>
                  <a:sysClr val="windowText" lastClr="000000"/>
                </a:solidFill>
              </a:rPr>
              <a:t>kafka</a:t>
            </a:r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80DFA524-7489-C0A1-94E1-B25C705326A6}"/>
              </a:ext>
            </a:extLst>
          </p:cNvPr>
          <p:cNvCxnSpPr>
            <a:cxnSpLocks/>
            <a:stCxn id="70" idx="2"/>
            <a:endCxn id="22" idx="0"/>
          </p:cNvCxnSpPr>
          <p:nvPr/>
        </p:nvCxnSpPr>
        <p:spPr>
          <a:xfrm>
            <a:off x="9722797" y="5163343"/>
            <a:ext cx="0" cy="143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12202A60-798B-7900-A00C-FCBE54848E9F}"/>
              </a:ext>
            </a:extLst>
          </p:cNvPr>
          <p:cNvCxnSpPr>
            <a:cxnSpLocks/>
            <a:stCxn id="56" idx="3"/>
            <a:endCxn id="70" idx="1"/>
          </p:cNvCxnSpPr>
          <p:nvPr/>
        </p:nvCxnSpPr>
        <p:spPr>
          <a:xfrm>
            <a:off x="8276646" y="4971551"/>
            <a:ext cx="857606" cy="5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A92FEE07-55FA-970F-C72F-09B203347946}"/>
              </a:ext>
            </a:extLst>
          </p:cNvPr>
          <p:cNvCxnSpPr>
            <a:cxnSpLocks/>
            <a:stCxn id="25" idx="3"/>
            <a:endCxn id="28" idx="1"/>
          </p:cNvCxnSpPr>
          <p:nvPr/>
        </p:nvCxnSpPr>
        <p:spPr>
          <a:xfrm>
            <a:off x="10301109" y="6479068"/>
            <a:ext cx="211798" cy="2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8CFD409F-6930-3F1F-E177-CEEF42C77815}"/>
              </a:ext>
            </a:extLst>
          </p:cNvPr>
          <p:cNvSpPr txBox="1"/>
          <p:nvPr/>
        </p:nvSpPr>
        <p:spPr>
          <a:xfrm>
            <a:off x="5905965" y="4784122"/>
            <a:ext cx="119295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SEND KAFKA EVENT (9092)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9257EFA-4C56-5D11-26AE-883AFEED43F5}"/>
              </a:ext>
            </a:extLst>
          </p:cNvPr>
          <p:cNvSpPr txBox="1"/>
          <p:nvPr/>
        </p:nvSpPr>
        <p:spPr>
          <a:xfrm>
            <a:off x="8192597" y="4782401"/>
            <a:ext cx="106792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KAFKA LISTENER (9092)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5F84B25-8FB3-AE62-E50C-DDBBA00C80FF}"/>
              </a:ext>
            </a:extLst>
          </p:cNvPr>
          <p:cNvSpPr/>
          <p:nvPr/>
        </p:nvSpPr>
        <p:spPr>
          <a:xfrm>
            <a:off x="6973308" y="1359885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adwhale-kafka-init</a:t>
            </a:r>
            <a:endParaRPr kumimoji="1" lang="ko-KR" altLang="en-US" sz="1000" dirty="0"/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4C625F92-E8F0-A304-645A-75948EB6B4D5}"/>
              </a:ext>
            </a:extLst>
          </p:cNvPr>
          <p:cNvCxnSpPr>
            <a:cxnSpLocks/>
          </p:cNvCxnSpPr>
          <p:nvPr/>
        </p:nvCxnSpPr>
        <p:spPr>
          <a:xfrm>
            <a:off x="7546937" y="1716566"/>
            <a:ext cx="0" cy="30658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타원 73">
            <a:extLst>
              <a:ext uri="{FF2B5EF4-FFF2-40B4-BE49-F238E27FC236}">
                <a16:creationId xmlns:a16="http://schemas.microsoft.com/office/drawing/2014/main" id="{85A0CD39-6FA4-2A59-54F8-90AB30B6053F}"/>
              </a:ext>
            </a:extLst>
          </p:cNvPr>
          <p:cNvSpPr/>
          <p:nvPr/>
        </p:nvSpPr>
        <p:spPr>
          <a:xfrm>
            <a:off x="694547" y="1410635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46A03EB0-237B-E888-724D-6651641AB30C}"/>
              </a:ext>
            </a:extLst>
          </p:cNvPr>
          <p:cNvSpPr/>
          <p:nvPr/>
        </p:nvSpPr>
        <p:spPr>
          <a:xfrm>
            <a:off x="694547" y="1949000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B037854B-8B3C-7732-8E0C-B7C4816E8C9C}"/>
              </a:ext>
            </a:extLst>
          </p:cNvPr>
          <p:cNvSpPr/>
          <p:nvPr/>
        </p:nvSpPr>
        <p:spPr>
          <a:xfrm>
            <a:off x="694547" y="2421480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DC8683B8-90CF-616A-5870-13A2C53206F7}"/>
              </a:ext>
            </a:extLst>
          </p:cNvPr>
          <p:cNvCxnSpPr>
            <a:cxnSpLocks/>
            <a:stCxn id="74" idx="6"/>
            <a:endCxn id="68" idx="1"/>
          </p:cNvCxnSpPr>
          <p:nvPr/>
        </p:nvCxnSpPr>
        <p:spPr>
          <a:xfrm>
            <a:off x="928463" y="1538226"/>
            <a:ext cx="604484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4B06D1AB-684F-BA19-5B4A-568CB8091EC7}"/>
              </a:ext>
            </a:extLst>
          </p:cNvPr>
          <p:cNvCxnSpPr>
            <a:cxnSpLocks/>
            <a:stCxn id="75" idx="6"/>
            <a:endCxn id="23" idx="1"/>
          </p:cNvCxnSpPr>
          <p:nvPr/>
        </p:nvCxnSpPr>
        <p:spPr>
          <a:xfrm>
            <a:off x="928463" y="2076591"/>
            <a:ext cx="8216023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3EBA30F7-F9F6-BB73-CB3C-6553F6C22CF9}"/>
              </a:ext>
            </a:extLst>
          </p:cNvPr>
          <p:cNvCxnSpPr>
            <a:cxnSpLocks/>
            <a:stCxn id="76" idx="6"/>
            <a:endCxn id="18" idx="1"/>
          </p:cNvCxnSpPr>
          <p:nvPr/>
        </p:nvCxnSpPr>
        <p:spPr>
          <a:xfrm>
            <a:off x="928463" y="2549071"/>
            <a:ext cx="3887145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타원 91">
            <a:extLst>
              <a:ext uri="{FF2B5EF4-FFF2-40B4-BE49-F238E27FC236}">
                <a16:creationId xmlns:a16="http://schemas.microsoft.com/office/drawing/2014/main" id="{F0C6756E-90CD-597C-0EA9-149D702906E4}"/>
              </a:ext>
            </a:extLst>
          </p:cNvPr>
          <p:cNvSpPr/>
          <p:nvPr/>
        </p:nvSpPr>
        <p:spPr>
          <a:xfrm>
            <a:off x="694547" y="2922921"/>
            <a:ext cx="233916" cy="25518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4770DD9A-C129-D9CD-A8C5-25A4456FD0FD}"/>
              </a:ext>
            </a:extLst>
          </p:cNvPr>
          <p:cNvCxnSpPr>
            <a:cxnSpLocks/>
            <a:stCxn id="92" idx="6"/>
            <a:endCxn id="7" idx="1"/>
          </p:cNvCxnSpPr>
          <p:nvPr/>
        </p:nvCxnSpPr>
        <p:spPr>
          <a:xfrm>
            <a:off x="928463" y="3050512"/>
            <a:ext cx="1437544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타원 96">
            <a:extLst>
              <a:ext uri="{FF2B5EF4-FFF2-40B4-BE49-F238E27FC236}">
                <a16:creationId xmlns:a16="http://schemas.microsoft.com/office/drawing/2014/main" id="{4C5B3210-80E4-4C06-74D2-980D5FF9B082}"/>
              </a:ext>
            </a:extLst>
          </p:cNvPr>
          <p:cNvSpPr/>
          <p:nvPr/>
        </p:nvSpPr>
        <p:spPr>
          <a:xfrm>
            <a:off x="694547" y="6351476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089AA81D-5B52-8B09-5B0E-10D8678538E6}"/>
              </a:ext>
            </a:extLst>
          </p:cNvPr>
          <p:cNvCxnSpPr>
            <a:cxnSpLocks/>
            <a:stCxn id="97" idx="6"/>
            <a:endCxn id="58" idx="1"/>
          </p:cNvCxnSpPr>
          <p:nvPr/>
        </p:nvCxnSpPr>
        <p:spPr>
          <a:xfrm>
            <a:off x="928463" y="6479067"/>
            <a:ext cx="6051291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B1EAFE7C-77A3-AA8B-3E68-F3216C914CEA}"/>
              </a:ext>
            </a:extLst>
          </p:cNvPr>
          <p:cNvSpPr/>
          <p:nvPr/>
        </p:nvSpPr>
        <p:spPr>
          <a:xfrm>
            <a:off x="2357897" y="4282374"/>
            <a:ext cx="71422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광고노출</a:t>
            </a: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6DC8B0BC-0FDF-DD2F-A9F6-1FCEEB85082E}"/>
              </a:ext>
            </a:extLst>
          </p:cNvPr>
          <p:cNvCxnSpPr>
            <a:cxnSpLocks/>
            <a:stCxn id="8" idx="2"/>
            <a:endCxn id="102" idx="0"/>
          </p:cNvCxnSpPr>
          <p:nvPr/>
        </p:nvCxnSpPr>
        <p:spPr>
          <a:xfrm>
            <a:off x="2715008" y="4112679"/>
            <a:ext cx="0" cy="16969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5AAEC9DF-33C0-B5DD-4C65-6373843178C7}"/>
              </a:ext>
            </a:extLst>
          </p:cNvPr>
          <p:cNvSpPr/>
          <p:nvPr/>
        </p:nvSpPr>
        <p:spPr>
          <a:xfrm>
            <a:off x="2364543" y="4817395"/>
            <a:ext cx="71422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광고클릭</a:t>
            </a:r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BA99CDB8-20C3-471A-B592-723B8434DA9C}"/>
              </a:ext>
            </a:extLst>
          </p:cNvPr>
          <p:cNvSpPr/>
          <p:nvPr/>
        </p:nvSpPr>
        <p:spPr>
          <a:xfrm>
            <a:off x="694547" y="4868349"/>
            <a:ext cx="233916" cy="25518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25898DC2-7CE0-F984-BBE3-01A7C515B98C}"/>
              </a:ext>
            </a:extLst>
          </p:cNvPr>
          <p:cNvCxnSpPr>
            <a:cxnSpLocks/>
            <a:stCxn id="108" idx="6"/>
            <a:endCxn id="107" idx="1"/>
          </p:cNvCxnSpPr>
          <p:nvPr/>
        </p:nvCxnSpPr>
        <p:spPr>
          <a:xfrm flipV="1">
            <a:off x="928463" y="4995736"/>
            <a:ext cx="1436080" cy="20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DC00F94C-8368-299B-B2D1-DFBDD3F4274E}"/>
              </a:ext>
            </a:extLst>
          </p:cNvPr>
          <p:cNvSpPr txBox="1"/>
          <p:nvPr/>
        </p:nvSpPr>
        <p:spPr>
          <a:xfrm>
            <a:off x="-44759" y="1680320"/>
            <a:ext cx="1617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1.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Kafka</a:t>
            </a:r>
            <a:r>
              <a:rPr kumimoji="1" lang="ko-KR" altLang="en-US" sz="1000" dirty="0">
                <a:solidFill>
                  <a:srgbClr val="0070C0"/>
                </a:solidFill>
              </a:rPr>
              <a:t> 기동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9092)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0D3C74B-31C1-EF98-3C6F-E7F26E1489E7}"/>
              </a:ext>
            </a:extLst>
          </p:cNvPr>
          <p:cNvSpPr txBox="1"/>
          <p:nvPr/>
        </p:nvSpPr>
        <p:spPr>
          <a:xfrm>
            <a:off x="-43702" y="2199987"/>
            <a:ext cx="18069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2.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ad-log-consumer </a:t>
            </a:r>
            <a:r>
              <a:rPr kumimoji="1" lang="ko-KR" altLang="en-US" sz="1000" dirty="0">
                <a:solidFill>
                  <a:srgbClr val="0070C0"/>
                </a:solidFill>
              </a:rPr>
              <a:t>앱 기동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B89B790-3BDA-1D25-254F-A1922CD6A095}"/>
              </a:ext>
            </a:extLst>
          </p:cNvPr>
          <p:cNvSpPr txBox="1"/>
          <p:nvPr/>
        </p:nvSpPr>
        <p:spPr>
          <a:xfrm>
            <a:off x="-42213" y="2694194"/>
            <a:ext cx="19784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3.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ad-</a:t>
            </a:r>
            <a:r>
              <a:rPr kumimoji="1" lang="en-US" altLang="ko-KR" sz="1000" dirty="0" err="1">
                <a:solidFill>
                  <a:srgbClr val="0070C0"/>
                </a:solidFill>
              </a:rPr>
              <a:t>api</a:t>
            </a:r>
            <a:r>
              <a:rPr kumimoji="1" lang="en-US" altLang="ko-KR" sz="1000" dirty="0">
                <a:solidFill>
                  <a:srgbClr val="0070C0"/>
                </a:solidFill>
              </a:rPr>
              <a:t> </a:t>
            </a:r>
            <a:r>
              <a:rPr kumimoji="1" lang="ko-KR" altLang="en-US" sz="1000" dirty="0">
                <a:solidFill>
                  <a:srgbClr val="0070C0"/>
                </a:solidFill>
              </a:rPr>
              <a:t>서버 기동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8080)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BDEA7A5-64E7-E897-E1FB-7BD19DBC97A3}"/>
              </a:ext>
            </a:extLst>
          </p:cNvPr>
          <p:cNvSpPr txBox="1"/>
          <p:nvPr/>
        </p:nvSpPr>
        <p:spPr>
          <a:xfrm>
            <a:off x="313059" y="319011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accent2"/>
                </a:solidFill>
              </a:rPr>
              <a:t>4.</a:t>
            </a:r>
            <a:r>
              <a:rPr kumimoji="1" lang="ko-KR" altLang="en-US" sz="1000" dirty="0">
                <a:solidFill>
                  <a:schemeClr val="accent2"/>
                </a:solidFill>
              </a:rPr>
              <a:t> 광고화면 진입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082A71D-B4DE-A826-A2CD-3C692E01569E}"/>
              </a:ext>
            </a:extLst>
          </p:cNvPr>
          <p:cNvSpPr txBox="1"/>
          <p:nvPr/>
        </p:nvSpPr>
        <p:spPr>
          <a:xfrm>
            <a:off x="313059" y="5122984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accent2"/>
                </a:solidFill>
              </a:rPr>
              <a:t>5.</a:t>
            </a:r>
            <a:r>
              <a:rPr kumimoji="1" lang="ko-KR" altLang="en-US" sz="1000" dirty="0">
                <a:solidFill>
                  <a:schemeClr val="accent2"/>
                </a:solidFill>
              </a:rPr>
              <a:t> 광고화면 클릭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774C100-BF3F-6700-9558-DCB1AE680598}"/>
              </a:ext>
            </a:extLst>
          </p:cNvPr>
          <p:cNvSpPr txBox="1"/>
          <p:nvPr/>
        </p:nvSpPr>
        <p:spPr>
          <a:xfrm>
            <a:off x="-45282" y="6612065"/>
            <a:ext cx="18133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6.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Kafka </a:t>
            </a:r>
            <a:r>
              <a:rPr kumimoji="1" lang="en-US" altLang="ko-KR" sz="1000" dirty="0" err="1">
                <a:solidFill>
                  <a:srgbClr val="0070C0"/>
                </a:solidFill>
              </a:rPr>
              <a:t>ui</a:t>
            </a:r>
            <a:r>
              <a:rPr kumimoji="1" lang="en-US" altLang="ko-KR" sz="1000" dirty="0">
                <a:solidFill>
                  <a:srgbClr val="0070C0"/>
                </a:solidFill>
              </a:rPr>
              <a:t> </a:t>
            </a:r>
            <a:r>
              <a:rPr kumimoji="1" lang="ko-KR" altLang="en-US" sz="1000" dirty="0">
                <a:solidFill>
                  <a:srgbClr val="0070C0"/>
                </a:solidFill>
              </a:rPr>
              <a:t>접속 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8989)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783DA7BB-2D55-9C50-5B4E-752101F95A2F}"/>
              </a:ext>
            </a:extLst>
          </p:cNvPr>
          <p:cNvSpPr/>
          <p:nvPr/>
        </p:nvSpPr>
        <p:spPr>
          <a:xfrm>
            <a:off x="7020965" y="260017"/>
            <a:ext cx="1128772" cy="6889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 err="1">
                <a:solidFill>
                  <a:sysClr val="windowText" lastClr="000000"/>
                </a:solidFill>
              </a:rPr>
              <a:t>Settings.gradle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122" name="꺾인 연결선[E] 121">
            <a:extLst>
              <a:ext uri="{FF2B5EF4-FFF2-40B4-BE49-F238E27FC236}">
                <a16:creationId xmlns:a16="http://schemas.microsoft.com/office/drawing/2014/main" id="{5003CA33-3704-390F-70EE-81040E54023C}"/>
              </a:ext>
            </a:extLst>
          </p:cNvPr>
          <p:cNvCxnSpPr>
            <a:cxnSpLocks/>
            <a:stCxn id="120" idx="2"/>
            <a:endCxn id="61" idx="0"/>
          </p:cNvCxnSpPr>
          <p:nvPr/>
        </p:nvCxnSpPr>
        <p:spPr>
          <a:xfrm rot="5400000">
            <a:off x="6420968" y="-37380"/>
            <a:ext cx="178026" cy="215074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꺾인 연결선[E] 122">
            <a:extLst>
              <a:ext uri="{FF2B5EF4-FFF2-40B4-BE49-F238E27FC236}">
                <a16:creationId xmlns:a16="http://schemas.microsoft.com/office/drawing/2014/main" id="{3F0EB074-7D9C-AA47-1E49-61C02CBB3242}"/>
              </a:ext>
            </a:extLst>
          </p:cNvPr>
          <p:cNvCxnSpPr>
            <a:cxnSpLocks/>
            <a:stCxn id="120" idx="2"/>
            <a:endCxn id="62" idx="0"/>
          </p:cNvCxnSpPr>
          <p:nvPr/>
        </p:nvCxnSpPr>
        <p:spPr>
          <a:xfrm rot="16200000" flipH="1">
            <a:off x="8881420" y="-347093"/>
            <a:ext cx="178025" cy="277016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1185221E-A66B-B19D-4D5A-F41EF96DDC42}"/>
              </a:ext>
            </a:extLst>
          </p:cNvPr>
          <p:cNvCxnSpPr>
            <a:cxnSpLocks/>
            <a:stCxn id="120" idx="3"/>
            <a:endCxn id="30" idx="1"/>
          </p:cNvCxnSpPr>
          <p:nvPr/>
        </p:nvCxnSpPr>
        <p:spPr>
          <a:xfrm flipV="1">
            <a:off x="8149737" y="601263"/>
            <a:ext cx="129727" cy="323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꺾인 연결선[E] 129">
            <a:extLst>
              <a:ext uri="{FF2B5EF4-FFF2-40B4-BE49-F238E27FC236}">
                <a16:creationId xmlns:a16="http://schemas.microsoft.com/office/drawing/2014/main" id="{038F9F55-74AC-2230-2BF1-F7303D9EFEF2}"/>
              </a:ext>
            </a:extLst>
          </p:cNvPr>
          <p:cNvCxnSpPr>
            <a:cxnSpLocks/>
            <a:stCxn id="106" idx="3"/>
            <a:endCxn id="52" idx="1"/>
          </p:cNvCxnSpPr>
          <p:nvPr/>
        </p:nvCxnSpPr>
        <p:spPr>
          <a:xfrm>
            <a:off x="5920070" y="808984"/>
            <a:ext cx="826148" cy="314140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C59878EF-4F8E-63E1-049D-71F87A39D816}"/>
              </a:ext>
            </a:extLst>
          </p:cNvPr>
          <p:cNvSpPr txBox="1"/>
          <p:nvPr/>
        </p:nvSpPr>
        <p:spPr>
          <a:xfrm>
            <a:off x="3657468" y="3937986"/>
            <a:ext cx="7457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requestId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adId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placementUid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creativeUrl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landingUrl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C932101F-647F-0413-D112-ECFAC1E72E41}"/>
              </a:ext>
            </a:extLst>
          </p:cNvPr>
          <p:cNvSpPr/>
          <p:nvPr/>
        </p:nvSpPr>
        <p:spPr>
          <a:xfrm>
            <a:off x="9146405" y="5801853"/>
            <a:ext cx="1156624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KafkaErrorConfig</a:t>
            </a:r>
            <a:endParaRPr kumimoji="1" lang="en-US" altLang="ko-KR" sz="1000" dirty="0"/>
          </a:p>
          <a:p>
            <a:pPr algn="ctr"/>
            <a:r>
              <a:rPr kumimoji="1" lang="en-US" altLang="ko-KR" sz="1000" dirty="0"/>
              <a:t>(DLQ)</a:t>
            </a:r>
            <a:endParaRPr kumimoji="1" lang="ko-KR" altLang="en-US" sz="10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D1DECA1-2F5B-36DE-A28A-3551B9DF7BE1}"/>
              </a:ext>
            </a:extLst>
          </p:cNvPr>
          <p:cNvSpPr/>
          <p:nvPr/>
        </p:nvSpPr>
        <p:spPr>
          <a:xfrm>
            <a:off x="10512907" y="6303047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*-{topic</a:t>
            </a:r>
            <a:r>
              <a:rPr kumimoji="1" lang="ko-KR" altLang="en-US" sz="1000" dirty="0"/>
              <a:t>명</a:t>
            </a:r>
            <a:r>
              <a:rPr kumimoji="1" lang="en-US" altLang="ko-KR" sz="1000" dirty="0"/>
              <a:t>}.log</a:t>
            </a:r>
            <a:endParaRPr kumimoji="1" lang="ko-KR" altLang="en-US" sz="1000" dirty="0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C676B95D-B3C5-75AA-ACB8-E8107BB68565}"/>
              </a:ext>
            </a:extLst>
          </p:cNvPr>
          <p:cNvSpPr/>
          <p:nvPr/>
        </p:nvSpPr>
        <p:spPr>
          <a:xfrm>
            <a:off x="6979754" y="5801852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ad-request-dlq-0/*.log</a:t>
            </a:r>
            <a:endParaRPr kumimoji="1" lang="ko-KR" altLang="en-US" sz="1000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25B59EC-8F3B-9796-6DCF-BF15EBB16A16}"/>
              </a:ext>
            </a:extLst>
          </p:cNvPr>
          <p:cNvSpPr/>
          <p:nvPr/>
        </p:nvSpPr>
        <p:spPr>
          <a:xfrm>
            <a:off x="6979754" y="5306481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ad-request-0/*.log</a:t>
            </a:r>
            <a:endParaRPr kumimoji="1" lang="ko-KR" altLang="en-US" sz="1000" dirty="0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D315D05E-CBA2-001B-419F-F7D190FAC3EF}"/>
              </a:ext>
            </a:extLst>
          </p:cNvPr>
          <p:cNvCxnSpPr>
            <a:cxnSpLocks/>
            <a:stCxn id="56" idx="2"/>
            <a:endCxn id="49" idx="0"/>
          </p:cNvCxnSpPr>
          <p:nvPr/>
        </p:nvCxnSpPr>
        <p:spPr>
          <a:xfrm>
            <a:off x="7628200" y="5149891"/>
            <a:ext cx="0" cy="156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5" name="꺾인 연결선[E] 94">
            <a:extLst>
              <a:ext uri="{FF2B5EF4-FFF2-40B4-BE49-F238E27FC236}">
                <a16:creationId xmlns:a16="http://schemas.microsoft.com/office/drawing/2014/main" id="{A49192F2-1769-6902-0647-06B88D580DAC}"/>
              </a:ext>
            </a:extLst>
          </p:cNvPr>
          <p:cNvCxnSpPr>
            <a:cxnSpLocks/>
            <a:stCxn id="132" idx="3"/>
            <a:endCxn id="56" idx="0"/>
          </p:cNvCxnSpPr>
          <p:nvPr/>
        </p:nvCxnSpPr>
        <p:spPr>
          <a:xfrm flipH="1" flipV="1">
            <a:off x="7628200" y="4793210"/>
            <a:ext cx="2674829" cy="1186984"/>
          </a:xfrm>
          <a:prstGeom prst="bentConnector4">
            <a:avLst>
              <a:gd name="adj1" fmla="val -8546"/>
              <a:gd name="adj2" fmla="val 119259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04" name="꺾인 연결선[E] 103">
            <a:extLst>
              <a:ext uri="{FF2B5EF4-FFF2-40B4-BE49-F238E27FC236}">
                <a16:creationId xmlns:a16="http://schemas.microsoft.com/office/drawing/2014/main" id="{CA3412DF-BD23-7D75-AB04-6BBC97F64E39}"/>
              </a:ext>
            </a:extLst>
          </p:cNvPr>
          <p:cNvCxnSpPr>
            <a:cxnSpLocks/>
          </p:cNvCxnSpPr>
          <p:nvPr/>
        </p:nvCxnSpPr>
        <p:spPr>
          <a:xfrm>
            <a:off x="8276646" y="5021429"/>
            <a:ext cx="12700" cy="1008642"/>
          </a:xfrm>
          <a:prstGeom prst="bentConnector3">
            <a:avLst>
              <a:gd name="adj1" fmla="val 883638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1" name="꺾인 연결선[E] 110">
            <a:extLst>
              <a:ext uri="{FF2B5EF4-FFF2-40B4-BE49-F238E27FC236}">
                <a16:creationId xmlns:a16="http://schemas.microsoft.com/office/drawing/2014/main" id="{D29D20EF-FABD-9CCA-327A-F907C06FF37D}"/>
              </a:ext>
            </a:extLst>
          </p:cNvPr>
          <p:cNvCxnSpPr>
            <a:cxnSpLocks/>
          </p:cNvCxnSpPr>
          <p:nvPr/>
        </p:nvCxnSpPr>
        <p:spPr>
          <a:xfrm>
            <a:off x="8276646" y="6030071"/>
            <a:ext cx="12700" cy="498875"/>
          </a:xfrm>
          <a:prstGeom prst="bentConnector3">
            <a:avLst>
              <a:gd name="adj1" fmla="val 883638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5" name="꺾인 연결선[E] 124">
            <a:extLst>
              <a:ext uri="{FF2B5EF4-FFF2-40B4-BE49-F238E27FC236}">
                <a16:creationId xmlns:a16="http://schemas.microsoft.com/office/drawing/2014/main" id="{D0F9DFE9-8571-D383-C9AA-BDF9B16D0768}"/>
              </a:ext>
            </a:extLst>
          </p:cNvPr>
          <p:cNvCxnSpPr>
            <a:cxnSpLocks/>
            <a:stCxn id="49" idx="1"/>
            <a:endCxn id="58" idx="0"/>
          </p:cNvCxnSpPr>
          <p:nvPr/>
        </p:nvCxnSpPr>
        <p:spPr>
          <a:xfrm rot="10800000" flipH="1" flipV="1">
            <a:off x="6979754" y="5484821"/>
            <a:ext cx="648446" cy="815905"/>
          </a:xfrm>
          <a:prstGeom prst="bentConnector4">
            <a:avLst>
              <a:gd name="adj1" fmla="val -14743"/>
              <a:gd name="adj2" fmla="val 87419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4" name="꺾인 연결선[E] 143">
            <a:extLst>
              <a:ext uri="{FF2B5EF4-FFF2-40B4-BE49-F238E27FC236}">
                <a16:creationId xmlns:a16="http://schemas.microsoft.com/office/drawing/2014/main" id="{F04C4414-8C8A-EA1F-8B23-682DF4C4594F}"/>
              </a:ext>
            </a:extLst>
          </p:cNvPr>
          <p:cNvCxnSpPr>
            <a:cxnSpLocks/>
            <a:stCxn id="22" idx="1"/>
            <a:endCxn id="25" idx="1"/>
          </p:cNvCxnSpPr>
          <p:nvPr/>
        </p:nvCxnSpPr>
        <p:spPr>
          <a:xfrm rot="10800000" flipV="1">
            <a:off x="9144485" y="5484822"/>
            <a:ext cx="12700" cy="99424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347C4A-4BE2-CA63-71A2-B63473C06A4A}"/>
              </a:ext>
            </a:extLst>
          </p:cNvPr>
          <p:cNvSpPr/>
          <p:nvPr/>
        </p:nvSpPr>
        <p:spPr>
          <a:xfrm>
            <a:off x="6973308" y="5291899"/>
            <a:ext cx="832327" cy="86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500" b="1" dirty="0"/>
              <a:t>디폴트 보관기간</a:t>
            </a:r>
            <a:r>
              <a:rPr kumimoji="1" lang="en-US" altLang="ko-KR" sz="500" b="1" dirty="0"/>
              <a:t>:</a:t>
            </a:r>
            <a:r>
              <a:rPr kumimoji="1" lang="ko-KR" altLang="en-US" sz="500" b="1" dirty="0"/>
              <a:t> </a:t>
            </a:r>
            <a:r>
              <a:rPr kumimoji="1" lang="en-US" altLang="ko-KR" sz="500" b="1" dirty="0"/>
              <a:t>7</a:t>
            </a:r>
            <a:r>
              <a:rPr kumimoji="1" lang="ko-KR" altLang="en-US" sz="500" b="1" dirty="0"/>
              <a:t>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84B1A0-9416-3BEC-DB89-DB286DA2AA52}"/>
              </a:ext>
            </a:extLst>
          </p:cNvPr>
          <p:cNvSpPr/>
          <p:nvPr/>
        </p:nvSpPr>
        <p:spPr>
          <a:xfrm>
            <a:off x="6973308" y="5784694"/>
            <a:ext cx="832327" cy="8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500" b="1" dirty="0"/>
              <a:t>디폴트 보관기간</a:t>
            </a:r>
            <a:r>
              <a:rPr kumimoji="1" lang="en-US" altLang="ko-KR" sz="500" b="1" dirty="0"/>
              <a:t>:</a:t>
            </a:r>
            <a:r>
              <a:rPr kumimoji="1" lang="ko-KR" altLang="en-US" sz="500" b="1" dirty="0"/>
              <a:t> </a:t>
            </a:r>
            <a:r>
              <a:rPr kumimoji="1" lang="en-US" altLang="ko-KR" sz="500" b="1" dirty="0"/>
              <a:t>7</a:t>
            </a:r>
            <a:r>
              <a:rPr kumimoji="1" lang="ko-KR" altLang="en-US" sz="500" b="1" dirty="0"/>
              <a:t>일</a:t>
            </a:r>
          </a:p>
        </p:txBody>
      </p:sp>
      <p:sp>
        <p:nvSpPr>
          <p:cNvPr id="14" name="번개[L] 13">
            <a:extLst>
              <a:ext uri="{FF2B5EF4-FFF2-40B4-BE49-F238E27FC236}">
                <a16:creationId xmlns:a16="http://schemas.microsoft.com/office/drawing/2014/main" id="{078BDD29-DB00-B97E-BA0F-33835EB44F5D}"/>
              </a:ext>
            </a:extLst>
          </p:cNvPr>
          <p:cNvSpPr/>
          <p:nvPr/>
        </p:nvSpPr>
        <p:spPr>
          <a:xfrm>
            <a:off x="6586793" y="2515507"/>
            <a:ext cx="442543" cy="390649"/>
          </a:xfrm>
          <a:prstGeom prst="lightningBol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7" name="번개[L] 26">
            <a:extLst>
              <a:ext uri="{FF2B5EF4-FFF2-40B4-BE49-F238E27FC236}">
                <a16:creationId xmlns:a16="http://schemas.microsoft.com/office/drawing/2014/main" id="{B1BBF18E-2A70-A9DB-D527-8C00DB17AAFE}"/>
              </a:ext>
            </a:extLst>
          </p:cNvPr>
          <p:cNvSpPr/>
          <p:nvPr/>
        </p:nvSpPr>
        <p:spPr>
          <a:xfrm>
            <a:off x="6543436" y="1038867"/>
            <a:ext cx="442543" cy="390649"/>
          </a:xfrm>
          <a:prstGeom prst="lightningBol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9" name="번개[L] 28">
            <a:extLst>
              <a:ext uri="{FF2B5EF4-FFF2-40B4-BE49-F238E27FC236}">
                <a16:creationId xmlns:a16="http://schemas.microsoft.com/office/drawing/2014/main" id="{7E156799-E82B-3AE4-5C59-D43C96292B4B}"/>
              </a:ext>
            </a:extLst>
          </p:cNvPr>
          <p:cNvSpPr/>
          <p:nvPr/>
        </p:nvSpPr>
        <p:spPr>
          <a:xfrm>
            <a:off x="8669177" y="1593618"/>
            <a:ext cx="442543" cy="390649"/>
          </a:xfrm>
          <a:prstGeom prst="lightningBol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0" name="모서리가 둥근 사각형 설명선[R] 39">
            <a:extLst>
              <a:ext uri="{FF2B5EF4-FFF2-40B4-BE49-F238E27FC236}">
                <a16:creationId xmlns:a16="http://schemas.microsoft.com/office/drawing/2014/main" id="{BDE21B95-B64B-3929-6C17-46CCCFFE7212}"/>
              </a:ext>
            </a:extLst>
          </p:cNvPr>
          <p:cNvSpPr/>
          <p:nvPr/>
        </p:nvSpPr>
        <p:spPr>
          <a:xfrm>
            <a:off x="6215286" y="4585670"/>
            <a:ext cx="631082" cy="161654"/>
          </a:xfrm>
          <a:prstGeom prst="wedgeRoundRectCallout">
            <a:avLst>
              <a:gd name="adj1" fmla="val -12484"/>
              <a:gd name="adj2" fmla="val 98496"/>
              <a:gd name="adj3" fmla="val 16667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600" dirty="0" err="1">
                <a:solidFill>
                  <a:schemeClr val="tx1"/>
                </a:solidFill>
              </a:rPr>
              <a:t>버퍼큐사용</a:t>
            </a:r>
            <a:endParaRPr kumimoji="1"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41" name="모서리가 둥근 사각형 설명선[R] 40">
            <a:extLst>
              <a:ext uri="{FF2B5EF4-FFF2-40B4-BE49-F238E27FC236}">
                <a16:creationId xmlns:a16="http://schemas.microsoft.com/office/drawing/2014/main" id="{B6106EE0-8CE1-DAB7-CB27-69FB202EE5B2}"/>
              </a:ext>
            </a:extLst>
          </p:cNvPr>
          <p:cNvSpPr/>
          <p:nvPr/>
        </p:nvSpPr>
        <p:spPr>
          <a:xfrm>
            <a:off x="8447550" y="4604986"/>
            <a:ext cx="631082" cy="161654"/>
          </a:xfrm>
          <a:prstGeom prst="wedgeRoundRectCallout">
            <a:avLst>
              <a:gd name="adj1" fmla="val -12484"/>
              <a:gd name="adj2" fmla="val 98496"/>
              <a:gd name="adj3" fmla="val 16667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>
                <a:solidFill>
                  <a:schemeClr val="tx1"/>
                </a:solidFill>
              </a:rPr>
              <a:t>polling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943BDE7-BEE8-CBBD-294D-64EBDBED9A48}"/>
              </a:ext>
            </a:extLst>
          </p:cNvPr>
          <p:cNvSpPr/>
          <p:nvPr/>
        </p:nvSpPr>
        <p:spPr>
          <a:xfrm>
            <a:off x="6979754" y="2870009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adwhale-lb</a:t>
            </a:r>
            <a:r>
              <a:rPr kumimoji="1" lang="en-US" altLang="ko-KR" sz="1000" dirty="0"/>
              <a:t>(nginx)</a:t>
            </a:r>
            <a:endParaRPr kumimoji="1" lang="ko-KR" altLang="en-US" sz="10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5BEE996-CB03-5469-EE52-2A660D11FC97}"/>
              </a:ext>
            </a:extLst>
          </p:cNvPr>
          <p:cNvSpPr/>
          <p:nvPr/>
        </p:nvSpPr>
        <p:spPr>
          <a:xfrm>
            <a:off x="4422757" y="5488221"/>
            <a:ext cx="2023708" cy="3388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(n</a:t>
            </a:r>
            <a:r>
              <a:rPr kumimoji="1" lang="ko-KR" altLang="en-US" sz="1000" dirty="0">
                <a:solidFill>
                  <a:sysClr val="windowText" lastClr="000000"/>
                </a:solidFill>
              </a:rPr>
              <a:t>대 구성 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Port:8082)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79A1D93-1F00-5016-2054-8E52E210ED3A}"/>
              </a:ext>
            </a:extLst>
          </p:cNvPr>
          <p:cNvSpPr/>
          <p:nvPr/>
        </p:nvSpPr>
        <p:spPr>
          <a:xfrm>
            <a:off x="4422757" y="5937150"/>
            <a:ext cx="2023708" cy="3388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(n</a:t>
            </a:r>
            <a:r>
              <a:rPr kumimoji="1" lang="ko-KR" altLang="en-US" sz="1000" dirty="0">
                <a:solidFill>
                  <a:sysClr val="windowText" lastClr="000000"/>
                </a:solidFill>
              </a:rPr>
              <a:t>대 구성 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Port:8083)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55" name="꺾인 연결선[E] 54">
            <a:extLst>
              <a:ext uri="{FF2B5EF4-FFF2-40B4-BE49-F238E27FC236}">
                <a16:creationId xmlns:a16="http://schemas.microsoft.com/office/drawing/2014/main" id="{9F4D6351-672A-650E-87A9-5C5AECAD1C22}"/>
              </a:ext>
            </a:extLst>
          </p:cNvPr>
          <p:cNvCxnSpPr>
            <a:cxnSpLocks/>
            <a:stCxn id="35" idx="2"/>
            <a:endCxn id="15" idx="3"/>
          </p:cNvCxnSpPr>
          <p:nvPr/>
        </p:nvCxnSpPr>
        <p:spPr>
          <a:xfrm rot="5400000">
            <a:off x="6730047" y="2509807"/>
            <a:ext cx="181271" cy="161503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0" name="모서리가 둥근 사각형 설명선[R] 59">
            <a:extLst>
              <a:ext uri="{FF2B5EF4-FFF2-40B4-BE49-F238E27FC236}">
                <a16:creationId xmlns:a16="http://schemas.microsoft.com/office/drawing/2014/main" id="{EA61BC35-95D7-964B-350E-8F7C465318CB}"/>
              </a:ext>
            </a:extLst>
          </p:cNvPr>
          <p:cNvSpPr/>
          <p:nvPr/>
        </p:nvSpPr>
        <p:spPr>
          <a:xfrm>
            <a:off x="6626868" y="3128562"/>
            <a:ext cx="761673" cy="184666"/>
          </a:xfrm>
          <a:prstGeom prst="wedgeRoundRectCallout">
            <a:avLst>
              <a:gd name="adj1" fmla="val -12484"/>
              <a:gd name="adj2" fmla="val 98496"/>
              <a:gd name="adj3" fmla="val 16667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600" dirty="0" err="1">
                <a:solidFill>
                  <a:schemeClr val="tx1"/>
                </a:solidFill>
              </a:rPr>
              <a:t>라운드로빈사용</a:t>
            </a:r>
            <a:endParaRPr kumimoji="1"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3AD197E-CBBA-A3AE-1D9F-D0CBEF56D43A}"/>
              </a:ext>
            </a:extLst>
          </p:cNvPr>
          <p:cNvSpPr txBox="1"/>
          <p:nvPr/>
        </p:nvSpPr>
        <p:spPr>
          <a:xfrm>
            <a:off x="5306531" y="6220113"/>
            <a:ext cx="2135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/>
              <a:t>.</a:t>
            </a:r>
          </a:p>
          <a:p>
            <a:r>
              <a:rPr kumimoji="1" lang="en-US" altLang="ko-KR" sz="1000" dirty="0"/>
              <a:t>.</a:t>
            </a:r>
          </a:p>
          <a:p>
            <a:r>
              <a:rPr kumimoji="1" lang="en-US" altLang="ko-KR" sz="1000" dirty="0"/>
              <a:t>.</a:t>
            </a:r>
          </a:p>
        </p:txBody>
      </p:sp>
      <p:sp>
        <p:nvSpPr>
          <p:cNvPr id="90" name="모서리가 둥근 사각형 설명선[R] 89">
            <a:extLst>
              <a:ext uri="{FF2B5EF4-FFF2-40B4-BE49-F238E27FC236}">
                <a16:creationId xmlns:a16="http://schemas.microsoft.com/office/drawing/2014/main" id="{14F598B4-CF93-F57F-9788-8F3D797F21B9}"/>
              </a:ext>
            </a:extLst>
          </p:cNvPr>
          <p:cNvSpPr/>
          <p:nvPr/>
        </p:nvSpPr>
        <p:spPr>
          <a:xfrm>
            <a:off x="6854433" y="3547375"/>
            <a:ext cx="2067971" cy="388601"/>
          </a:xfrm>
          <a:prstGeom prst="wedgeRoundRectCallout">
            <a:avLst>
              <a:gd name="adj1" fmla="val 6768"/>
              <a:gd name="adj2" fmla="val -141295"/>
              <a:gd name="adj3" fmla="val 16667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Ad-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api</a:t>
            </a:r>
            <a:r>
              <a:rPr kumimoji="1" lang="en-US" altLang="ko-KR" sz="600" dirty="0">
                <a:solidFill>
                  <a:srgbClr val="FF0000"/>
                </a:solidFill>
              </a:rPr>
              <a:t> </a:t>
            </a:r>
            <a:r>
              <a:rPr kumimoji="1" lang="ko-KR" altLang="en-US" sz="600" dirty="0">
                <a:solidFill>
                  <a:srgbClr val="FF0000"/>
                </a:solidFill>
              </a:rPr>
              <a:t>서버 장애대응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응답</a:t>
            </a:r>
            <a:r>
              <a:rPr kumimoji="1" lang="en-US" altLang="ko-KR" sz="600" dirty="0">
                <a:solidFill>
                  <a:srgbClr val="FF0000"/>
                </a:solidFill>
              </a:rPr>
              <a:t>x,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kafka</a:t>
            </a:r>
            <a:r>
              <a:rPr kumimoji="1" lang="ko-KR" altLang="en-US" sz="600" dirty="0">
                <a:solidFill>
                  <a:srgbClr val="FF0000"/>
                </a:solidFill>
              </a:rPr>
              <a:t>메시지</a:t>
            </a:r>
            <a:r>
              <a:rPr kumimoji="1" lang="en-US" altLang="ko-KR" sz="600" dirty="0">
                <a:solidFill>
                  <a:srgbClr val="FF0000"/>
                </a:solidFill>
              </a:rPr>
              <a:t>x</a:t>
            </a:r>
            <a:r>
              <a:rPr kumimoji="1" lang="ko-KR" altLang="en-US" sz="600" dirty="0">
                <a:solidFill>
                  <a:srgbClr val="FF0000"/>
                </a:solidFill>
              </a:rPr>
              <a:t> 일 경우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로드밸런서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nginx </a:t>
            </a:r>
            <a:r>
              <a:rPr kumimoji="1" lang="ko-KR" altLang="en-US" sz="600" dirty="0">
                <a:solidFill>
                  <a:srgbClr val="FF0000"/>
                </a:solidFill>
              </a:rPr>
              <a:t>처리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v1/ad/request : 503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v1/ad/impression, click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503</a:t>
            </a:r>
          </a:p>
        </p:txBody>
      </p:sp>
      <p:sp>
        <p:nvSpPr>
          <p:cNvPr id="91" name="모서리가 둥근 사각형 설명선[R] 90">
            <a:extLst>
              <a:ext uri="{FF2B5EF4-FFF2-40B4-BE49-F238E27FC236}">
                <a16:creationId xmlns:a16="http://schemas.microsoft.com/office/drawing/2014/main" id="{AFD8BBC5-666A-E50F-3E11-A1411A68BE51}"/>
              </a:ext>
            </a:extLst>
          </p:cNvPr>
          <p:cNvSpPr/>
          <p:nvPr/>
        </p:nvSpPr>
        <p:spPr>
          <a:xfrm>
            <a:off x="9311188" y="2370731"/>
            <a:ext cx="2694786" cy="597115"/>
          </a:xfrm>
          <a:prstGeom prst="wedgeRoundRectCallout">
            <a:avLst>
              <a:gd name="adj1" fmla="val -16886"/>
              <a:gd name="adj2" fmla="val -78836"/>
              <a:gd name="adj3" fmla="val 16667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ad-log-consumer </a:t>
            </a:r>
            <a:r>
              <a:rPr kumimoji="1" lang="ko-KR" altLang="en-US" sz="600" dirty="0">
                <a:solidFill>
                  <a:srgbClr val="FF0000"/>
                </a:solidFill>
              </a:rPr>
              <a:t>장애대응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v1/ad/request : 200(</a:t>
            </a:r>
            <a:r>
              <a:rPr kumimoji="1" lang="ko-KR" altLang="en-US" sz="600" dirty="0">
                <a:solidFill>
                  <a:srgbClr val="FF0000"/>
                </a:solidFill>
              </a:rPr>
              <a:t>비동기처리</a:t>
            </a:r>
            <a:r>
              <a:rPr kumimoji="1" lang="en-US" altLang="ko-KR" sz="600" dirty="0">
                <a:solidFill>
                  <a:srgbClr val="FF0000"/>
                </a:solidFill>
              </a:rPr>
              <a:t>)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v1/ad/impression, click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503(</a:t>
            </a:r>
            <a:r>
              <a:rPr kumimoji="1" lang="ko-KR" altLang="en-US" sz="600" dirty="0">
                <a:solidFill>
                  <a:srgbClr val="FF0000"/>
                </a:solidFill>
              </a:rPr>
              <a:t>동기처리</a:t>
            </a:r>
            <a:r>
              <a:rPr kumimoji="1" lang="en-US" altLang="ko-KR" sz="600" dirty="0">
                <a:solidFill>
                  <a:srgbClr val="FF0000"/>
                </a:solidFill>
              </a:rPr>
              <a:t>).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eventId</a:t>
            </a:r>
            <a:r>
              <a:rPr kumimoji="1" lang="ko-KR" altLang="en-US" sz="600" dirty="0">
                <a:solidFill>
                  <a:srgbClr val="FF0000"/>
                </a:solidFill>
              </a:rPr>
              <a:t>로 중복처리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1)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Docker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kafka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에</a:t>
            </a:r>
            <a:r>
              <a:rPr kumimoji="1" lang="ko-KR" altLang="en-US" sz="600" dirty="0">
                <a:solidFill>
                  <a:srgbClr val="FF0000"/>
                </a:solidFill>
              </a:rPr>
              <a:t> 메시지 쌓이고 </a:t>
            </a:r>
            <a:r>
              <a:rPr kumimoji="1" lang="en-US" altLang="ko-KR" sz="600" dirty="0">
                <a:solidFill>
                  <a:srgbClr val="FF0000"/>
                </a:solidFill>
              </a:rPr>
              <a:t>&gt;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ad-log-consumer </a:t>
            </a:r>
            <a:r>
              <a:rPr kumimoji="1" lang="ko-KR" altLang="en-US" sz="600" dirty="0">
                <a:solidFill>
                  <a:srgbClr val="FF0000"/>
                </a:solidFill>
              </a:rPr>
              <a:t>가 켜지면 마지막 기록된 </a:t>
            </a:r>
            <a:r>
              <a:rPr kumimoji="1" lang="en-US" altLang="ko-KR" sz="600" dirty="0">
                <a:solidFill>
                  <a:srgbClr val="FF0000"/>
                </a:solidFill>
              </a:rPr>
              <a:t>offset 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부터</a:t>
            </a:r>
            <a:r>
              <a:rPr kumimoji="1" lang="ko-KR" altLang="en-US" sz="600" dirty="0">
                <a:solidFill>
                  <a:srgbClr val="FF0000"/>
                </a:solidFill>
              </a:rPr>
              <a:t> 밀린 메시지를 전부 처리</a:t>
            </a:r>
            <a:endParaRPr kumimoji="1" lang="en-US" altLang="ko-KR" sz="600" dirty="0">
              <a:solidFill>
                <a:srgbClr val="FF0000"/>
              </a:solidFill>
            </a:endParaRPr>
          </a:p>
        </p:txBody>
      </p:sp>
      <p:sp>
        <p:nvSpPr>
          <p:cNvPr id="96" name="모서리가 둥근 사각형 설명선[R] 95">
            <a:extLst>
              <a:ext uri="{FF2B5EF4-FFF2-40B4-BE49-F238E27FC236}">
                <a16:creationId xmlns:a16="http://schemas.microsoft.com/office/drawing/2014/main" id="{B838A00D-8A63-F65E-FA0D-F61045112603}"/>
              </a:ext>
            </a:extLst>
          </p:cNvPr>
          <p:cNvSpPr/>
          <p:nvPr/>
        </p:nvSpPr>
        <p:spPr>
          <a:xfrm>
            <a:off x="5580449" y="-856313"/>
            <a:ext cx="3564036" cy="771851"/>
          </a:xfrm>
          <a:prstGeom prst="wedgeRoundRectCallout">
            <a:avLst>
              <a:gd name="adj1" fmla="val -8403"/>
              <a:gd name="adj2" fmla="val 242970"/>
              <a:gd name="adj3" fmla="val 16667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Docker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kafka</a:t>
            </a:r>
            <a:r>
              <a:rPr kumimoji="1" lang="en-US" altLang="ko-KR" sz="600" dirty="0">
                <a:solidFill>
                  <a:srgbClr val="FF0000"/>
                </a:solidFill>
              </a:rPr>
              <a:t> </a:t>
            </a:r>
            <a:r>
              <a:rPr kumimoji="1" lang="ko-KR" altLang="en-US" sz="600" dirty="0">
                <a:solidFill>
                  <a:srgbClr val="FF0000"/>
                </a:solidFill>
              </a:rPr>
              <a:t>장애대응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v1/ad/request : 200(</a:t>
            </a:r>
            <a:r>
              <a:rPr kumimoji="1" lang="ko-KR" altLang="en-US" sz="600" dirty="0">
                <a:solidFill>
                  <a:srgbClr val="FF0000"/>
                </a:solidFill>
              </a:rPr>
              <a:t>비동기처리</a:t>
            </a:r>
            <a:r>
              <a:rPr kumimoji="1" lang="en-US" altLang="ko-KR" sz="600" dirty="0">
                <a:solidFill>
                  <a:srgbClr val="FF0000"/>
                </a:solidFill>
              </a:rPr>
              <a:t>)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v1/ad/impression, click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503(</a:t>
            </a:r>
            <a:r>
              <a:rPr kumimoji="1" lang="ko-KR" altLang="en-US" sz="600" dirty="0">
                <a:solidFill>
                  <a:srgbClr val="FF0000"/>
                </a:solidFill>
              </a:rPr>
              <a:t>동기처리</a:t>
            </a:r>
            <a:r>
              <a:rPr kumimoji="1" lang="en-US" altLang="ko-KR" sz="600" dirty="0">
                <a:solidFill>
                  <a:srgbClr val="FF0000"/>
                </a:solidFill>
              </a:rPr>
              <a:t>).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eventId</a:t>
            </a:r>
            <a:r>
              <a:rPr kumimoji="1" lang="ko-KR" altLang="en-US" sz="600" dirty="0">
                <a:solidFill>
                  <a:srgbClr val="FF0000"/>
                </a:solidFill>
              </a:rPr>
              <a:t>로 중복처리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Kafka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여러대</a:t>
            </a:r>
            <a:r>
              <a:rPr kumimoji="1" lang="ko-KR" altLang="en-US" sz="600" dirty="0">
                <a:solidFill>
                  <a:srgbClr val="FF0000"/>
                </a:solidFill>
              </a:rPr>
              <a:t> 두기</a:t>
            </a:r>
            <a:r>
              <a:rPr kumimoji="1" lang="en-US" altLang="ko-KR" sz="600" dirty="0">
                <a:solidFill>
                  <a:srgbClr val="FF0000"/>
                </a:solidFill>
              </a:rPr>
              <a:t>(</a:t>
            </a:r>
            <a:r>
              <a:rPr kumimoji="1" lang="ko-KR" altLang="en-US" sz="600" dirty="0">
                <a:solidFill>
                  <a:srgbClr val="FF0000"/>
                </a:solidFill>
              </a:rPr>
              <a:t>추후예정</a:t>
            </a:r>
            <a:r>
              <a:rPr kumimoji="1" lang="en-US" altLang="ko-KR" sz="600" dirty="0">
                <a:solidFill>
                  <a:srgbClr val="FF0000"/>
                </a:solidFill>
              </a:rPr>
              <a:t>)</a:t>
            </a:r>
          </a:p>
          <a:p>
            <a:pPr algn="ctr"/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1)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ad-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api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에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kafka</a:t>
            </a:r>
            <a:r>
              <a:rPr kumimoji="1" lang="ko-KR" altLang="en-US" sz="600" dirty="0">
                <a:solidFill>
                  <a:srgbClr val="FF0000"/>
                </a:solidFill>
              </a:rPr>
              <a:t>가 붙어있는 상태에서 잠깐 죽는 경우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2</a:t>
            </a:r>
            <a:r>
              <a:rPr kumimoji="1" lang="ko-KR" altLang="en-US" sz="600" dirty="0">
                <a:solidFill>
                  <a:srgbClr val="FF0000"/>
                </a:solidFill>
              </a:rPr>
              <a:t>분 안에 돌아오면 유실</a:t>
            </a:r>
            <a:r>
              <a:rPr kumimoji="1" lang="en-US" altLang="ko-KR" sz="600" dirty="0">
                <a:solidFill>
                  <a:srgbClr val="FF0000"/>
                </a:solidFill>
              </a:rPr>
              <a:t>x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2) Kafka</a:t>
            </a:r>
            <a:r>
              <a:rPr kumimoji="1" lang="ko-KR" altLang="en-US" sz="600" dirty="0">
                <a:solidFill>
                  <a:srgbClr val="FF0000"/>
                </a:solidFill>
              </a:rPr>
              <a:t>가 죽은 상태에서 </a:t>
            </a:r>
            <a:r>
              <a:rPr kumimoji="1" lang="en-US" altLang="ko-KR" sz="600" dirty="0">
                <a:solidFill>
                  <a:srgbClr val="FF0000"/>
                </a:solidFill>
              </a:rPr>
              <a:t>ad-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api</a:t>
            </a:r>
            <a:r>
              <a:rPr kumimoji="1" lang="ko-KR" altLang="en-US" sz="600" dirty="0">
                <a:solidFill>
                  <a:srgbClr val="FF0000"/>
                </a:solidFill>
              </a:rPr>
              <a:t> 켠 경우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max.block.ms</a:t>
            </a:r>
            <a:r>
              <a:rPr kumimoji="1" lang="ko-KR" altLang="en-US" sz="600" dirty="0">
                <a:solidFill>
                  <a:srgbClr val="FF0000"/>
                </a:solidFill>
              </a:rPr>
              <a:t>설정 </a:t>
            </a:r>
            <a:r>
              <a:rPr kumimoji="1" lang="en-US" altLang="ko-KR" sz="600" dirty="0">
                <a:solidFill>
                  <a:srgbClr val="FF0000"/>
                </a:solidFill>
              </a:rPr>
              <a:t>3</a:t>
            </a:r>
            <a:r>
              <a:rPr kumimoji="1" lang="ko-KR" altLang="en-US" sz="600" dirty="0">
                <a:solidFill>
                  <a:srgbClr val="FF0000"/>
                </a:solidFill>
              </a:rPr>
              <a:t>초씩 느려지고 이벤트 유실됨</a:t>
            </a:r>
            <a:r>
              <a:rPr kumimoji="1" lang="en-US" altLang="ko-KR" sz="600" dirty="0">
                <a:solidFill>
                  <a:srgbClr val="FF0000"/>
                </a:solidFill>
              </a:rPr>
              <a:t>.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endParaRPr kumimoji="1" lang="en-US" altLang="ko-KR" sz="600" dirty="0">
              <a:solidFill>
                <a:srgbClr val="FF0000"/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68278B0C-522C-07F9-9C28-BBD0EF3149A1}"/>
              </a:ext>
            </a:extLst>
          </p:cNvPr>
          <p:cNvSpPr/>
          <p:nvPr/>
        </p:nvSpPr>
        <p:spPr>
          <a:xfrm>
            <a:off x="4422757" y="260015"/>
            <a:ext cx="149425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Nginx/ad-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api.conf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778CD97F-F0E8-DC88-229E-0C780203B2AF}"/>
              </a:ext>
            </a:extLst>
          </p:cNvPr>
          <p:cNvSpPr/>
          <p:nvPr/>
        </p:nvSpPr>
        <p:spPr>
          <a:xfrm>
            <a:off x="4425815" y="664984"/>
            <a:ext cx="149425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Docker-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compose.yml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112" name="꺾인 연결선[E] 111">
            <a:extLst>
              <a:ext uri="{FF2B5EF4-FFF2-40B4-BE49-F238E27FC236}">
                <a16:creationId xmlns:a16="http://schemas.microsoft.com/office/drawing/2014/main" id="{C9CB3A3B-3401-2513-2893-8B85E6E56E24}"/>
              </a:ext>
            </a:extLst>
          </p:cNvPr>
          <p:cNvCxnSpPr>
            <a:cxnSpLocks/>
          </p:cNvCxnSpPr>
          <p:nvPr/>
        </p:nvCxnSpPr>
        <p:spPr>
          <a:xfrm>
            <a:off x="5917012" y="329675"/>
            <a:ext cx="1062742" cy="2644335"/>
          </a:xfrm>
          <a:prstGeom prst="bentConnector3">
            <a:avLst>
              <a:gd name="adj1" fmla="val 57695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681476C-0ECC-EC86-7725-6FE8B643EFD2}"/>
              </a:ext>
            </a:extLst>
          </p:cNvPr>
          <p:cNvCxnSpPr>
            <a:cxnSpLocks/>
            <a:stCxn id="7" idx="3"/>
            <a:endCxn id="35" idx="1"/>
          </p:cNvCxnSpPr>
          <p:nvPr/>
        </p:nvCxnSpPr>
        <p:spPr>
          <a:xfrm flipV="1">
            <a:off x="3080229" y="3048350"/>
            <a:ext cx="3899525" cy="2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492896C-B90C-577F-0772-1EDF961813B1}"/>
              </a:ext>
            </a:extLst>
          </p:cNvPr>
          <p:cNvSpPr txBox="1"/>
          <p:nvPr/>
        </p:nvSpPr>
        <p:spPr>
          <a:xfrm>
            <a:off x="-8853" y="31657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버전</a:t>
            </a:r>
            <a:r>
              <a:rPr kumimoji="1" lang="en-US" altLang="ko-KR" dirty="0"/>
              <a:t>1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222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14C6D-8E8A-7C4A-D71C-48C36E821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931F74B-6B3E-90AB-87C7-2A471AE1B9FD}"/>
              </a:ext>
            </a:extLst>
          </p:cNvPr>
          <p:cNvSpPr/>
          <p:nvPr/>
        </p:nvSpPr>
        <p:spPr>
          <a:xfrm>
            <a:off x="-1321330" y="-2900941"/>
            <a:ext cx="2253543" cy="1090756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3</a:t>
            </a:r>
            <a:r>
              <a:rPr kumimoji="1" lang="en-US" altLang="ko-KR" sz="1000" baseline="30000" dirty="0">
                <a:solidFill>
                  <a:sysClr val="windowText" lastClr="000000"/>
                </a:solidFill>
              </a:rPr>
              <a:t>rd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party App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B66FE4-531E-5650-FC22-D791059F09D6}"/>
              </a:ext>
            </a:extLst>
          </p:cNvPr>
          <p:cNvSpPr/>
          <p:nvPr/>
        </p:nvSpPr>
        <p:spPr>
          <a:xfrm>
            <a:off x="-1075953" y="-1169089"/>
            <a:ext cx="1743472" cy="86000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ko-KR" altLang="en-US" sz="1000" dirty="0">
                <a:solidFill>
                  <a:sysClr val="windowText" lastClr="000000"/>
                </a:solidFill>
              </a:rPr>
              <a:t>광고화면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4803132-CE4B-76BA-AFD5-1FC68A906CDB}"/>
              </a:ext>
            </a:extLst>
          </p:cNvPr>
          <p:cNvSpPr/>
          <p:nvPr/>
        </p:nvSpPr>
        <p:spPr>
          <a:xfrm>
            <a:off x="-784122" y="676978"/>
            <a:ext cx="1198978" cy="48927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ko-KR" sz="1000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Adwhale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Sdk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A8B113-9AC6-F50F-8A20-FF957BB8CBF5}"/>
              </a:ext>
            </a:extLst>
          </p:cNvPr>
          <p:cNvSpPr/>
          <p:nvPr/>
        </p:nvSpPr>
        <p:spPr>
          <a:xfrm>
            <a:off x="-562275" y="3505867"/>
            <a:ext cx="71422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광고요청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A721F3-8ABC-063B-B09F-61C8AAD2F33F}"/>
              </a:ext>
            </a:extLst>
          </p:cNvPr>
          <p:cNvSpPr/>
          <p:nvPr/>
        </p:nvSpPr>
        <p:spPr>
          <a:xfrm>
            <a:off x="-570498" y="4033785"/>
            <a:ext cx="71422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광고응답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4A919A6-6963-5340-CD19-0A6644CEBBD9}"/>
              </a:ext>
            </a:extLst>
          </p:cNvPr>
          <p:cNvSpPr/>
          <p:nvPr/>
        </p:nvSpPr>
        <p:spPr>
          <a:xfrm>
            <a:off x="1289324" y="-2894471"/>
            <a:ext cx="18370276" cy="1066687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adwhale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-ad-platform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AF65E99-EB46-7EA6-FA1F-C54D6E46BDC3}"/>
              </a:ext>
            </a:extLst>
          </p:cNvPr>
          <p:cNvSpPr/>
          <p:nvPr/>
        </p:nvSpPr>
        <p:spPr>
          <a:xfrm>
            <a:off x="8441510" y="-2891887"/>
            <a:ext cx="3658947" cy="6954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ad-common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745C77-5E28-E019-EB5E-A3C7014E03F7}"/>
              </a:ext>
            </a:extLst>
          </p:cNvPr>
          <p:cNvSpPr/>
          <p:nvPr/>
        </p:nvSpPr>
        <p:spPr>
          <a:xfrm>
            <a:off x="8517819" y="-2629012"/>
            <a:ext cx="1146935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AdRequestEvent</a:t>
            </a:r>
            <a:endParaRPr kumimoji="1"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772F604-0BC9-96EC-80E5-B185AD200CA7}"/>
              </a:ext>
            </a:extLst>
          </p:cNvPr>
          <p:cNvSpPr/>
          <p:nvPr/>
        </p:nvSpPr>
        <p:spPr>
          <a:xfrm>
            <a:off x="10868827" y="-2639790"/>
            <a:ext cx="1146935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AdTrackingEvent</a:t>
            </a:r>
            <a:endParaRPr kumimoji="1" lang="ko-KR" altLang="en-US" sz="10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F1792B5-F02F-895F-0315-E1966DCE108F}"/>
              </a:ext>
            </a:extLst>
          </p:cNvPr>
          <p:cNvSpPr/>
          <p:nvPr/>
        </p:nvSpPr>
        <p:spPr>
          <a:xfrm>
            <a:off x="9749450" y="-2633495"/>
            <a:ext cx="1034681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AdTopicEnum</a:t>
            </a:r>
            <a:endParaRPr kumimoji="1"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EBA73E0-5AED-2DB0-3FEA-91B71BF1DEF9}"/>
              </a:ext>
            </a:extLst>
          </p:cNvPr>
          <p:cNvSpPr/>
          <p:nvPr/>
        </p:nvSpPr>
        <p:spPr>
          <a:xfrm>
            <a:off x="6746218" y="-1169090"/>
            <a:ext cx="1732582" cy="86010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docker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6DA17E-7173-CB6F-BE52-10E7AE71B2F4}"/>
              </a:ext>
            </a:extLst>
          </p:cNvPr>
          <p:cNvSpPr/>
          <p:nvPr/>
        </p:nvSpPr>
        <p:spPr>
          <a:xfrm>
            <a:off x="6979754" y="5070997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adwhale-kafka</a:t>
            </a:r>
            <a:endParaRPr kumimoji="1" lang="ko-KR" altLang="en-US" sz="1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0D6148F-23E0-2C48-0FDF-4031A6FBF231}"/>
              </a:ext>
            </a:extLst>
          </p:cNvPr>
          <p:cNvSpPr/>
          <p:nvPr/>
        </p:nvSpPr>
        <p:spPr>
          <a:xfrm>
            <a:off x="6979754" y="6578514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adwhale-kafka-ui</a:t>
            </a:r>
            <a:endParaRPr kumimoji="1" lang="ko-KR" altLang="en-US" sz="10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31CBCC2-09BA-ADC6-25C2-1063B97D19A3}"/>
              </a:ext>
            </a:extLst>
          </p:cNvPr>
          <p:cNvSpPr/>
          <p:nvPr/>
        </p:nvSpPr>
        <p:spPr>
          <a:xfrm>
            <a:off x="4422757" y="-1169089"/>
            <a:ext cx="2023708" cy="6825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(n</a:t>
            </a:r>
            <a:r>
              <a:rPr kumimoji="1" lang="ko-KR" altLang="en-US" sz="1000" dirty="0">
                <a:solidFill>
                  <a:sysClr val="windowText" lastClr="000000"/>
                </a:solidFill>
              </a:rPr>
              <a:t>대 구성 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Port:8081)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9" name="원통[C] 18">
            <a:extLst>
              <a:ext uri="{FF2B5EF4-FFF2-40B4-BE49-F238E27FC236}">
                <a16:creationId xmlns:a16="http://schemas.microsoft.com/office/drawing/2014/main" id="{6393ED9E-755E-8F0D-EBE8-C8D93123E0EF}"/>
              </a:ext>
            </a:extLst>
          </p:cNvPr>
          <p:cNvSpPr/>
          <p:nvPr/>
        </p:nvSpPr>
        <p:spPr>
          <a:xfrm>
            <a:off x="4628169" y="676978"/>
            <a:ext cx="1570244" cy="4892708"/>
          </a:xfrm>
          <a:prstGeom prst="can">
            <a:avLst>
              <a:gd name="adj" fmla="val 8809"/>
            </a:avLst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</a:t>
            </a:r>
          </a:p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Server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3C49E2-7AD9-3D88-8FA5-818978096D6F}"/>
              </a:ext>
            </a:extLst>
          </p:cNvPr>
          <p:cNvSpPr/>
          <p:nvPr/>
        </p:nvSpPr>
        <p:spPr>
          <a:xfrm>
            <a:off x="4815608" y="3507407"/>
            <a:ext cx="1197556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AdController</a:t>
            </a:r>
            <a:endParaRPr kumimoji="1" lang="ko-KR" altLang="en-US" sz="10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3DC3B16-B4D0-E059-428E-C01B89C87A30}"/>
              </a:ext>
            </a:extLst>
          </p:cNvPr>
          <p:cNvSpPr/>
          <p:nvPr/>
        </p:nvSpPr>
        <p:spPr>
          <a:xfrm>
            <a:off x="4815608" y="4033785"/>
            <a:ext cx="1197556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AdService</a:t>
            </a:r>
            <a:endParaRPr kumimoji="1" lang="ko-KR" altLang="en-US" sz="10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69C77F3-7164-542B-BD03-4E7FAF7B14C9}"/>
              </a:ext>
            </a:extLst>
          </p:cNvPr>
          <p:cNvSpPr/>
          <p:nvPr/>
        </p:nvSpPr>
        <p:spPr>
          <a:xfrm>
            <a:off x="4815608" y="4560163"/>
            <a:ext cx="1197556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AdEventProducer</a:t>
            </a:r>
            <a:endParaRPr kumimoji="1" lang="ko-KR" altLang="en-US" sz="10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64D4BA1-8A55-4287-9C4F-3A0781C22D1C}"/>
              </a:ext>
            </a:extLst>
          </p:cNvPr>
          <p:cNvSpPr/>
          <p:nvPr/>
        </p:nvSpPr>
        <p:spPr>
          <a:xfrm>
            <a:off x="4815608" y="1687824"/>
            <a:ext cx="1197556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AdApiApplication</a:t>
            </a:r>
            <a:endParaRPr kumimoji="1" lang="ko-KR" altLang="en-US" sz="1000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73AADE2-F025-29B8-0FCD-EB7FFB235878}"/>
              </a:ext>
            </a:extLst>
          </p:cNvPr>
          <p:cNvCxnSpPr>
            <a:stCxn id="23" idx="2"/>
            <a:endCxn id="20" idx="0"/>
          </p:cNvCxnSpPr>
          <p:nvPr/>
        </p:nvCxnSpPr>
        <p:spPr>
          <a:xfrm>
            <a:off x="5414386" y="2044505"/>
            <a:ext cx="0" cy="1462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A5E370A-AEC1-83E2-A575-3E4AC11DCD5A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5414386" y="3864088"/>
            <a:ext cx="0" cy="169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2969A55C-F130-3AE0-8C32-E668FF301D6D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5414386" y="4390466"/>
            <a:ext cx="0" cy="169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6914A8D-E3FB-2B4A-FFB6-4700B9FDB881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5413291" y="4916844"/>
            <a:ext cx="1095" cy="151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64D62AC-9D13-3872-A549-A7B9FF380074}"/>
              </a:ext>
            </a:extLst>
          </p:cNvPr>
          <p:cNvSpPr/>
          <p:nvPr/>
        </p:nvSpPr>
        <p:spPr>
          <a:xfrm>
            <a:off x="4815608" y="5068129"/>
            <a:ext cx="1197556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spring-boot-starter-</a:t>
            </a:r>
            <a:r>
              <a:rPr kumimoji="1" lang="en-US" altLang="ko-KR" sz="800" dirty="0" err="1">
                <a:solidFill>
                  <a:sysClr val="windowText" lastClr="000000"/>
                </a:solidFill>
              </a:rPr>
              <a:t>kafka</a:t>
            </a:r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019C27B-1E83-1B79-3268-9DBA8CA5448E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6013164" y="5249338"/>
            <a:ext cx="966590" cy="5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73DA8D9-CACF-8D86-54DF-BD45FF974698}"/>
              </a:ext>
            </a:extLst>
          </p:cNvPr>
          <p:cNvSpPr/>
          <p:nvPr/>
        </p:nvSpPr>
        <p:spPr>
          <a:xfrm>
            <a:off x="8931537" y="-1169090"/>
            <a:ext cx="4744705" cy="86010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ad-log-consumer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4" name="원통[C] 33">
            <a:extLst>
              <a:ext uri="{FF2B5EF4-FFF2-40B4-BE49-F238E27FC236}">
                <a16:creationId xmlns:a16="http://schemas.microsoft.com/office/drawing/2014/main" id="{52A4A952-6B0C-DC0C-A1DD-2DF78DFD7CE7}"/>
              </a:ext>
            </a:extLst>
          </p:cNvPr>
          <p:cNvSpPr/>
          <p:nvPr/>
        </p:nvSpPr>
        <p:spPr>
          <a:xfrm>
            <a:off x="9202947" y="676978"/>
            <a:ext cx="2805632" cy="6681313"/>
          </a:xfrm>
          <a:prstGeom prst="can">
            <a:avLst>
              <a:gd name="adj" fmla="val 8527"/>
            </a:avLst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ad-log-consumer App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A3D0263-BC62-C35E-8C36-83E3D977367A}"/>
              </a:ext>
            </a:extLst>
          </p:cNvPr>
          <p:cNvSpPr/>
          <p:nvPr/>
        </p:nvSpPr>
        <p:spPr>
          <a:xfrm>
            <a:off x="9551984" y="5584268"/>
            <a:ext cx="1156624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AdLogConsumer</a:t>
            </a:r>
            <a:endParaRPr kumimoji="1" lang="ko-KR" altLang="en-US" sz="10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F7EE70B-C7F8-D122-1F7F-216E87ADD20A}"/>
              </a:ext>
            </a:extLst>
          </p:cNvPr>
          <p:cNvSpPr/>
          <p:nvPr/>
        </p:nvSpPr>
        <p:spPr>
          <a:xfrm>
            <a:off x="9343266" y="1215344"/>
            <a:ext cx="2510450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AdLogConsumerApplication</a:t>
            </a:r>
            <a:endParaRPr kumimoji="1" lang="ko-KR" altLang="en-US" sz="10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37F977E-F786-A3A1-3717-BFFDA915B81B}"/>
              </a:ext>
            </a:extLst>
          </p:cNvPr>
          <p:cNvSpPr/>
          <p:nvPr/>
        </p:nvSpPr>
        <p:spPr>
          <a:xfrm>
            <a:off x="9551984" y="6578514"/>
            <a:ext cx="1156624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AdLogFileWriter</a:t>
            </a:r>
            <a:endParaRPr kumimoji="1" lang="ko-KR" altLang="en-US" sz="1000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4A50D61D-B2FE-1DF1-F20F-FDADF5ABECB3}"/>
              </a:ext>
            </a:extLst>
          </p:cNvPr>
          <p:cNvCxnSpPr>
            <a:cxnSpLocks/>
            <a:stCxn id="35" idx="2"/>
            <a:endCxn id="75" idx="0"/>
          </p:cNvCxnSpPr>
          <p:nvPr/>
        </p:nvCxnSpPr>
        <p:spPr>
          <a:xfrm>
            <a:off x="10130296" y="5940949"/>
            <a:ext cx="1920" cy="138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BD70AED-4B2F-789D-6472-1B79E8C3E2AF}"/>
              </a:ext>
            </a:extLst>
          </p:cNvPr>
          <p:cNvSpPr/>
          <p:nvPr/>
        </p:nvSpPr>
        <p:spPr>
          <a:xfrm>
            <a:off x="9541751" y="5068129"/>
            <a:ext cx="1177090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spring-boot-starter-</a:t>
            </a:r>
            <a:r>
              <a:rPr kumimoji="1" lang="en-US" altLang="ko-KR" sz="800" dirty="0" err="1">
                <a:solidFill>
                  <a:sysClr val="windowText" lastClr="000000"/>
                </a:solidFill>
              </a:rPr>
              <a:t>kafka</a:t>
            </a:r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3E375DA-FB6F-DD29-2C7B-5149B6A400E3}"/>
              </a:ext>
            </a:extLst>
          </p:cNvPr>
          <p:cNvCxnSpPr>
            <a:cxnSpLocks/>
            <a:stCxn id="40" idx="2"/>
            <a:endCxn id="35" idx="0"/>
          </p:cNvCxnSpPr>
          <p:nvPr/>
        </p:nvCxnSpPr>
        <p:spPr>
          <a:xfrm>
            <a:off x="10130296" y="5441130"/>
            <a:ext cx="0" cy="143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4F406924-7FEC-2696-49CF-E19F7CDC232E}"/>
              </a:ext>
            </a:extLst>
          </p:cNvPr>
          <p:cNvCxnSpPr>
            <a:cxnSpLocks/>
            <a:stCxn id="16" idx="3"/>
            <a:endCxn id="40" idx="1"/>
          </p:cNvCxnSpPr>
          <p:nvPr/>
        </p:nvCxnSpPr>
        <p:spPr>
          <a:xfrm>
            <a:off x="8276646" y="5249338"/>
            <a:ext cx="1265105" cy="5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6A93B96-45E4-FE3F-DBB1-7AD595D17C07}"/>
              </a:ext>
            </a:extLst>
          </p:cNvPr>
          <p:cNvCxnSpPr>
            <a:cxnSpLocks/>
            <a:stCxn id="38" idx="3"/>
            <a:endCxn id="76" idx="1"/>
          </p:cNvCxnSpPr>
          <p:nvPr/>
        </p:nvCxnSpPr>
        <p:spPr>
          <a:xfrm>
            <a:off x="10708608" y="6756855"/>
            <a:ext cx="1493824" cy="2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106AD63-C868-6B83-3A18-AEB72379FA7D}"/>
              </a:ext>
            </a:extLst>
          </p:cNvPr>
          <p:cNvSpPr txBox="1"/>
          <p:nvPr/>
        </p:nvSpPr>
        <p:spPr>
          <a:xfrm>
            <a:off x="5905965" y="5061909"/>
            <a:ext cx="119295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SEND KAFKA EVENT (9092)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C288D8-C0D4-AFD7-1440-140683932954}"/>
              </a:ext>
            </a:extLst>
          </p:cNvPr>
          <p:cNvSpPr txBox="1"/>
          <p:nvPr/>
        </p:nvSpPr>
        <p:spPr>
          <a:xfrm>
            <a:off x="8351621" y="5050249"/>
            <a:ext cx="106792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KAFKA LISTENER (9092)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6F78EFE-19E8-A8E4-23D9-F484CE57CAA2}"/>
              </a:ext>
            </a:extLst>
          </p:cNvPr>
          <p:cNvSpPr/>
          <p:nvPr/>
        </p:nvSpPr>
        <p:spPr>
          <a:xfrm>
            <a:off x="6973308" y="676978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adwhale-kafka-init</a:t>
            </a:r>
            <a:endParaRPr kumimoji="1" lang="ko-KR" altLang="en-US" sz="1000" dirty="0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06A96793-953E-87CC-5622-4346EC8606F4}"/>
              </a:ext>
            </a:extLst>
          </p:cNvPr>
          <p:cNvCxnSpPr>
            <a:cxnSpLocks/>
          </p:cNvCxnSpPr>
          <p:nvPr/>
        </p:nvCxnSpPr>
        <p:spPr>
          <a:xfrm>
            <a:off x="7546937" y="1033659"/>
            <a:ext cx="0" cy="4037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746234C9-99FD-3127-4E34-EE22E777F2E9}"/>
              </a:ext>
            </a:extLst>
          </p:cNvPr>
          <p:cNvSpPr/>
          <p:nvPr/>
        </p:nvSpPr>
        <p:spPr>
          <a:xfrm>
            <a:off x="-2797233" y="727728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C1A2AB22-4726-CFB4-2995-1BF3C7401E98}"/>
              </a:ext>
            </a:extLst>
          </p:cNvPr>
          <p:cNvSpPr/>
          <p:nvPr/>
        </p:nvSpPr>
        <p:spPr>
          <a:xfrm>
            <a:off x="-2797233" y="1266093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D8034C41-4FB2-AC9C-B789-F4F119D58397}"/>
              </a:ext>
            </a:extLst>
          </p:cNvPr>
          <p:cNvSpPr/>
          <p:nvPr/>
        </p:nvSpPr>
        <p:spPr>
          <a:xfrm>
            <a:off x="-2797233" y="1738573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ADBA53BB-46CF-AF56-93CB-400D7CA758E9}"/>
              </a:ext>
            </a:extLst>
          </p:cNvPr>
          <p:cNvSpPr/>
          <p:nvPr/>
        </p:nvSpPr>
        <p:spPr>
          <a:xfrm>
            <a:off x="-2797233" y="3556617"/>
            <a:ext cx="233916" cy="25518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8255D3A9-B04A-4206-AAA7-EE7ECEAF421C}"/>
              </a:ext>
            </a:extLst>
          </p:cNvPr>
          <p:cNvCxnSpPr>
            <a:cxnSpLocks/>
            <a:stCxn id="54" idx="6"/>
            <a:endCxn id="8" idx="1"/>
          </p:cNvCxnSpPr>
          <p:nvPr/>
        </p:nvCxnSpPr>
        <p:spPr>
          <a:xfrm>
            <a:off x="-2563317" y="3684208"/>
            <a:ext cx="2001042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타원 55">
            <a:extLst>
              <a:ext uri="{FF2B5EF4-FFF2-40B4-BE49-F238E27FC236}">
                <a16:creationId xmlns:a16="http://schemas.microsoft.com/office/drawing/2014/main" id="{2DDBB63B-E53E-43D2-7087-30FEAD24A14A}"/>
              </a:ext>
            </a:extLst>
          </p:cNvPr>
          <p:cNvSpPr/>
          <p:nvPr/>
        </p:nvSpPr>
        <p:spPr>
          <a:xfrm>
            <a:off x="-2797233" y="6629263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A9A5B6E-5B4E-6DD3-FB91-50644E9BD93B}"/>
              </a:ext>
            </a:extLst>
          </p:cNvPr>
          <p:cNvSpPr/>
          <p:nvPr/>
        </p:nvSpPr>
        <p:spPr>
          <a:xfrm>
            <a:off x="-570498" y="4560161"/>
            <a:ext cx="71422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광고노출</a:t>
            </a: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230DD83E-DBA3-4077-A758-C3ACB08D1C86}"/>
              </a:ext>
            </a:extLst>
          </p:cNvPr>
          <p:cNvCxnSpPr>
            <a:cxnSpLocks/>
            <a:stCxn id="9" idx="2"/>
            <a:endCxn id="58" idx="0"/>
          </p:cNvCxnSpPr>
          <p:nvPr/>
        </p:nvCxnSpPr>
        <p:spPr>
          <a:xfrm>
            <a:off x="-213387" y="4390466"/>
            <a:ext cx="0" cy="16969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D28EBD2-7113-2396-6F34-CEE304006956}"/>
              </a:ext>
            </a:extLst>
          </p:cNvPr>
          <p:cNvSpPr/>
          <p:nvPr/>
        </p:nvSpPr>
        <p:spPr>
          <a:xfrm>
            <a:off x="-563852" y="5095182"/>
            <a:ext cx="71422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광고클릭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7745662C-6A40-56A8-ADD4-BC1DA1939380}"/>
              </a:ext>
            </a:extLst>
          </p:cNvPr>
          <p:cNvSpPr/>
          <p:nvPr/>
        </p:nvSpPr>
        <p:spPr>
          <a:xfrm>
            <a:off x="-2797233" y="5146136"/>
            <a:ext cx="233916" cy="25518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4EFE1446-496E-B834-1B01-10D9A5627E2A}"/>
              </a:ext>
            </a:extLst>
          </p:cNvPr>
          <p:cNvCxnSpPr>
            <a:cxnSpLocks/>
            <a:stCxn id="61" idx="6"/>
            <a:endCxn id="60" idx="1"/>
          </p:cNvCxnSpPr>
          <p:nvPr/>
        </p:nvCxnSpPr>
        <p:spPr>
          <a:xfrm flipV="1">
            <a:off x="-2563317" y="5273523"/>
            <a:ext cx="1999465" cy="20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BB9EDB4-664E-0544-1B6F-BBE324445F83}"/>
              </a:ext>
            </a:extLst>
          </p:cNvPr>
          <p:cNvSpPr txBox="1"/>
          <p:nvPr/>
        </p:nvSpPr>
        <p:spPr>
          <a:xfrm>
            <a:off x="-3718131" y="997413"/>
            <a:ext cx="20553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1.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Kafka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docker </a:t>
            </a:r>
            <a:r>
              <a:rPr kumimoji="1" lang="ko-KR" altLang="en-US" sz="1000" dirty="0">
                <a:solidFill>
                  <a:srgbClr val="0070C0"/>
                </a:solidFill>
              </a:rPr>
              <a:t>기동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9092)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EC70636-D7FE-D911-10C5-E3CF50F12A0A}"/>
              </a:ext>
            </a:extLst>
          </p:cNvPr>
          <p:cNvSpPr txBox="1"/>
          <p:nvPr/>
        </p:nvSpPr>
        <p:spPr>
          <a:xfrm>
            <a:off x="-3593898" y="1517080"/>
            <a:ext cx="18069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2.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ad-log-consumer </a:t>
            </a:r>
            <a:r>
              <a:rPr kumimoji="1" lang="ko-KR" altLang="en-US" sz="1000" dirty="0">
                <a:solidFill>
                  <a:srgbClr val="0070C0"/>
                </a:solidFill>
              </a:rPr>
              <a:t>앱 기동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C483F51-6884-2962-5282-63FDD96BEFEF}"/>
              </a:ext>
            </a:extLst>
          </p:cNvPr>
          <p:cNvSpPr txBox="1"/>
          <p:nvPr/>
        </p:nvSpPr>
        <p:spPr>
          <a:xfrm>
            <a:off x="-3679659" y="2011287"/>
            <a:ext cx="19784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3.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ad-</a:t>
            </a:r>
            <a:r>
              <a:rPr kumimoji="1" lang="en-US" altLang="ko-KR" sz="1000" dirty="0" err="1">
                <a:solidFill>
                  <a:srgbClr val="0070C0"/>
                </a:solidFill>
              </a:rPr>
              <a:t>api</a:t>
            </a:r>
            <a:r>
              <a:rPr kumimoji="1" lang="en-US" altLang="ko-KR" sz="1000" dirty="0">
                <a:solidFill>
                  <a:srgbClr val="0070C0"/>
                </a:solidFill>
              </a:rPr>
              <a:t> </a:t>
            </a:r>
            <a:r>
              <a:rPr kumimoji="1" lang="ko-KR" altLang="en-US" sz="1000" dirty="0">
                <a:solidFill>
                  <a:srgbClr val="0070C0"/>
                </a:solidFill>
              </a:rPr>
              <a:t>서버 기동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8081)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C93BB92-6AFE-5317-407E-EDE3E72D57E8}"/>
              </a:ext>
            </a:extLst>
          </p:cNvPr>
          <p:cNvSpPr txBox="1"/>
          <p:nvPr/>
        </p:nvSpPr>
        <p:spPr>
          <a:xfrm>
            <a:off x="-3262077" y="3823814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accent2"/>
                </a:solidFill>
              </a:rPr>
              <a:t>7.</a:t>
            </a:r>
            <a:r>
              <a:rPr kumimoji="1" lang="ko-KR" altLang="en-US" sz="1000" dirty="0">
                <a:solidFill>
                  <a:schemeClr val="accent2"/>
                </a:solidFill>
              </a:rPr>
              <a:t> 광고화면 진입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3395C6A-363F-9F85-C962-8FC7F217CD2A}"/>
              </a:ext>
            </a:extLst>
          </p:cNvPr>
          <p:cNvSpPr txBox="1"/>
          <p:nvPr/>
        </p:nvSpPr>
        <p:spPr>
          <a:xfrm>
            <a:off x="-3262077" y="5400771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accent2"/>
                </a:solidFill>
              </a:rPr>
              <a:t>8.</a:t>
            </a:r>
            <a:r>
              <a:rPr kumimoji="1" lang="ko-KR" altLang="en-US" sz="1000" dirty="0">
                <a:solidFill>
                  <a:schemeClr val="accent2"/>
                </a:solidFill>
              </a:rPr>
              <a:t> 광고화면 클릭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7B499C5-AA0C-6CBA-8276-D287FA086C8E}"/>
              </a:ext>
            </a:extLst>
          </p:cNvPr>
          <p:cNvSpPr txBox="1"/>
          <p:nvPr/>
        </p:nvSpPr>
        <p:spPr>
          <a:xfrm>
            <a:off x="-3597104" y="6889852"/>
            <a:ext cx="18133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6.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Kafka </a:t>
            </a:r>
            <a:r>
              <a:rPr kumimoji="1" lang="en-US" altLang="ko-KR" sz="1000" dirty="0" err="1">
                <a:solidFill>
                  <a:srgbClr val="0070C0"/>
                </a:solidFill>
              </a:rPr>
              <a:t>ui</a:t>
            </a:r>
            <a:r>
              <a:rPr kumimoji="1" lang="en-US" altLang="ko-KR" sz="1000" dirty="0">
                <a:solidFill>
                  <a:srgbClr val="0070C0"/>
                </a:solidFill>
              </a:rPr>
              <a:t> </a:t>
            </a:r>
            <a:r>
              <a:rPr kumimoji="1" lang="ko-KR" altLang="en-US" sz="1000" dirty="0">
                <a:solidFill>
                  <a:srgbClr val="0070C0"/>
                </a:solidFill>
              </a:rPr>
              <a:t>접속 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8989)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62A68D0-440F-4F55-F0AA-7CCF0E38EEC8}"/>
              </a:ext>
            </a:extLst>
          </p:cNvPr>
          <p:cNvSpPr/>
          <p:nvPr/>
        </p:nvSpPr>
        <p:spPr>
          <a:xfrm>
            <a:off x="7020965" y="-2894472"/>
            <a:ext cx="1128772" cy="6889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 err="1">
                <a:solidFill>
                  <a:sysClr val="windowText" lastClr="000000"/>
                </a:solidFill>
              </a:rPr>
              <a:t>Settings.gradle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70" name="꺾인 연결선[E] 69">
            <a:extLst>
              <a:ext uri="{FF2B5EF4-FFF2-40B4-BE49-F238E27FC236}">
                <a16:creationId xmlns:a16="http://schemas.microsoft.com/office/drawing/2014/main" id="{D79CE2C6-5778-2CE8-311F-7F0B4B3679F9}"/>
              </a:ext>
            </a:extLst>
          </p:cNvPr>
          <p:cNvCxnSpPr>
            <a:cxnSpLocks/>
            <a:stCxn id="69" idx="2"/>
            <a:endCxn id="18" idx="0"/>
          </p:cNvCxnSpPr>
          <p:nvPr/>
        </p:nvCxnSpPr>
        <p:spPr>
          <a:xfrm rot="5400000">
            <a:off x="5991770" y="-2762671"/>
            <a:ext cx="1036423" cy="2150740"/>
          </a:xfrm>
          <a:prstGeom prst="bentConnector3">
            <a:avLst>
              <a:gd name="adj1" fmla="val 26547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꺾인 연결선[E] 70">
            <a:extLst>
              <a:ext uri="{FF2B5EF4-FFF2-40B4-BE49-F238E27FC236}">
                <a16:creationId xmlns:a16="http://schemas.microsoft.com/office/drawing/2014/main" id="{938BBD18-C054-071B-EE75-F1796CE1637B}"/>
              </a:ext>
            </a:extLst>
          </p:cNvPr>
          <p:cNvCxnSpPr>
            <a:cxnSpLocks/>
            <a:stCxn id="69" idx="2"/>
            <a:endCxn id="33" idx="0"/>
          </p:cNvCxnSpPr>
          <p:nvPr/>
        </p:nvCxnSpPr>
        <p:spPr>
          <a:xfrm rot="16200000" flipH="1">
            <a:off x="8926409" y="-3546571"/>
            <a:ext cx="1036422" cy="3718539"/>
          </a:xfrm>
          <a:prstGeom prst="bentConnector3">
            <a:avLst>
              <a:gd name="adj1" fmla="val 26547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5A4B3C55-38ED-4F45-3009-71935EFDAFD9}"/>
              </a:ext>
            </a:extLst>
          </p:cNvPr>
          <p:cNvCxnSpPr>
            <a:cxnSpLocks/>
            <a:stCxn id="69" idx="3"/>
            <a:endCxn id="11" idx="1"/>
          </p:cNvCxnSpPr>
          <p:nvPr/>
        </p:nvCxnSpPr>
        <p:spPr>
          <a:xfrm>
            <a:off x="8149737" y="-2549992"/>
            <a:ext cx="291773" cy="581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꺾인 연결선[E] 72">
            <a:extLst>
              <a:ext uri="{FF2B5EF4-FFF2-40B4-BE49-F238E27FC236}">
                <a16:creationId xmlns:a16="http://schemas.microsoft.com/office/drawing/2014/main" id="{FB034287-C4AF-F784-04E0-6AA42DAD7B85}"/>
              </a:ext>
            </a:extLst>
          </p:cNvPr>
          <p:cNvCxnSpPr>
            <a:cxnSpLocks/>
            <a:stCxn id="102" idx="2"/>
            <a:endCxn id="15" idx="0"/>
          </p:cNvCxnSpPr>
          <p:nvPr/>
        </p:nvCxnSpPr>
        <p:spPr>
          <a:xfrm rot="16200000" flipH="1">
            <a:off x="5876519" y="-2905081"/>
            <a:ext cx="1032415" cy="2439566"/>
          </a:xfrm>
          <a:prstGeom prst="bentConnector3">
            <a:avLst>
              <a:gd name="adj1" fmla="val 64575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F1160AC-5B17-6D9B-B4D7-3BF57CCF0259}"/>
              </a:ext>
            </a:extLst>
          </p:cNvPr>
          <p:cNvSpPr/>
          <p:nvPr/>
        </p:nvSpPr>
        <p:spPr>
          <a:xfrm>
            <a:off x="9553904" y="6079640"/>
            <a:ext cx="1156624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KafkaErrorConfig</a:t>
            </a:r>
            <a:endParaRPr kumimoji="1" lang="en-US" altLang="ko-KR" sz="1000" dirty="0"/>
          </a:p>
          <a:p>
            <a:pPr algn="ctr"/>
            <a:r>
              <a:rPr kumimoji="1" lang="en-US" altLang="ko-KR" sz="1000" dirty="0"/>
              <a:t>(DLQ)</a:t>
            </a:r>
            <a:endParaRPr kumimoji="1" lang="ko-KR" altLang="en-US" sz="1000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DD7865A-2E12-9D94-E241-1C95B2CC3C6D}"/>
              </a:ext>
            </a:extLst>
          </p:cNvPr>
          <p:cNvSpPr/>
          <p:nvPr/>
        </p:nvSpPr>
        <p:spPr>
          <a:xfrm>
            <a:off x="12202432" y="6580834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*-{topic</a:t>
            </a:r>
            <a:r>
              <a:rPr kumimoji="1" lang="ko-KR" altLang="en-US" sz="1000" dirty="0"/>
              <a:t>명</a:t>
            </a:r>
            <a:r>
              <a:rPr kumimoji="1" lang="en-US" altLang="ko-KR" sz="1000" dirty="0"/>
              <a:t>}.log</a:t>
            </a:r>
            <a:endParaRPr kumimoji="1" lang="ko-KR" altLang="en-US" sz="1000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6B8A3BA-AFDF-DF3E-6756-24A56EC411D0}"/>
              </a:ext>
            </a:extLst>
          </p:cNvPr>
          <p:cNvSpPr/>
          <p:nvPr/>
        </p:nvSpPr>
        <p:spPr>
          <a:xfrm>
            <a:off x="6979754" y="6079639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ad-request-dlq-0/*.log</a:t>
            </a:r>
            <a:endParaRPr kumimoji="1" lang="ko-KR" altLang="en-US" sz="1000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0899F72-BE47-1BC9-F0B2-4057B00CF018}"/>
              </a:ext>
            </a:extLst>
          </p:cNvPr>
          <p:cNvSpPr/>
          <p:nvPr/>
        </p:nvSpPr>
        <p:spPr>
          <a:xfrm>
            <a:off x="6979754" y="5584268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ad-request-0/*.log</a:t>
            </a:r>
            <a:endParaRPr kumimoji="1" lang="ko-KR" altLang="en-US" sz="1000" dirty="0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CCDC1DF3-0743-CC4E-A5FC-3CBCCC663E03}"/>
              </a:ext>
            </a:extLst>
          </p:cNvPr>
          <p:cNvCxnSpPr>
            <a:cxnSpLocks/>
            <a:stCxn id="16" idx="2"/>
            <a:endCxn id="78" idx="0"/>
          </p:cNvCxnSpPr>
          <p:nvPr/>
        </p:nvCxnSpPr>
        <p:spPr>
          <a:xfrm>
            <a:off x="7628200" y="5427678"/>
            <a:ext cx="0" cy="156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0" name="꺾인 연결선[E] 79">
            <a:extLst>
              <a:ext uri="{FF2B5EF4-FFF2-40B4-BE49-F238E27FC236}">
                <a16:creationId xmlns:a16="http://schemas.microsoft.com/office/drawing/2014/main" id="{01C66D34-B6BE-EEDF-377C-AF177762B6AE}"/>
              </a:ext>
            </a:extLst>
          </p:cNvPr>
          <p:cNvCxnSpPr>
            <a:cxnSpLocks/>
            <a:stCxn id="75" idx="3"/>
            <a:endCxn id="16" idx="0"/>
          </p:cNvCxnSpPr>
          <p:nvPr/>
        </p:nvCxnSpPr>
        <p:spPr>
          <a:xfrm flipH="1" flipV="1">
            <a:off x="7628200" y="5070997"/>
            <a:ext cx="3082328" cy="1186984"/>
          </a:xfrm>
          <a:prstGeom prst="bentConnector4">
            <a:avLst>
              <a:gd name="adj1" fmla="val -7416"/>
              <a:gd name="adj2" fmla="val 134331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1" name="꺾인 연결선[E] 80">
            <a:extLst>
              <a:ext uri="{FF2B5EF4-FFF2-40B4-BE49-F238E27FC236}">
                <a16:creationId xmlns:a16="http://schemas.microsoft.com/office/drawing/2014/main" id="{D4C1E9E6-77DC-A781-1D6C-2C39955A809E}"/>
              </a:ext>
            </a:extLst>
          </p:cNvPr>
          <p:cNvCxnSpPr>
            <a:cxnSpLocks/>
          </p:cNvCxnSpPr>
          <p:nvPr/>
        </p:nvCxnSpPr>
        <p:spPr>
          <a:xfrm>
            <a:off x="8276646" y="5299216"/>
            <a:ext cx="12700" cy="1008642"/>
          </a:xfrm>
          <a:prstGeom prst="bentConnector3">
            <a:avLst>
              <a:gd name="adj1" fmla="val 883638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2" name="꺾인 연결선[E] 81">
            <a:extLst>
              <a:ext uri="{FF2B5EF4-FFF2-40B4-BE49-F238E27FC236}">
                <a16:creationId xmlns:a16="http://schemas.microsoft.com/office/drawing/2014/main" id="{07156156-5340-A2D1-E27C-07DC97FE80AE}"/>
              </a:ext>
            </a:extLst>
          </p:cNvPr>
          <p:cNvCxnSpPr>
            <a:cxnSpLocks/>
          </p:cNvCxnSpPr>
          <p:nvPr/>
        </p:nvCxnSpPr>
        <p:spPr>
          <a:xfrm>
            <a:off x="8276646" y="6307858"/>
            <a:ext cx="12700" cy="498875"/>
          </a:xfrm>
          <a:prstGeom prst="bentConnector3">
            <a:avLst>
              <a:gd name="adj1" fmla="val 883638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3" name="꺾인 연결선[E] 82">
            <a:extLst>
              <a:ext uri="{FF2B5EF4-FFF2-40B4-BE49-F238E27FC236}">
                <a16:creationId xmlns:a16="http://schemas.microsoft.com/office/drawing/2014/main" id="{FBFA98DB-A8BC-269A-2604-851BCEECFAA4}"/>
              </a:ext>
            </a:extLst>
          </p:cNvPr>
          <p:cNvCxnSpPr>
            <a:cxnSpLocks/>
            <a:stCxn id="78" idx="1"/>
            <a:endCxn id="17" idx="0"/>
          </p:cNvCxnSpPr>
          <p:nvPr/>
        </p:nvCxnSpPr>
        <p:spPr>
          <a:xfrm rot="10800000" flipH="1" flipV="1">
            <a:off x="6979754" y="5762608"/>
            <a:ext cx="648446" cy="815905"/>
          </a:xfrm>
          <a:prstGeom prst="bentConnector4">
            <a:avLst>
              <a:gd name="adj1" fmla="val -14743"/>
              <a:gd name="adj2" fmla="val 87419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4" name="꺾인 연결선[E] 83">
            <a:extLst>
              <a:ext uri="{FF2B5EF4-FFF2-40B4-BE49-F238E27FC236}">
                <a16:creationId xmlns:a16="http://schemas.microsoft.com/office/drawing/2014/main" id="{15876EBF-D425-C384-8690-7FD7D7BBA1A2}"/>
              </a:ext>
            </a:extLst>
          </p:cNvPr>
          <p:cNvCxnSpPr>
            <a:cxnSpLocks/>
            <a:stCxn id="35" idx="1"/>
            <a:endCxn id="38" idx="1"/>
          </p:cNvCxnSpPr>
          <p:nvPr/>
        </p:nvCxnSpPr>
        <p:spPr>
          <a:xfrm rot="10800000" flipV="1">
            <a:off x="9551984" y="5762609"/>
            <a:ext cx="12700" cy="99424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B1D9C4E-3005-501C-D2AF-004FBD31B0A6}"/>
              </a:ext>
            </a:extLst>
          </p:cNvPr>
          <p:cNvSpPr/>
          <p:nvPr/>
        </p:nvSpPr>
        <p:spPr>
          <a:xfrm>
            <a:off x="6973308" y="5569686"/>
            <a:ext cx="832327" cy="86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500" b="1" dirty="0"/>
              <a:t>디폴트 보관기간</a:t>
            </a:r>
            <a:r>
              <a:rPr kumimoji="1" lang="en-US" altLang="ko-KR" sz="500" b="1" dirty="0"/>
              <a:t>:</a:t>
            </a:r>
            <a:r>
              <a:rPr kumimoji="1" lang="ko-KR" altLang="en-US" sz="500" b="1" dirty="0"/>
              <a:t> </a:t>
            </a:r>
            <a:r>
              <a:rPr kumimoji="1" lang="en-US" altLang="ko-KR" sz="500" b="1" dirty="0"/>
              <a:t>7</a:t>
            </a:r>
            <a:r>
              <a:rPr kumimoji="1" lang="ko-KR" altLang="en-US" sz="500" b="1" dirty="0"/>
              <a:t>일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EF449FDA-C811-6DCC-125E-5C01F54FEED2}"/>
              </a:ext>
            </a:extLst>
          </p:cNvPr>
          <p:cNvSpPr/>
          <p:nvPr/>
        </p:nvSpPr>
        <p:spPr>
          <a:xfrm>
            <a:off x="6973308" y="6062481"/>
            <a:ext cx="832327" cy="8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500" b="1" dirty="0"/>
              <a:t>디폴트 보관기간</a:t>
            </a:r>
            <a:r>
              <a:rPr kumimoji="1" lang="en-US" altLang="ko-KR" sz="500" b="1" dirty="0"/>
              <a:t>:</a:t>
            </a:r>
            <a:r>
              <a:rPr kumimoji="1" lang="ko-KR" altLang="en-US" sz="500" b="1" dirty="0"/>
              <a:t> </a:t>
            </a:r>
            <a:r>
              <a:rPr kumimoji="1" lang="en-US" altLang="ko-KR" sz="500" b="1" dirty="0"/>
              <a:t>7</a:t>
            </a:r>
            <a:r>
              <a:rPr kumimoji="1" lang="ko-KR" altLang="en-US" sz="500" b="1" dirty="0"/>
              <a:t>일</a:t>
            </a:r>
          </a:p>
        </p:txBody>
      </p:sp>
      <p:sp>
        <p:nvSpPr>
          <p:cNvPr id="88" name="번개[L] 87">
            <a:extLst>
              <a:ext uri="{FF2B5EF4-FFF2-40B4-BE49-F238E27FC236}">
                <a16:creationId xmlns:a16="http://schemas.microsoft.com/office/drawing/2014/main" id="{AF4D00CE-1C1F-9710-7B0C-5C8293E13337}"/>
              </a:ext>
            </a:extLst>
          </p:cNvPr>
          <p:cNvSpPr/>
          <p:nvPr/>
        </p:nvSpPr>
        <p:spPr>
          <a:xfrm>
            <a:off x="6670273" y="308605"/>
            <a:ext cx="442543" cy="390649"/>
          </a:xfrm>
          <a:prstGeom prst="lightningBol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9" name="번개[L] 88">
            <a:extLst>
              <a:ext uri="{FF2B5EF4-FFF2-40B4-BE49-F238E27FC236}">
                <a16:creationId xmlns:a16="http://schemas.microsoft.com/office/drawing/2014/main" id="{AF722351-CCBC-3F26-9D9E-36F774DDA2E0}"/>
              </a:ext>
            </a:extLst>
          </p:cNvPr>
          <p:cNvSpPr/>
          <p:nvPr/>
        </p:nvSpPr>
        <p:spPr>
          <a:xfrm>
            <a:off x="8867957" y="910711"/>
            <a:ext cx="442543" cy="390649"/>
          </a:xfrm>
          <a:prstGeom prst="lightningBol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0" name="모서리가 둥근 사각형 설명선[R] 89">
            <a:extLst>
              <a:ext uri="{FF2B5EF4-FFF2-40B4-BE49-F238E27FC236}">
                <a16:creationId xmlns:a16="http://schemas.microsoft.com/office/drawing/2014/main" id="{C76D5743-2F0C-3DD5-149F-C9C36755D9C6}"/>
              </a:ext>
            </a:extLst>
          </p:cNvPr>
          <p:cNvSpPr/>
          <p:nvPr/>
        </p:nvSpPr>
        <p:spPr>
          <a:xfrm>
            <a:off x="6215286" y="4863457"/>
            <a:ext cx="631082" cy="161654"/>
          </a:xfrm>
          <a:prstGeom prst="wedgeRoundRectCallout">
            <a:avLst>
              <a:gd name="adj1" fmla="val -12484"/>
              <a:gd name="adj2" fmla="val 98496"/>
              <a:gd name="adj3" fmla="val 16667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600" dirty="0" err="1">
                <a:solidFill>
                  <a:schemeClr val="tx1"/>
                </a:solidFill>
              </a:rPr>
              <a:t>버퍼큐사용</a:t>
            </a:r>
            <a:endParaRPr kumimoji="1"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91" name="모서리가 둥근 사각형 설명선[R] 90">
            <a:extLst>
              <a:ext uri="{FF2B5EF4-FFF2-40B4-BE49-F238E27FC236}">
                <a16:creationId xmlns:a16="http://schemas.microsoft.com/office/drawing/2014/main" id="{C0016F83-0886-D297-D06A-A2928012FDA7}"/>
              </a:ext>
            </a:extLst>
          </p:cNvPr>
          <p:cNvSpPr/>
          <p:nvPr/>
        </p:nvSpPr>
        <p:spPr>
          <a:xfrm>
            <a:off x="8606574" y="4814959"/>
            <a:ext cx="631082" cy="161654"/>
          </a:xfrm>
          <a:prstGeom prst="wedgeRoundRectCallout">
            <a:avLst>
              <a:gd name="adj1" fmla="val -12484"/>
              <a:gd name="adj2" fmla="val 98496"/>
              <a:gd name="adj3" fmla="val 16667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>
                <a:solidFill>
                  <a:schemeClr val="tx1"/>
                </a:solidFill>
              </a:rPr>
              <a:t>polling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82E6A6D-7EB6-6FDB-0A91-0354C676AD66}"/>
              </a:ext>
            </a:extLst>
          </p:cNvPr>
          <p:cNvSpPr/>
          <p:nvPr/>
        </p:nvSpPr>
        <p:spPr>
          <a:xfrm>
            <a:off x="4422757" y="5777579"/>
            <a:ext cx="2023708" cy="3388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(n</a:t>
            </a:r>
            <a:r>
              <a:rPr kumimoji="1" lang="ko-KR" altLang="en-US" sz="1000" dirty="0">
                <a:solidFill>
                  <a:sysClr val="windowText" lastClr="000000"/>
                </a:solidFill>
              </a:rPr>
              <a:t>대 구성 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Port:8082)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35FD14EC-7E70-22DF-F130-C85AA9158384}"/>
              </a:ext>
            </a:extLst>
          </p:cNvPr>
          <p:cNvSpPr/>
          <p:nvPr/>
        </p:nvSpPr>
        <p:spPr>
          <a:xfrm>
            <a:off x="4422757" y="6226508"/>
            <a:ext cx="2023708" cy="3388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(n</a:t>
            </a:r>
            <a:r>
              <a:rPr kumimoji="1" lang="ko-KR" altLang="en-US" sz="1000" dirty="0">
                <a:solidFill>
                  <a:sysClr val="windowText" lastClr="000000"/>
                </a:solidFill>
              </a:rPr>
              <a:t>대 구성 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Port:8083)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0C60C0F-E465-3DBD-E8A2-ACC64496B267}"/>
              </a:ext>
            </a:extLst>
          </p:cNvPr>
          <p:cNvSpPr txBox="1"/>
          <p:nvPr/>
        </p:nvSpPr>
        <p:spPr>
          <a:xfrm>
            <a:off x="5306531" y="6497896"/>
            <a:ext cx="2135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/>
              <a:t>.</a:t>
            </a:r>
          </a:p>
          <a:p>
            <a:r>
              <a:rPr kumimoji="1" lang="en-US" altLang="ko-KR" sz="1000" dirty="0"/>
              <a:t>.</a:t>
            </a:r>
          </a:p>
          <a:p>
            <a:r>
              <a:rPr kumimoji="1" lang="en-US" altLang="ko-KR" sz="1000" dirty="0"/>
              <a:t>.</a:t>
            </a:r>
          </a:p>
        </p:txBody>
      </p:sp>
      <p:sp>
        <p:nvSpPr>
          <p:cNvPr id="99" name="모서리가 둥근 사각형 설명선[R] 98">
            <a:extLst>
              <a:ext uri="{FF2B5EF4-FFF2-40B4-BE49-F238E27FC236}">
                <a16:creationId xmlns:a16="http://schemas.microsoft.com/office/drawing/2014/main" id="{EF81A701-C680-6A16-EC93-A112F607D241}"/>
              </a:ext>
            </a:extLst>
          </p:cNvPr>
          <p:cNvSpPr/>
          <p:nvPr/>
        </p:nvSpPr>
        <p:spPr>
          <a:xfrm>
            <a:off x="10804538" y="165659"/>
            <a:ext cx="2694786" cy="597115"/>
          </a:xfrm>
          <a:prstGeom prst="wedgeRoundRectCallout">
            <a:avLst>
              <a:gd name="adj1" fmla="val -21596"/>
              <a:gd name="adj2" fmla="val 139301"/>
              <a:gd name="adj3" fmla="val 16667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ad-log-consumer </a:t>
            </a:r>
            <a:r>
              <a:rPr kumimoji="1" lang="ko-KR" altLang="en-US" sz="600" dirty="0">
                <a:solidFill>
                  <a:srgbClr val="FF0000"/>
                </a:solidFill>
              </a:rPr>
              <a:t>장애대응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v1/ad/request : 200(</a:t>
            </a:r>
            <a:r>
              <a:rPr kumimoji="1" lang="ko-KR" altLang="en-US" sz="600" dirty="0">
                <a:solidFill>
                  <a:srgbClr val="FF0000"/>
                </a:solidFill>
              </a:rPr>
              <a:t>비동기처리</a:t>
            </a:r>
            <a:r>
              <a:rPr kumimoji="1" lang="en-US" altLang="ko-KR" sz="600" dirty="0">
                <a:solidFill>
                  <a:srgbClr val="FF0000"/>
                </a:solidFill>
              </a:rPr>
              <a:t>)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v1/ad/impression, click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503(</a:t>
            </a:r>
            <a:r>
              <a:rPr kumimoji="1" lang="ko-KR" altLang="en-US" sz="600" dirty="0">
                <a:solidFill>
                  <a:srgbClr val="FF0000"/>
                </a:solidFill>
              </a:rPr>
              <a:t>동기처리</a:t>
            </a:r>
            <a:r>
              <a:rPr kumimoji="1" lang="en-US" altLang="ko-KR" sz="600" dirty="0">
                <a:solidFill>
                  <a:srgbClr val="FF0000"/>
                </a:solidFill>
              </a:rPr>
              <a:t>).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eventId</a:t>
            </a:r>
            <a:r>
              <a:rPr kumimoji="1" lang="ko-KR" altLang="en-US" sz="600" dirty="0">
                <a:solidFill>
                  <a:srgbClr val="FF0000"/>
                </a:solidFill>
              </a:rPr>
              <a:t>로 중복처리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1)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Docker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kafka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에</a:t>
            </a:r>
            <a:r>
              <a:rPr kumimoji="1" lang="ko-KR" altLang="en-US" sz="600" dirty="0">
                <a:solidFill>
                  <a:srgbClr val="FF0000"/>
                </a:solidFill>
              </a:rPr>
              <a:t> 메시지 쌓이고 </a:t>
            </a:r>
            <a:r>
              <a:rPr kumimoji="1" lang="en-US" altLang="ko-KR" sz="600" dirty="0">
                <a:solidFill>
                  <a:srgbClr val="FF0000"/>
                </a:solidFill>
              </a:rPr>
              <a:t>&gt;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ad-log-consumer </a:t>
            </a:r>
            <a:r>
              <a:rPr kumimoji="1" lang="ko-KR" altLang="en-US" sz="600" dirty="0">
                <a:solidFill>
                  <a:srgbClr val="FF0000"/>
                </a:solidFill>
              </a:rPr>
              <a:t>가 켜지면 마지막 기록된 </a:t>
            </a:r>
            <a:r>
              <a:rPr kumimoji="1" lang="en-US" altLang="ko-KR" sz="600" dirty="0">
                <a:solidFill>
                  <a:srgbClr val="FF0000"/>
                </a:solidFill>
              </a:rPr>
              <a:t>offset 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부터</a:t>
            </a:r>
            <a:r>
              <a:rPr kumimoji="1" lang="ko-KR" altLang="en-US" sz="600" dirty="0">
                <a:solidFill>
                  <a:srgbClr val="FF0000"/>
                </a:solidFill>
              </a:rPr>
              <a:t> 밀린 메시지를 전부 처리</a:t>
            </a:r>
            <a:endParaRPr kumimoji="1" lang="en-US" altLang="ko-KR" sz="600" dirty="0">
              <a:solidFill>
                <a:srgbClr val="FF0000"/>
              </a:solidFill>
            </a:endParaRPr>
          </a:p>
        </p:txBody>
      </p:sp>
      <p:sp>
        <p:nvSpPr>
          <p:cNvPr id="100" name="모서리가 둥근 사각형 설명선[R] 99">
            <a:extLst>
              <a:ext uri="{FF2B5EF4-FFF2-40B4-BE49-F238E27FC236}">
                <a16:creationId xmlns:a16="http://schemas.microsoft.com/office/drawing/2014/main" id="{4531D406-B1AE-E12D-FBDA-634D0A373A16}"/>
              </a:ext>
            </a:extLst>
          </p:cNvPr>
          <p:cNvSpPr/>
          <p:nvPr/>
        </p:nvSpPr>
        <p:spPr>
          <a:xfrm>
            <a:off x="7112816" y="-103725"/>
            <a:ext cx="3408571" cy="708170"/>
          </a:xfrm>
          <a:prstGeom prst="wedgeRoundRectCallout">
            <a:avLst>
              <a:gd name="adj1" fmla="val -38134"/>
              <a:gd name="adj2" fmla="val 61200"/>
              <a:gd name="adj3" fmla="val 16667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Docker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kafka</a:t>
            </a:r>
            <a:r>
              <a:rPr kumimoji="1" lang="en-US" altLang="ko-KR" sz="600" dirty="0">
                <a:solidFill>
                  <a:srgbClr val="FF0000"/>
                </a:solidFill>
              </a:rPr>
              <a:t> </a:t>
            </a:r>
            <a:r>
              <a:rPr kumimoji="1" lang="ko-KR" altLang="en-US" sz="600" dirty="0">
                <a:solidFill>
                  <a:srgbClr val="FF0000"/>
                </a:solidFill>
              </a:rPr>
              <a:t>장애대응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v1/ad/request : 200(</a:t>
            </a:r>
            <a:r>
              <a:rPr kumimoji="1" lang="ko-KR" altLang="en-US" sz="600" dirty="0">
                <a:solidFill>
                  <a:srgbClr val="FF0000"/>
                </a:solidFill>
              </a:rPr>
              <a:t>비동기처리</a:t>
            </a:r>
            <a:r>
              <a:rPr kumimoji="1" lang="en-US" altLang="ko-KR" sz="600" dirty="0">
                <a:solidFill>
                  <a:srgbClr val="FF0000"/>
                </a:solidFill>
              </a:rPr>
              <a:t>)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v1/ad/impression, click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503(</a:t>
            </a:r>
            <a:r>
              <a:rPr kumimoji="1" lang="ko-KR" altLang="en-US" sz="600" dirty="0">
                <a:solidFill>
                  <a:srgbClr val="FF0000"/>
                </a:solidFill>
              </a:rPr>
              <a:t>동기처리</a:t>
            </a:r>
            <a:r>
              <a:rPr kumimoji="1" lang="en-US" altLang="ko-KR" sz="600" dirty="0">
                <a:solidFill>
                  <a:srgbClr val="FF0000"/>
                </a:solidFill>
              </a:rPr>
              <a:t>).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eventId</a:t>
            </a:r>
            <a:r>
              <a:rPr kumimoji="1" lang="ko-KR" altLang="en-US" sz="600" dirty="0">
                <a:solidFill>
                  <a:srgbClr val="FF0000"/>
                </a:solidFill>
              </a:rPr>
              <a:t>로 중복처리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Kafka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여러대</a:t>
            </a:r>
            <a:r>
              <a:rPr kumimoji="1" lang="ko-KR" altLang="en-US" sz="600" dirty="0">
                <a:solidFill>
                  <a:srgbClr val="FF0000"/>
                </a:solidFill>
              </a:rPr>
              <a:t> 두기</a:t>
            </a:r>
            <a:r>
              <a:rPr kumimoji="1" lang="en-US" altLang="ko-KR" sz="600" dirty="0">
                <a:solidFill>
                  <a:srgbClr val="FF0000"/>
                </a:solidFill>
              </a:rPr>
              <a:t>(</a:t>
            </a:r>
            <a:r>
              <a:rPr kumimoji="1" lang="ko-KR" altLang="en-US" sz="600" dirty="0">
                <a:solidFill>
                  <a:srgbClr val="FF0000"/>
                </a:solidFill>
              </a:rPr>
              <a:t>추후예정</a:t>
            </a:r>
            <a:r>
              <a:rPr kumimoji="1" lang="en-US" altLang="ko-KR" sz="600" dirty="0">
                <a:solidFill>
                  <a:srgbClr val="FF0000"/>
                </a:solidFill>
              </a:rPr>
              <a:t>)</a:t>
            </a:r>
          </a:p>
          <a:p>
            <a:pPr algn="ctr"/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1)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ad-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api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에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kafka</a:t>
            </a:r>
            <a:r>
              <a:rPr kumimoji="1" lang="ko-KR" altLang="en-US" sz="600" dirty="0">
                <a:solidFill>
                  <a:srgbClr val="FF0000"/>
                </a:solidFill>
              </a:rPr>
              <a:t>가 붙어있는 상태에서 잠깐 죽는 경우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2</a:t>
            </a:r>
            <a:r>
              <a:rPr kumimoji="1" lang="ko-KR" altLang="en-US" sz="600" dirty="0">
                <a:solidFill>
                  <a:srgbClr val="FF0000"/>
                </a:solidFill>
              </a:rPr>
              <a:t>분 안에 돌아오면 유실</a:t>
            </a:r>
            <a:r>
              <a:rPr kumimoji="1" lang="en-US" altLang="ko-KR" sz="600" dirty="0">
                <a:solidFill>
                  <a:srgbClr val="FF0000"/>
                </a:solidFill>
              </a:rPr>
              <a:t>x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2) Kafka</a:t>
            </a:r>
            <a:r>
              <a:rPr kumimoji="1" lang="ko-KR" altLang="en-US" sz="600" dirty="0">
                <a:solidFill>
                  <a:srgbClr val="FF0000"/>
                </a:solidFill>
              </a:rPr>
              <a:t>가 죽은 상태에서 </a:t>
            </a:r>
            <a:r>
              <a:rPr kumimoji="1" lang="en-US" altLang="ko-KR" sz="600" dirty="0">
                <a:solidFill>
                  <a:srgbClr val="FF0000"/>
                </a:solidFill>
              </a:rPr>
              <a:t>ad-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api</a:t>
            </a:r>
            <a:r>
              <a:rPr kumimoji="1" lang="ko-KR" altLang="en-US" sz="600" dirty="0">
                <a:solidFill>
                  <a:srgbClr val="FF0000"/>
                </a:solidFill>
              </a:rPr>
              <a:t> 켠 경우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max.block.ms</a:t>
            </a:r>
            <a:r>
              <a:rPr kumimoji="1" lang="ko-KR" altLang="en-US" sz="600" dirty="0">
                <a:solidFill>
                  <a:srgbClr val="FF0000"/>
                </a:solidFill>
              </a:rPr>
              <a:t>설정 </a:t>
            </a:r>
            <a:r>
              <a:rPr kumimoji="1" lang="en-US" altLang="ko-KR" sz="600" dirty="0">
                <a:solidFill>
                  <a:srgbClr val="FF0000"/>
                </a:solidFill>
              </a:rPr>
              <a:t>3</a:t>
            </a:r>
            <a:r>
              <a:rPr kumimoji="1" lang="ko-KR" altLang="en-US" sz="600" dirty="0">
                <a:solidFill>
                  <a:srgbClr val="FF0000"/>
                </a:solidFill>
              </a:rPr>
              <a:t>초씩 느려지고 이벤트 유실됨</a:t>
            </a:r>
            <a:r>
              <a:rPr kumimoji="1" lang="en-US" altLang="ko-KR" sz="600" dirty="0">
                <a:solidFill>
                  <a:srgbClr val="FF0000"/>
                </a:solidFill>
              </a:rPr>
              <a:t>.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endParaRPr kumimoji="1" lang="en-US" altLang="ko-KR" sz="600" dirty="0">
              <a:solidFill>
                <a:srgbClr val="FF0000"/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48FFFB05-1658-D908-8F41-D4B413B36960}"/>
              </a:ext>
            </a:extLst>
          </p:cNvPr>
          <p:cNvSpPr/>
          <p:nvPr/>
        </p:nvSpPr>
        <p:spPr>
          <a:xfrm>
            <a:off x="4422757" y="-2894474"/>
            <a:ext cx="149425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Nginx/ad-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api.conf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1631DDF3-F030-81BC-1617-F9001F91C7DB}"/>
              </a:ext>
            </a:extLst>
          </p:cNvPr>
          <p:cNvSpPr/>
          <p:nvPr/>
        </p:nvSpPr>
        <p:spPr>
          <a:xfrm>
            <a:off x="4425815" y="-2489505"/>
            <a:ext cx="149425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Docker-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compose.yml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EACAB342-B379-7B40-267B-5B8865B523D2}"/>
              </a:ext>
            </a:extLst>
          </p:cNvPr>
          <p:cNvSpPr/>
          <p:nvPr/>
        </p:nvSpPr>
        <p:spPr>
          <a:xfrm>
            <a:off x="1691288" y="-1170126"/>
            <a:ext cx="1732582" cy="86010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docker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A2C8CF63-A238-9995-DB04-19B4AB0926D1}"/>
              </a:ext>
            </a:extLst>
          </p:cNvPr>
          <p:cNvSpPr/>
          <p:nvPr/>
        </p:nvSpPr>
        <p:spPr>
          <a:xfrm>
            <a:off x="1924937" y="3502669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adwhale-lb</a:t>
            </a:r>
            <a:r>
              <a:rPr kumimoji="1" lang="en-US" altLang="ko-KR" sz="1000" dirty="0"/>
              <a:t>(nginx)</a:t>
            </a:r>
            <a:endParaRPr kumimoji="1" lang="ko-KR" altLang="en-US" sz="10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D010F05-55E8-A407-A240-9336C3832B9A}"/>
              </a:ext>
            </a:extLst>
          </p:cNvPr>
          <p:cNvCxnSpPr>
            <a:cxnSpLocks/>
            <a:stCxn id="21" idx="1"/>
            <a:endCxn id="9" idx="3"/>
          </p:cNvCxnSpPr>
          <p:nvPr/>
        </p:nvCxnSpPr>
        <p:spPr>
          <a:xfrm flipH="1">
            <a:off x="143724" y="4212126"/>
            <a:ext cx="46718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B16FBEC-CF4B-F633-6F1A-AB5AC864E809}"/>
              </a:ext>
            </a:extLst>
          </p:cNvPr>
          <p:cNvSpPr txBox="1"/>
          <p:nvPr/>
        </p:nvSpPr>
        <p:spPr>
          <a:xfrm>
            <a:off x="136963" y="3479479"/>
            <a:ext cx="179247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[POST] Http://localhost:8080/v1/ad/request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B3F69B4-53A4-6374-474F-D852BB1E2222}"/>
              </a:ext>
            </a:extLst>
          </p:cNvPr>
          <p:cNvCxnSpPr>
            <a:cxnSpLocks/>
            <a:stCxn id="48" idx="6"/>
            <a:endCxn id="46" idx="1"/>
          </p:cNvCxnSpPr>
          <p:nvPr/>
        </p:nvCxnSpPr>
        <p:spPr>
          <a:xfrm>
            <a:off x="-2563317" y="855319"/>
            <a:ext cx="953662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E2185943-D463-44EB-859F-ED5056579AC0}"/>
              </a:ext>
            </a:extLst>
          </p:cNvPr>
          <p:cNvCxnSpPr>
            <a:cxnSpLocks/>
            <a:stCxn id="49" idx="6"/>
            <a:endCxn id="36" idx="1"/>
          </p:cNvCxnSpPr>
          <p:nvPr/>
        </p:nvCxnSpPr>
        <p:spPr>
          <a:xfrm>
            <a:off x="-2563317" y="1393684"/>
            <a:ext cx="11906583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7D31F751-68A4-05CA-EC57-4D5E028EBEB7}"/>
              </a:ext>
            </a:extLst>
          </p:cNvPr>
          <p:cNvCxnSpPr>
            <a:cxnSpLocks/>
            <a:stCxn id="50" idx="6"/>
            <a:endCxn id="23" idx="1"/>
          </p:cNvCxnSpPr>
          <p:nvPr/>
        </p:nvCxnSpPr>
        <p:spPr>
          <a:xfrm>
            <a:off x="-2563317" y="1866164"/>
            <a:ext cx="7378925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7380AC2B-0ACE-89FD-4D1F-32D7D799B25A}"/>
              </a:ext>
            </a:extLst>
          </p:cNvPr>
          <p:cNvSpPr txBox="1"/>
          <p:nvPr/>
        </p:nvSpPr>
        <p:spPr>
          <a:xfrm>
            <a:off x="2173887" y="4228407"/>
            <a:ext cx="7457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requestId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adId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placementUid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creativeUrl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landingUrl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88CA1B74-9136-5BD0-2D2B-717FECFDD257}"/>
              </a:ext>
            </a:extLst>
          </p:cNvPr>
          <p:cNvCxnSpPr>
            <a:cxnSpLocks/>
            <a:stCxn id="8" idx="3"/>
            <a:endCxn id="127" idx="1"/>
          </p:cNvCxnSpPr>
          <p:nvPr/>
        </p:nvCxnSpPr>
        <p:spPr>
          <a:xfrm flipV="1">
            <a:off x="151947" y="3681010"/>
            <a:ext cx="1772990" cy="3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5ABD8C5B-34FB-0F54-5C17-95DE991AC7A9}"/>
              </a:ext>
            </a:extLst>
          </p:cNvPr>
          <p:cNvCxnSpPr>
            <a:cxnSpLocks/>
            <a:stCxn id="127" idx="3"/>
            <a:endCxn id="20" idx="1"/>
          </p:cNvCxnSpPr>
          <p:nvPr/>
        </p:nvCxnSpPr>
        <p:spPr>
          <a:xfrm>
            <a:off x="3221829" y="3681010"/>
            <a:ext cx="1593779" cy="473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꺾인 연결선[E] 102">
            <a:extLst>
              <a:ext uri="{FF2B5EF4-FFF2-40B4-BE49-F238E27FC236}">
                <a16:creationId xmlns:a16="http://schemas.microsoft.com/office/drawing/2014/main" id="{3122DD47-C9B9-4CEB-A480-DAB31EA7A185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21829" y="-2819924"/>
            <a:ext cx="1200928" cy="6431484"/>
          </a:xfrm>
          <a:prstGeom prst="bentConnector3">
            <a:avLst>
              <a:gd name="adj1" fmla="val 73131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번개[L] 86">
            <a:extLst>
              <a:ext uri="{FF2B5EF4-FFF2-40B4-BE49-F238E27FC236}">
                <a16:creationId xmlns:a16="http://schemas.microsoft.com/office/drawing/2014/main" id="{D3BA1219-A13D-20C2-C17E-5E7AFB18C882}"/>
              </a:ext>
            </a:extLst>
          </p:cNvPr>
          <p:cNvSpPr/>
          <p:nvPr/>
        </p:nvSpPr>
        <p:spPr>
          <a:xfrm>
            <a:off x="1842093" y="3204328"/>
            <a:ext cx="442543" cy="390649"/>
          </a:xfrm>
          <a:prstGeom prst="lightningBol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8" name="모서리가 둥근 사각형 설명선[R] 97">
            <a:extLst>
              <a:ext uri="{FF2B5EF4-FFF2-40B4-BE49-F238E27FC236}">
                <a16:creationId xmlns:a16="http://schemas.microsoft.com/office/drawing/2014/main" id="{A9D3E13D-0D99-6F3E-4061-EC3585D6E361}"/>
              </a:ext>
            </a:extLst>
          </p:cNvPr>
          <p:cNvSpPr/>
          <p:nvPr/>
        </p:nvSpPr>
        <p:spPr>
          <a:xfrm>
            <a:off x="383686" y="2782956"/>
            <a:ext cx="2067971" cy="388601"/>
          </a:xfrm>
          <a:prstGeom prst="wedgeRoundRectCallout">
            <a:avLst>
              <a:gd name="adj1" fmla="val 24679"/>
              <a:gd name="adj2" fmla="val 76140"/>
              <a:gd name="adj3" fmla="val 16667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Ad-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api</a:t>
            </a:r>
            <a:r>
              <a:rPr kumimoji="1" lang="en-US" altLang="ko-KR" sz="600" dirty="0">
                <a:solidFill>
                  <a:srgbClr val="FF0000"/>
                </a:solidFill>
              </a:rPr>
              <a:t> </a:t>
            </a:r>
            <a:r>
              <a:rPr kumimoji="1" lang="ko-KR" altLang="en-US" sz="600" dirty="0">
                <a:solidFill>
                  <a:srgbClr val="FF0000"/>
                </a:solidFill>
              </a:rPr>
              <a:t>서버 장애대응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응답</a:t>
            </a:r>
            <a:r>
              <a:rPr kumimoji="1" lang="en-US" altLang="ko-KR" sz="600" dirty="0">
                <a:solidFill>
                  <a:srgbClr val="FF0000"/>
                </a:solidFill>
              </a:rPr>
              <a:t>x,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kafka</a:t>
            </a:r>
            <a:r>
              <a:rPr kumimoji="1" lang="ko-KR" altLang="en-US" sz="600" dirty="0">
                <a:solidFill>
                  <a:srgbClr val="FF0000"/>
                </a:solidFill>
              </a:rPr>
              <a:t>메시지</a:t>
            </a:r>
            <a:r>
              <a:rPr kumimoji="1" lang="en-US" altLang="ko-KR" sz="600" dirty="0">
                <a:solidFill>
                  <a:srgbClr val="FF0000"/>
                </a:solidFill>
              </a:rPr>
              <a:t>x</a:t>
            </a:r>
            <a:r>
              <a:rPr kumimoji="1" lang="ko-KR" altLang="en-US" sz="600" dirty="0">
                <a:solidFill>
                  <a:srgbClr val="FF0000"/>
                </a:solidFill>
              </a:rPr>
              <a:t> 일 경우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로드밸런서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nginx </a:t>
            </a:r>
            <a:r>
              <a:rPr kumimoji="1" lang="ko-KR" altLang="en-US" sz="600" dirty="0">
                <a:solidFill>
                  <a:srgbClr val="FF0000"/>
                </a:solidFill>
              </a:rPr>
              <a:t>처리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v1/ad/request : 503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v1/ad/impression, click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503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5DB71919-E43A-8EB7-B4F7-54AB7439822D}"/>
              </a:ext>
            </a:extLst>
          </p:cNvPr>
          <p:cNvSpPr/>
          <p:nvPr/>
        </p:nvSpPr>
        <p:spPr>
          <a:xfrm>
            <a:off x="1925188" y="2307721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adwhale-lb</a:t>
            </a:r>
            <a:r>
              <a:rPr kumimoji="1" lang="en-US" altLang="ko-KR" sz="1000" dirty="0"/>
              <a:t>(nginx)</a:t>
            </a:r>
            <a:endParaRPr kumimoji="1" lang="ko-KR" altLang="en-US" sz="1000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D6DCFF4A-1E64-3560-3B14-EFB315887EEA}"/>
              </a:ext>
            </a:extLst>
          </p:cNvPr>
          <p:cNvSpPr/>
          <p:nvPr/>
        </p:nvSpPr>
        <p:spPr>
          <a:xfrm>
            <a:off x="-2797233" y="2354222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30B3E46-1C65-7FF9-A8A8-C6DFF3EB82CE}"/>
              </a:ext>
            </a:extLst>
          </p:cNvPr>
          <p:cNvSpPr txBox="1"/>
          <p:nvPr/>
        </p:nvSpPr>
        <p:spPr>
          <a:xfrm>
            <a:off x="-3729352" y="2626936"/>
            <a:ext cx="20778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4.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Loadbalancer </a:t>
            </a:r>
            <a:r>
              <a:rPr kumimoji="1" lang="ko-KR" altLang="en-US" sz="1000" dirty="0">
                <a:solidFill>
                  <a:srgbClr val="0070C0"/>
                </a:solidFill>
              </a:rPr>
              <a:t>기동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8080)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6FDB8E62-C35C-A4E7-03C1-CFD085445D1B}"/>
              </a:ext>
            </a:extLst>
          </p:cNvPr>
          <p:cNvCxnSpPr>
            <a:cxnSpLocks/>
            <a:stCxn id="138" idx="6"/>
            <a:endCxn id="136" idx="1"/>
          </p:cNvCxnSpPr>
          <p:nvPr/>
        </p:nvCxnSpPr>
        <p:spPr>
          <a:xfrm>
            <a:off x="-2563317" y="2481813"/>
            <a:ext cx="4488505" cy="424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2B28639-55C5-3EC5-4DED-FF0F7BD67FA0}"/>
              </a:ext>
            </a:extLst>
          </p:cNvPr>
          <p:cNvSpPr txBox="1"/>
          <p:nvPr/>
        </p:nvSpPr>
        <p:spPr>
          <a:xfrm>
            <a:off x="2285592" y="4019486"/>
            <a:ext cx="5357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JSON</a:t>
            </a:r>
            <a:r>
              <a:rPr kumimoji="1" lang="ko-KR" altLang="en-US" sz="600" b="1" dirty="0">
                <a:solidFill>
                  <a:schemeClr val="accent2"/>
                </a:solidFill>
              </a:rPr>
              <a:t>객체</a:t>
            </a:r>
          </a:p>
        </p:txBody>
      </p: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B2137908-038E-1049-CEC7-51D7D9884366}"/>
              </a:ext>
            </a:extLst>
          </p:cNvPr>
          <p:cNvCxnSpPr>
            <a:stCxn id="136" idx="2"/>
            <a:endCxn id="127" idx="0"/>
          </p:cNvCxnSpPr>
          <p:nvPr/>
        </p:nvCxnSpPr>
        <p:spPr>
          <a:xfrm flipH="1">
            <a:off x="2573383" y="2664402"/>
            <a:ext cx="251" cy="838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2" name="타원 151">
            <a:extLst>
              <a:ext uri="{FF2B5EF4-FFF2-40B4-BE49-F238E27FC236}">
                <a16:creationId xmlns:a16="http://schemas.microsoft.com/office/drawing/2014/main" id="{33A6654C-5A69-E849-B125-01F1EA2DDD59}"/>
              </a:ext>
            </a:extLst>
          </p:cNvPr>
          <p:cNvSpPr/>
          <p:nvPr/>
        </p:nvSpPr>
        <p:spPr>
          <a:xfrm>
            <a:off x="-2797233" y="5824556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B5EC17A-C672-340A-F2F5-554627A31C6F}"/>
              </a:ext>
            </a:extLst>
          </p:cNvPr>
          <p:cNvSpPr txBox="1"/>
          <p:nvPr/>
        </p:nvSpPr>
        <p:spPr>
          <a:xfrm>
            <a:off x="-3679659" y="6097270"/>
            <a:ext cx="19784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3.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ad-</a:t>
            </a:r>
            <a:r>
              <a:rPr kumimoji="1" lang="en-US" altLang="ko-KR" sz="1000" dirty="0" err="1">
                <a:solidFill>
                  <a:srgbClr val="0070C0"/>
                </a:solidFill>
              </a:rPr>
              <a:t>api</a:t>
            </a:r>
            <a:r>
              <a:rPr kumimoji="1" lang="en-US" altLang="ko-KR" sz="1000" dirty="0">
                <a:solidFill>
                  <a:srgbClr val="0070C0"/>
                </a:solidFill>
              </a:rPr>
              <a:t> </a:t>
            </a:r>
            <a:r>
              <a:rPr kumimoji="1" lang="ko-KR" altLang="en-US" sz="1000" dirty="0">
                <a:solidFill>
                  <a:srgbClr val="0070C0"/>
                </a:solidFill>
              </a:rPr>
              <a:t>서버 기동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8082)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44EC949E-8256-B226-0728-C05E6D9ED8AC}"/>
              </a:ext>
            </a:extLst>
          </p:cNvPr>
          <p:cNvCxnSpPr>
            <a:cxnSpLocks/>
            <a:stCxn id="152" idx="6"/>
            <a:endCxn id="93" idx="1"/>
          </p:cNvCxnSpPr>
          <p:nvPr/>
        </p:nvCxnSpPr>
        <p:spPr>
          <a:xfrm flipV="1">
            <a:off x="-2563317" y="5947004"/>
            <a:ext cx="6986074" cy="514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C40BC96-20C2-D674-2CBC-46A49DF97541}"/>
              </a:ext>
            </a:extLst>
          </p:cNvPr>
          <p:cNvCxnSpPr>
            <a:cxnSpLocks/>
            <a:stCxn id="56" idx="6"/>
            <a:endCxn id="17" idx="1"/>
          </p:cNvCxnSpPr>
          <p:nvPr/>
        </p:nvCxnSpPr>
        <p:spPr>
          <a:xfrm>
            <a:off x="-2563317" y="6756854"/>
            <a:ext cx="9543071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모서리가 둥근 사각형 설명선[R] 95">
            <a:extLst>
              <a:ext uri="{FF2B5EF4-FFF2-40B4-BE49-F238E27FC236}">
                <a16:creationId xmlns:a16="http://schemas.microsoft.com/office/drawing/2014/main" id="{E458C81F-74BC-48C4-8D8B-C72F73A00944}"/>
              </a:ext>
            </a:extLst>
          </p:cNvPr>
          <p:cNvSpPr/>
          <p:nvPr/>
        </p:nvSpPr>
        <p:spPr>
          <a:xfrm>
            <a:off x="3594589" y="3363748"/>
            <a:ext cx="761673" cy="184666"/>
          </a:xfrm>
          <a:prstGeom prst="wedgeRoundRectCallout">
            <a:avLst>
              <a:gd name="adj1" fmla="val -12484"/>
              <a:gd name="adj2" fmla="val 98496"/>
              <a:gd name="adj3" fmla="val 16667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600" dirty="0" err="1">
                <a:solidFill>
                  <a:schemeClr val="tx1"/>
                </a:solidFill>
              </a:rPr>
              <a:t>라운드로빈사용</a:t>
            </a:r>
            <a:endParaRPr kumimoji="1" lang="en-US" altLang="ko-KR" sz="600" dirty="0">
              <a:solidFill>
                <a:schemeClr val="tx1"/>
              </a:solidFill>
            </a:endParaRPr>
          </a:p>
        </p:txBody>
      </p:sp>
      <p:cxnSp>
        <p:nvCxnSpPr>
          <p:cNvPr id="164" name="꺾인 연결선[E] 163">
            <a:extLst>
              <a:ext uri="{FF2B5EF4-FFF2-40B4-BE49-F238E27FC236}">
                <a16:creationId xmlns:a16="http://schemas.microsoft.com/office/drawing/2014/main" id="{601810D6-657B-B04B-5A95-15F19B04EC7B}"/>
              </a:ext>
            </a:extLst>
          </p:cNvPr>
          <p:cNvCxnSpPr>
            <a:cxnSpLocks/>
            <a:stCxn id="102" idx="2"/>
            <a:endCxn id="126" idx="0"/>
          </p:cNvCxnSpPr>
          <p:nvPr/>
        </p:nvCxnSpPr>
        <p:spPr>
          <a:xfrm rot="5400000">
            <a:off x="3349572" y="-2993498"/>
            <a:ext cx="1031379" cy="2615364"/>
          </a:xfrm>
          <a:prstGeom prst="bentConnector3">
            <a:avLst>
              <a:gd name="adj1" fmla="val 64589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8C47A2F4-A039-321F-9E0A-85B7F23CDFC9}"/>
              </a:ext>
            </a:extLst>
          </p:cNvPr>
          <p:cNvSpPr/>
          <p:nvPr/>
        </p:nvSpPr>
        <p:spPr>
          <a:xfrm>
            <a:off x="17346177" y="-1170125"/>
            <a:ext cx="2020910" cy="86010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docker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711480C5-7ADB-24DE-5E02-E072DEACA3A5}"/>
              </a:ext>
            </a:extLst>
          </p:cNvPr>
          <p:cNvSpPr/>
          <p:nvPr/>
        </p:nvSpPr>
        <p:spPr>
          <a:xfrm>
            <a:off x="17701090" y="-853883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adwhale-mysql</a:t>
            </a:r>
            <a:endParaRPr kumimoji="1" lang="ko-KR" altLang="en-US" sz="1000" dirty="0"/>
          </a:p>
        </p:txBody>
      </p:sp>
      <p:sp>
        <p:nvSpPr>
          <p:cNvPr id="170" name="원통[C] 169">
            <a:extLst>
              <a:ext uri="{FF2B5EF4-FFF2-40B4-BE49-F238E27FC236}">
                <a16:creationId xmlns:a16="http://schemas.microsoft.com/office/drawing/2014/main" id="{E17550DC-DFD3-A8C5-DCB3-9C7A123B63C0}"/>
              </a:ext>
            </a:extLst>
          </p:cNvPr>
          <p:cNvSpPr/>
          <p:nvPr/>
        </p:nvSpPr>
        <p:spPr>
          <a:xfrm>
            <a:off x="17491010" y="1321239"/>
            <a:ext cx="1717051" cy="3723750"/>
          </a:xfrm>
          <a:prstGeom prst="can">
            <a:avLst>
              <a:gd name="adj" fmla="val 8527"/>
            </a:avLst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adwhale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-db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A3FFB5A4-E012-7131-BB06-BB560971CEEA}"/>
              </a:ext>
            </a:extLst>
          </p:cNvPr>
          <p:cNvSpPr/>
          <p:nvPr/>
        </p:nvSpPr>
        <p:spPr>
          <a:xfrm>
            <a:off x="-2797233" y="-800905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AFA20AE0-DAF7-8DFE-BAE8-02317151A62E}"/>
              </a:ext>
            </a:extLst>
          </p:cNvPr>
          <p:cNvSpPr txBox="1"/>
          <p:nvPr/>
        </p:nvSpPr>
        <p:spPr>
          <a:xfrm>
            <a:off x="-3765420" y="-531220"/>
            <a:ext cx="21499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5.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MySQL docker </a:t>
            </a:r>
            <a:r>
              <a:rPr kumimoji="1" lang="ko-KR" altLang="en-US" sz="1000" dirty="0">
                <a:solidFill>
                  <a:srgbClr val="0070C0"/>
                </a:solidFill>
              </a:rPr>
              <a:t>기동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3306)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A8B58062-D4E5-F4F5-D863-D24EF38B3D55}"/>
              </a:ext>
            </a:extLst>
          </p:cNvPr>
          <p:cNvCxnSpPr>
            <a:cxnSpLocks/>
            <a:stCxn id="169" idx="2"/>
            <a:endCxn id="170" idx="1"/>
          </p:cNvCxnSpPr>
          <p:nvPr/>
        </p:nvCxnSpPr>
        <p:spPr>
          <a:xfrm>
            <a:off x="18349536" y="-497202"/>
            <a:ext cx="0" cy="1818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BBE3FD9B-F2AF-A5DE-FC34-73FD9C84186A}"/>
              </a:ext>
            </a:extLst>
          </p:cNvPr>
          <p:cNvSpPr/>
          <p:nvPr/>
        </p:nvSpPr>
        <p:spPr>
          <a:xfrm>
            <a:off x="10399754" y="3561303"/>
            <a:ext cx="1443683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AdEventRepository</a:t>
            </a:r>
            <a:endParaRPr kumimoji="1" lang="ko-KR" altLang="en-US" sz="1000" dirty="0"/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844A9B6D-6F25-ADCA-A72B-177149B80BBF}"/>
              </a:ext>
            </a:extLst>
          </p:cNvPr>
          <p:cNvSpPr/>
          <p:nvPr/>
        </p:nvSpPr>
        <p:spPr>
          <a:xfrm>
            <a:off x="10388526" y="3000583"/>
            <a:ext cx="1469228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spring-boot-starter-</a:t>
            </a:r>
            <a:r>
              <a:rPr kumimoji="1" lang="en-US" altLang="ko-KR" sz="800" dirty="0" err="1">
                <a:solidFill>
                  <a:sysClr val="windowText" lastClr="000000"/>
                </a:solidFill>
              </a:rPr>
              <a:t>jdbc</a:t>
            </a:r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35A4DB02-DDCA-A968-CD8A-0E0B39AE9D67}"/>
              </a:ext>
            </a:extLst>
          </p:cNvPr>
          <p:cNvSpPr txBox="1"/>
          <p:nvPr/>
        </p:nvSpPr>
        <p:spPr>
          <a:xfrm>
            <a:off x="8499503" y="4059244"/>
            <a:ext cx="92685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DB LISTENER (3306)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2B2C3C81-BB32-916C-F1EB-AD0EB9AB9B64}"/>
              </a:ext>
            </a:extLst>
          </p:cNvPr>
          <p:cNvSpPr/>
          <p:nvPr/>
        </p:nvSpPr>
        <p:spPr>
          <a:xfrm>
            <a:off x="10403954" y="4081251"/>
            <a:ext cx="1443683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AdEventDbConsumer</a:t>
            </a:r>
            <a:endParaRPr kumimoji="1" lang="ko-KR" altLang="en-US" sz="1000" dirty="0"/>
          </a:p>
        </p:txBody>
      </p: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E70A351E-53F4-903C-8099-06900AA9620A}"/>
              </a:ext>
            </a:extLst>
          </p:cNvPr>
          <p:cNvCxnSpPr>
            <a:cxnSpLocks/>
            <a:stCxn id="222" idx="0"/>
            <a:endCxn id="204" idx="2"/>
          </p:cNvCxnSpPr>
          <p:nvPr/>
        </p:nvCxnSpPr>
        <p:spPr>
          <a:xfrm flipH="1" flipV="1">
            <a:off x="11121596" y="3917984"/>
            <a:ext cx="4200" cy="163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3" name="꺾인 연결선[E] 232">
            <a:extLst>
              <a:ext uri="{FF2B5EF4-FFF2-40B4-BE49-F238E27FC236}">
                <a16:creationId xmlns:a16="http://schemas.microsoft.com/office/drawing/2014/main" id="{E035F962-DE62-84E2-508E-E9B34144FB10}"/>
              </a:ext>
            </a:extLst>
          </p:cNvPr>
          <p:cNvCxnSpPr>
            <a:cxnSpLocks/>
            <a:stCxn id="16" idx="3"/>
            <a:endCxn id="222" idx="1"/>
          </p:cNvCxnSpPr>
          <p:nvPr/>
        </p:nvCxnSpPr>
        <p:spPr>
          <a:xfrm flipV="1">
            <a:off x="8276646" y="4259592"/>
            <a:ext cx="2127308" cy="989746"/>
          </a:xfrm>
          <a:prstGeom prst="bentConnector3">
            <a:avLst>
              <a:gd name="adj1" fmla="val 3746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9287A9FF-F20A-D635-4D39-1F10443BEC23}"/>
              </a:ext>
            </a:extLst>
          </p:cNvPr>
          <p:cNvCxnSpPr>
            <a:cxnSpLocks/>
          </p:cNvCxnSpPr>
          <p:nvPr/>
        </p:nvCxnSpPr>
        <p:spPr>
          <a:xfrm>
            <a:off x="9921578" y="1572025"/>
            <a:ext cx="0" cy="3512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4" name="직선 화살표 연결선 243">
            <a:extLst>
              <a:ext uri="{FF2B5EF4-FFF2-40B4-BE49-F238E27FC236}">
                <a16:creationId xmlns:a16="http://schemas.microsoft.com/office/drawing/2014/main" id="{5F28BC28-C059-A745-7878-C846863DECF8}"/>
              </a:ext>
            </a:extLst>
          </p:cNvPr>
          <p:cNvCxnSpPr>
            <a:cxnSpLocks/>
            <a:stCxn id="204" idx="0"/>
            <a:endCxn id="205" idx="2"/>
          </p:cNvCxnSpPr>
          <p:nvPr/>
        </p:nvCxnSpPr>
        <p:spPr>
          <a:xfrm flipV="1">
            <a:off x="11121596" y="3373584"/>
            <a:ext cx="1544" cy="187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7D4DD251-9991-60A7-0654-35110B7C5548}"/>
              </a:ext>
            </a:extLst>
          </p:cNvPr>
          <p:cNvCxnSpPr>
            <a:cxnSpLocks/>
            <a:endCxn id="205" idx="0"/>
          </p:cNvCxnSpPr>
          <p:nvPr/>
        </p:nvCxnSpPr>
        <p:spPr>
          <a:xfrm>
            <a:off x="11123140" y="1572025"/>
            <a:ext cx="0" cy="1428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64" name="표 263">
            <a:extLst>
              <a:ext uri="{FF2B5EF4-FFF2-40B4-BE49-F238E27FC236}">
                <a16:creationId xmlns:a16="http://schemas.microsoft.com/office/drawing/2014/main" id="{3F4DD81C-7CFC-A544-DC2E-FC6A75EF6CD6}"/>
              </a:ext>
            </a:extLst>
          </p:cNvPr>
          <p:cNvGraphicFramePr>
            <a:graphicFrameLocks noGrp="1"/>
          </p:cNvGraphicFramePr>
          <p:nvPr/>
        </p:nvGraphicFramePr>
        <p:xfrm>
          <a:off x="17608402" y="2258833"/>
          <a:ext cx="1457960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6040337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51222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489118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203276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620463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818293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29149594"/>
                    </a:ext>
                  </a:extLst>
                </a:gridCol>
              </a:tblGrid>
              <a:tr h="1790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706128"/>
                  </a:ext>
                </a:extLst>
              </a:tr>
              <a:tr h="1790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470320"/>
                  </a:ext>
                </a:extLst>
              </a:tr>
            </a:tbl>
          </a:graphicData>
        </a:graphic>
      </p:graphicFrame>
      <p:graphicFrame>
        <p:nvGraphicFramePr>
          <p:cNvPr id="265" name="표 264">
            <a:extLst>
              <a:ext uri="{FF2B5EF4-FFF2-40B4-BE49-F238E27FC236}">
                <a16:creationId xmlns:a16="http://schemas.microsoft.com/office/drawing/2014/main" id="{753B3DCA-1A78-27A3-6020-CCFFA4F0D362}"/>
              </a:ext>
            </a:extLst>
          </p:cNvPr>
          <p:cNvGraphicFramePr>
            <a:graphicFrameLocks noGrp="1"/>
          </p:cNvGraphicFramePr>
          <p:nvPr/>
        </p:nvGraphicFramePr>
        <p:xfrm>
          <a:off x="17608402" y="3716201"/>
          <a:ext cx="1457960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6040337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51222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489118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203276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620463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818293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29149594"/>
                    </a:ext>
                  </a:extLst>
                </a:gridCol>
              </a:tblGrid>
              <a:tr h="1790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706128"/>
                  </a:ext>
                </a:extLst>
              </a:tr>
              <a:tr h="1790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470320"/>
                  </a:ext>
                </a:extLst>
              </a:tr>
            </a:tbl>
          </a:graphicData>
        </a:graphic>
      </p:graphicFrame>
      <p:sp>
        <p:nvSpPr>
          <p:cNvPr id="266" name="TextBox 265">
            <a:extLst>
              <a:ext uri="{FF2B5EF4-FFF2-40B4-BE49-F238E27FC236}">
                <a16:creationId xmlns:a16="http://schemas.microsoft.com/office/drawing/2014/main" id="{77744D10-ACA1-A1C4-C1B4-F7CB1B5DE8D6}"/>
              </a:ext>
            </a:extLst>
          </p:cNvPr>
          <p:cNvSpPr txBox="1"/>
          <p:nvPr/>
        </p:nvSpPr>
        <p:spPr>
          <a:xfrm>
            <a:off x="17741300" y="2011287"/>
            <a:ext cx="1188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&lt;&lt; ad_event &gt;&gt;</a:t>
            </a:r>
            <a:endParaRPr kumimoji="1" lang="ko-KR" altLang="en-US" sz="1000" b="1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EA4008C8-3BE3-E911-2446-FF4ABB7C91D3}"/>
              </a:ext>
            </a:extLst>
          </p:cNvPr>
          <p:cNvSpPr txBox="1"/>
          <p:nvPr/>
        </p:nvSpPr>
        <p:spPr>
          <a:xfrm>
            <a:off x="17558432" y="3461262"/>
            <a:ext cx="1582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&lt;&lt; ad_stats_hourly &gt;&gt;</a:t>
            </a:r>
            <a:endParaRPr kumimoji="1" lang="ko-KR" altLang="en-US" sz="1000" b="1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49A2CDA5-E739-0887-7EF2-0A86EDA61B75}"/>
              </a:ext>
            </a:extLst>
          </p:cNvPr>
          <p:cNvSpPr txBox="1"/>
          <p:nvPr/>
        </p:nvSpPr>
        <p:spPr>
          <a:xfrm>
            <a:off x="8424135" y="5270226"/>
            <a:ext cx="94288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ad-log-writer (9092)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78E8C826-D1B5-C02F-09AB-942D88CA27CB}"/>
              </a:ext>
            </a:extLst>
          </p:cNvPr>
          <p:cNvSpPr txBox="1"/>
          <p:nvPr/>
        </p:nvSpPr>
        <p:spPr>
          <a:xfrm>
            <a:off x="8512563" y="4278255"/>
            <a:ext cx="90922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ad-db-writer (3306)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270" name="번개[L] 269">
            <a:extLst>
              <a:ext uri="{FF2B5EF4-FFF2-40B4-BE49-F238E27FC236}">
                <a16:creationId xmlns:a16="http://schemas.microsoft.com/office/drawing/2014/main" id="{C26CDDD6-F01B-00C7-3C89-1D4D839A39AE}"/>
              </a:ext>
            </a:extLst>
          </p:cNvPr>
          <p:cNvSpPr/>
          <p:nvPr/>
        </p:nvSpPr>
        <p:spPr>
          <a:xfrm>
            <a:off x="10179542" y="2608447"/>
            <a:ext cx="442543" cy="390649"/>
          </a:xfrm>
          <a:prstGeom prst="lightningBol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71" name="모서리가 둥근 사각형 설명선[R] 270">
            <a:extLst>
              <a:ext uri="{FF2B5EF4-FFF2-40B4-BE49-F238E27FC236}">
                <a16:creationId xmlns:a16="http://schemas.microsoft.com/office/drawing/2014/main" id="{34F3CBCD-03AE-1079-AC52-4252ACDD3D5F}"/>
              </a:ext>
            </a:extLst>
          </p:cNvPr>
          <p:cNvSpPr/>
          <p:nvPr/>
        </p:nvSpPr>
        <p:spPr>
          <a:xfrm>
            <a:off x="11345030" y="2288872"/>
            <a:ext cx="1714804" cy="319575"/>
          </a:xfrm>
          <a:prstGeom prst="wedgeRoundRectCallout">
            <a:avLst>
              <a:gd name="adj1" fmla="val -43072"/>
              <a:gd name="adj2" fmla="val 185824"/>
              <a:gd name="adj3" fmla="val 16667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 err="1">
                <a:solidFill>
                  <a:srgbClr val="FF0000"/>
                </a:solidFill>
              </a:rPr>
              <a:t>Adwhale</a:t>
            </a:r>
            <a:r>
              <a:rPr kumimoji="1" lang="en-US" altLang="ko-KR" sz="600" dirty="0">
                <a:solidFill>
                  <a:srgbClr val="FF0000"/>
                </a:solidFill>
              </a:rPr>
              <a:t>-db </a:t>
            </a:r>
            <a:r>
              <a:rPr kumimoji="1" lang="ko-KR" altLang="en-US" sz="600" dirty="0">
                <a:solidFill>
                  <a:srgbClr val="FF0000"/>
                </a:solidFill>
              </a:rPr>
              <a:t>장애대응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실패 시 </a:t>
            </a:r>
            <a:r>
              <a:rPr kumimoji="1" lang="en-US" altLang="ko-KR" sz="600" dirty="0">
                <a:solidFill>
                  <a:srgbClr val="FF0000"/>
                </a:solidFill>
              </a:rPr>
              <a:t>DB</a:t>
            </a:r>
            <a:r>
              <a:rPr kumimoji="1" lang="ko-KR" altLang="en-US" sz="600" dirty="0">
                <a:solidFill>
                  <a:srgbClr val="FF0000"/>
                </a:solidFill>
              </a:rPr>
              <a:t>가 살아날 때까지 계속 재시도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(1</a:t>
            </a:r>
            <a:r>
              <a:rPr kumimoji="1" lang="ko-KR" altLang="en-US" sz="600" dirty="0">
                <a:solidFill>
                  <a:srgbClr val="FF0000"/>
                </a:solidFill>
              </a:rPr>
              <a:t>초 </a:t>
            </a:r>
            <a:r>
              <a:rPr kumimoji="1" lang="en-US" altLang="ko-KR" sz="600" dirty="0">
                <a:solidFill>
                  <a:srgbClr val="FF0000"/>
                </a:solidFill>
              </a:rPr>
              <a:t>&gt;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2</a:t>
            </a:r>
            <a:r>
              <a:rPr kumimoji="1" lang="ko-KR" altLang="en-US" sz="600" dirty="0">
                <a:solidFill>
                  <a:srgbClr val="FF0000"/>
                </a:solidFill>
              </a:rPr>
              <a:t>초 </a:t>
            </a:r>
            <a:r>
              <a:rPr kumimoji="1" lang="en-US" altLang="ko-KR" sz="600" dirty="0">
                <a:solidFill>
                  <a:srgbClr val="FF0000"/>
                </a:solidFill>
              </a:rPr>
              <a:t>&gt;.4</a:t>
            </a:r>
            <a:r>
              <a:rPr kumimoji="1" lang="ko-KR" altLang="en-US" sz="600" dirty="0">
                <a:solidFill>
                  <a:srgbClr val="FF0000"/>
                </a:solidFill>
              </a:rPr>
              <a:t>초 </a:t>
            </a:r>
            <a:r>
              <a:rPr kumimoji="1" lang="en-US" altLang="ko-KR" sz="600" dirty="0">
                <a:solidFill>
                  <a:srgbClr val="FF0000"/>
                </a:solidFill>
              </a:rPr>
              <a:t>&gt;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…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&gt;</a:t>
            </a:r>
            <a:r>
              <a:rPr kumimoji="1" lang="ko-KR" altLang="en-US" sz="600" dirty="0">
                <a:solidFill>
                  <a:srgbClr val="FF0000"/>
                </a:solidFill>
              </a:rPr>
              <a:t> 최대 </a:t>
            </a:r>
            <a:r>
              <a:rPr kumimoji="1" lang="en-US" altLang="ko-KR" sz="600" dirty="0">
                <a:solidFill>
                  <a:srgbClr val="FF0000"/>
                </a:solidFill>
              </a:rPr>
              <a:t>30</a:t>
            </a:r>
            <a:r>
              <a:rPr kumimoji="1" lang="ko-KR" altLang="en-US" sz="600" dirty="0">
                <a:solidFill>
                  <a:srgbClr val="FF0000"/>
                </a:solidFill>
              </a:rPr>
              <a:t>초 간격</a:t>
            </a:r>
            <a:r>
              <a:rPr kumimoji="1" lang="en-US" altLang="ko-KR" sz="6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99CFA856-96FF-1874-5B82-641DB8824E81}"/>
              </a:ext>
            </a:extLst>
          </p:cNvPr>
          <p:cNvSpPr/>
          <p:nvPr/>
        </p:nvSpPr>
        <p:spPr>
          <a:xfrm>
            <a:off x="14096071" y="-1169090"/>
            <a:ext cx="2826118" cy="86010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ad-batch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190" name="직선 화살표 연결선 189">
            <a:extLst>
              <a:ext uri="{FF2B5EF4-FFF2-40B4-BE49-F238E27FC236}">
                <a16:creationId xmlns:a16="http://schemas.microsoft.com/office/drawing/2014/main" id="{E541A216-68AB-5C1E-3E87-DB161F3FEB1C}"/>
              </a:ext>
            </a:extLst>
          </p:cNvPr>
          <p:cNvCxnSpPr>
            <a:cxnSpLocks/>
            <a:stCxn id="188" idx="6"/>
            <a:endCxn id="169" idx="1"/>
          </p:cNvCxnSpPr>
          <p:nvPr/>
        </p:nvCxnSpPr>
        <p:spPr>
          <a:xfrm flipV="1">
            <a:off x="-2563317" y="-675542"/>
            <a:ext cx="20264407" cy="222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F66FED91-0622-0004-0A82-B26690269DE4}"/>
              </a:ext>
            </a:extLst>
          </p:cNvPr>
          <p:cNvCxnSpPr>
            <a:cxnSpLocks/>
            <a:stCxn id="205" idx="3"/>
            <a:endCxn id="170" idx="2"/>
          </p:cNvCxnSpPr>
          <p:nvPr/>
        </p:nvCxnSpPr>
        <p:spPr>
          <a:xfrm flipV="1">
            <a:off x="11857754" y="3183114"/>
            <a:ext cx="5633256" cy="3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5" name="꺾인 연결선[E] 274">
            <a:extLst>
              <a:ext uri="{FF2B5EF4-FFF2-40B4-BE49-F238E27FC236}">
                <a16:creationId xmlns:a16="http://schemas.microsoft.com/office/drawing/2014/main" id="{473AD237-1B26-DCEA-2092-3F07B03986C6}"/>
              </a:ext>
            </a:extLst>
          </p:cNvPr>
          <p:cNvCxnSpPr>
            <a:cxnSpLocks/>
            <a:stCxn id="102" idx="2"/>
            <a:endCxn id="168" idx="0"/>
          </p:cNvCxnSpPr>
          <p:nvPr/>
        </p:nvCxnSpPr>
        <p:spPr>
          <a:xfrm rot="16200000" flipH="1">
            <a:off x="11249097" y="-8277660"/>
            <a:ext cx="1031380" cy="13183689"/>
          </a:xfrm>
          <a:prstGeom prst="bentConnector3">
            <a:avLst>
              <a:gd name="adj1" fmla="val 64589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1" name="꺾인 연결선[E] 280">
            <a:extLst>
              <a:ext uri="{FF2B5EF4-FFF2-40B4-BE49-F238E27FC236}">
                <a16:creationId xmlns:a16="http://schemas.microsoft.com/office/drawing/2014/main" id="{A4B0A7C3-90D9-F688-4AF0-2D4A80184947}"/>
              </a:ext>
            </a:extLst>
          </p:cNvPr>
          <p:cNvCxnSpPr>
            <a:cxnSpLocks/>
            <a:stCxn id="69" idx="2"/>
            <a:endCxn id="272" idx="0"/>
          </p:cNvCxnSpPr>
          <p:nvPr/>
        </p:nvCxnSpPr>
        <p:spPr>
          <a:xfrm rot="16200000" flipH="1">
            <a:off x="11029029" y="-5649191"/>
            <a:ext cx="1036422" cy="7923779"/>
          </a:xfrm>
          <a:prstGeom prst="bentConnector3">
            <a:avLst>
              <a:gd name="adj1" fmla="val 26547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5" name="직사각형 284">
            <a:extLst>
              <a:ext uri="{FF2B5EF4-FFF2-40B4-BE49-F238E27FC236}">
                <a16:creationId xmlns:a16="http://schemas.microsoft.com/office/drawing/2014/main" id="{D08AD816-D5E9-42C6-3793-CB3C8A751AF2}"/>
              </a:ext>
            </a:extLst>
          </p:cNvPr>
          <p:cNvSpPr/>
          <p:nvPr/>
        </p:nvSpPr>
        <p:spPr>
          <a:xfrm>
            <a:off x="14292438" y="-356681"/>
            <a:ext cx="2386683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AdBatchApplication</a:t>
            </a:r>
            <a:endParaRPr kumimoji="1" lang="ko-KR" altLang="en-US" sz="1000" dirty="0"/>
          </a:p>
        </p:txBody>
      </p:sp>
      <p:sp>
        <p:nvSpPr>
          <p:cNvPr id="286" name="타원 285">
            <a:extLst>
              <a:ext uri="{FF2B5EF4-FFF2-40B4-BE49-F238E27FC236}">
                <a16:creationId xmlns:a16="http://schemas.microsoft.com/office/drawing/2014/main" id="{ADD89200-73B9-4655-434F-0A36F741C036}"/>
              </a:ext>
            </a:extLst>
          </p:cNvPr>
          <p:cNvSpPr/>
          <p:nvPr/>
        </p:nvSpPr>
        <p:spPr>
          <a:xfrm>
            <a:off x="-2797233" y="-267581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500EFD92-EBD2-5021-6B03-B189F7D7AD70}"/>
              </a:ext>
            </a:extLst>
          </p:cNvPr>
          <p:cNvSpPr txBox="1"/>
          <p:nvPr/>
        </p:nvSpPr>
        <p:spPr>
          <a:xfrm>
            <a:off x="-3352647" y="2104"/>
            <a:ext cx="13244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6.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ad-batch </a:t>
            </a:r>
            <a:r>
              <a:rPr kumimoji="1" lang="ko-KR" altLang="en-US" sz="1000" dirty="0">
                <a:solidFill>
                  <a:srgbClr val="0070C0"/>
                </a:solidFill>
              </a:rPr>
              <a:t>앱 기동</a:t>
            </a:r>
          </a:p>
        </p:txBody>
      </p:sp>
      <p:cxnSp>
        <p:nvCxnSpPr>
          <p:cNvPr id="288" name="직선 화살표 연결선 287">
            <a:extLst>
              <a:ext uri="{FF2B5EF4-FFF2-40B4-BE49-F238E27FC236}">
                <a16:creationId xmlns:a16="http://schemas.microsoft.com/office/drawing/2014/main" id="{B348E0BA-FE04-1BE8-7F4D-2B32C5DD1EC8}"/>
              </a:ext>
            </a:extLst>
          </p:cNvPr>
          <p:cNvCxnSpPr>
            <a:cxnSpLocks/>
            <a:stCxn id="286" idx="6"/>
            <a:endCxn id="285" idx="1"/>
          </p:cNvCxnSpPr>
          <p:nvPr/>
        </p:nvCxnSpPr>
        <p:spPr>
          <a:xfrm flipV="1">
            <a:off x="-2563317" y="-178340"/>
            <a:ext cx="16855755" cy="383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2" name="직사각형 291">
            <a:extLst>
              <a:ext uri="{FF2B5EF4-FFF2-40B4-BE49-F238E27FC236}">
                <a16:creationId xmlns:a16="http://schemas.microsoft.com/office/drawing/2014/main" id="{2C3B3F10-E3D5-E2BE-242B-4D7B2B67FFD1}"/>
              </a:ext>
            </a:extLst>
          </p:cNvPr>
          <p:cNvSpPr/>
          <p:nvPr/>
        </p:nvSpPr>
        <p:spPr>
          <a:xfrm>
            <a:off x="15541191" y="1488301"/>
            <a:ext cx="1114780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spring-boot-starter-</a:t>
            </a:r>
            <a:r>
              <a:rPr kumimoji="1" lang="en-US" altLang="ko-KR" sz="800" dirty="0" err="1">
                <a:solidFill>
                  <a:sysClr val="windowText" lastClr="000000"/>
                </a:solidFill>
              </a:rPr>
              <a:t>jdbc</a:t>
            </a:r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293" name="직사각형 292">
            <a:extLst>
              <a:ext uri="{FF2B5EF4-FFF2-40B4-BE49-F238E27FC236}">
                <a16:creationId xmlns:a16="http://schemas.microsoft.com/office/drawing/2014/main" id="{673A297B-18EC-F2AA-A816-B4D073DEFE9D}"/>
              </a:ext>
            </a:extLst>
          </p:cNvPr>
          <p:cNvSpPr/>
          <p:nvPr/>
        </p:nvSpPr>
        <p:spPr>
          <a:xfrm>
            <a:off x="14316203" y="1488301"/>
            <a:ext cx="1089703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</a:t>
            </a:r>
          </a:p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297" name="직사각형 296">
            <a:extLst>
              <a:ext uri="{FF2B5EF4-FFF2-40B4-BE49-F238E27FC236}">
                <a16:creationId xmlns:a16="http://schemas.microsoft.com/office/drawing/2014/main" id="{C2043464-F4AA-6168-AAE9-69D3207DC4A5}"/>
              </a:ext>
            </a:extLst>
          </p:cNvPr>
          <p:cNvSpPr/>
          <p:nvPr/>
        </p:nvSpPr>
        <p:spPr>
          <a:xfrm>
            <a:off x="14688273" y="2363569"/>
            <a:ext cx="1574157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HourlyStatsJob</a:t>
            </a:r>
            <a:endParaRPr kumimoji="1" lang="ko-KR" altLang="en-US" sz="1000" dirty="0"/>
          </a:p>
        </p:txBody>
      </p:sp>
      <p:cxnSp>
        <p:nvCxnSpPr>
          <p:cNvPr id="302" name="직선 화살표 연결선 301">
            <a:extLst>
              <a:ext uri="{FF2B5EF4-FFF2-40B4-BE49-F238E27FC236}">
                <a16:creationId xmlns:a16="http://schemas.microsoft.com/office/drawing/2014/main" id="{4C7F94EB-326A-3792-6BBD-42924E654536}"/>
              </a:ext>
            </a:extLst>
          </p:cNvPr>
          <p:cNvCxnSpPr>
            <a:cxnSpLocks/>
            <a:endCxn id="293" idx="0"/>
          </p:cNvCxnSpPr>
          <p:nvPr/>
        </p:nvCxnSpPr>
        <p:spPr>
          <a:xfrm>
            <a:off x="14861055" y="0"/>
            <a:ext cx="0" cy="14883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6" name="직선 화살표 연결선 305">
            <a:extLst>
              <a:ext uri="{FF2B5EF4-FFF2-40B4-BE49-F238E27FC236}">
                <a16:creationId xmlns:a16="http://schemas.microsoft.com/office/drawing/2014/main" id="{EEA78FF1-D940-3BE4-17FE-03A334EB592E}"/>
              </a:ext>
            </a:extLst>
          </p:cNvPr>
          <p:cNvCxnSpPr>
            <a:cxnSpLocks/>
            <a:endCxn id="292" idx="0"/>
          </p:cNvCxnSpPr>
          <p:nvPr/>
        </p:nvCxnSpPr>
        <p:spPr>
          <a:xfrm>
            <a:off x="16098581" y="0"/>
            <a:ext cx="0" cy="14883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1" name="구부러진 연결선[U] 310">
            <a:extLst>
              <a:ext uri="{FF2B5EF4-FFF2-40B4-BE49-F238E27FC236}">
                <a16:creationId xmlns:a16="http://schemas.microsoft.com/office/drawing/2014/main" id="{84DE2004-CA5C-354A-2C87-4BB7C3EE6C10}"/>
              </a:ext>
            </a:extLst>
          </p:cNvPr>
          <p:cNvCxnSpPr>
            <a:stCxn id="297" idx="0"/>
            <a:endCxn id="297" idx="2"/>
          </p:cNvCxnSpPr>
          <p:nvPr/>
        </p:nvCxnSpPr>
        <p:spPr>
          <a:xfrm rot="16200000" flipH="1">
            <a:off x="15297011" y="2541909"/>
            <a:ext cx="356681" cy="12700"/>
          </a:xfrm>
          <a:prstGeom prst="curvedConnector5">
            <a:avLst>
              <a:gd name="adj1" fmla="val -64091"/>
              <a:gd name="adj2" fmla="val 7997472"/>
              <a:gd name="adj3" fmla="val 164091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7FC20570-1C42-A02C-DDD0-E5E00C0F2D5B}"/>
              </a:ext>
            </a:extLst>
          </p:cNvPr>
          <p:cNvCxnSpPr>
            <a:cxnSpLocks/>
            <a:endCxn id="293" idx="2"/>
          </p:cNvCxnSpPr>
          <p:nvPr/>
        </p:nvCxnSpPr>
        <p:spPr>
          <a:xfrm flipV="1">
            <a:off x="14861055" y="1861302"/>
            <a:ext cx="0" cy="488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6" name="직선 화살표 연결선 315">
            <a:extLst>
              <a:ext uri="{FF2B5EF4-FFF2-40B4-BE49-F238E27FC236}">
                <a16:creationId xmlns:a16="http://schemas.microsoft.com/office/drawing/2014/main" id="{963417CE-74C5-3517-2822-5E53DD8EC4D4}"/>
              </a:ext>
            </a:extLst>
          </p:cNvPr>
          <p:cNvCxnSpPr>
            <a:cxnSpLocks/>
            <a:endCxn id="292" idx="2"/>
          </p:cNvCxnSpPr>
          <p:nvPr/>
        </p:nvCxnSpPr>
        <p:spPr>
          <a:xfrm flipV="1">
            <a:off x="16098581" y="1861302"/>
            <a:ext cx="0" cy="488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1" name="직선 화살표 연결선 320">
            <a:extLst>
              <a:ext uri="{FF2B5EF4-FFF2-40B4-BE49-F238E27FC236}">
                <a16:creationId xmlns:a16="http://schemas.microsoft.com/office/drawing/2014/main" id="{6C10FFCA-7F70-3DB5-18A6-C4A1FE4C88AA}"/>
              </a:ext>
            </a:extLst>
          </p:cNvPr>
          <p:cNvCxnSpPr>
            <a:cxnSpLocks/>
            <a:stCxn id="292" idx="3"/>
          </p:cNvCxnSpPr>
          <p:nvPr/>
        </p:nvCxnSpPr>
        <p:spPr>
          <a:xfrm>
            <a:off x="16655971" y="1674802"/>
            <a:ext cx="8333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0" name="TextBox 329">
            <a:extLst>
              <a:ext uri="{FF2B5EF4-FFF2-40B4-BE49-F238E27FC236}">
                <a16:creationId xmlns:a16="http://schemas.microsoft.com/office/drawing/2014/main" id="{2EF207AD-4780-B9F6-984F-4C9CAE3C5FF5}"/>
              </a:ext>
            </a:extLst>
          </p:cNvPr>
          <p:cNvSpPr txBox="1"/>
          <p:nvPr/>
        </p:nvSpPr>
        <p:spPr>
          <a:xfrm>
            <a:off x="16794608" y="1479692"/>
            <a:ext cx="53251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DB CRUD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9A94B7B8-C2BA-12D7-8C60-E6D47A87BFDA}"/>
              </a:ext>
            </a:extLst>
          </p:cNvPr>
          <p:cNvSpPr txBox="1"/>
          <p:nvPr/>
        </p:nvSpPr>
        <p:spPr>
          <a:xfrm>
            <a:off x="16102056" y="1966680"/>
            <a:ext cx="822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600" b="1" dirty="0">
                <a:solidFill>
                  <a:schemeClr val="accent2"/>
                </a:solidFill>
              </a:rPr>
              <a:t>앱 시작 </a:t>
            </a:r>
            <a:r>
              <a:rPr kumimoji="1" lang="en-US" altLang="ko-KR" sz="600" b="1" dirty="0">
                <a:solidFill>
                  <a:schemeClr val="accent2"/>
                </a:solidFill>
              </a:rPr>
              <a:t>5</a:t>
            </a:r>
            <a:r>
              <a:rPr kumimoji="1" lang="ko-KR" altLang="en-US" sz="600" b="1" dirty="0">
                <a:solidFill>
                  <a:schemeClr val="accent2"/>
                </a:solidFill>
              </a:rPr>
              <a:t>초 뒤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5</a:t>
            </a:r>
            <a:r>
              <a:rPr kumimoji="1" lang="ko-KR" altLang="en-US" sz="600" b="1" dirty="0">
                <a:solidFill>
                  <a:schemeClr val="accent2"/>
                </a:solidFill>
              </a:rPr>
              <a:t>분 마다 배치실행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E94FBF07-94FF-2F49-0C40-93C44CB74488}"/>
              </a:ext>
            </a:extLst>
          </p:cNvPr>
          <p:cNvSpPr txBox="1"/>
          <p:nvPr/>
        </p:nvSpPr>
        <p:spPr>
          <a:xfrm>
            <a:off x="16541892" y="1687824"/>
            <a:ext cx="10727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UPDATE ad_stats_hourly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1CCF17A5-929F-8182-F602-F51C6E92CE54}"/>
              </a:ext>
            </a:extLst>
          </p:cNvPr>
          <p:cNvSpPr txBox="1"/>
          <p:nvPr/>
        </p:nvSpPr>
        <p:spPr>
          <a:xfrm>
            <a:off x="14373566" y="2989286"/>
            <a:ext cx="53251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DB CRUD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72C239EF-8205-A497-DCCE-D2D81176154C}"/>
              </a:ext>
            </a:extLst>
          </p:cNvPr>
          <p:cNvSpPr txBox="1"/>
          <p:nvPr/>
        </p:nvSpPr>
        <p:spPr>
          <a:xfrm>
            <a:off x="14235539" y="3198034"/>
            <a:ext cx="79861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INSERT ad_event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BF324B13-D3B7-AB8C-19FA-C2FB8479C834}"/>
              </a:ext>
            </a:extLst>
          </p:cNvPr>
          <p:cNvSpPr txBox="1"/>
          <p:nvPr/>
        </p:nvSpPr>
        <p:spPr>
          <a:xfrm>
            <a:off x="-3408936" y="-2912337"/>
            <a:ext cx="16881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버전</a:t>
            </a:r>
            <a:r>
              <a:rPr kumimoji="1" lang="en-US" altLang="ko-KR" dirty="0"/>
              <a:t>2:</a:t>
            </a:r>
          </a:p>
          <a:p>
            <a:r>
              <a:rPr kumimoji="1" lang="en-US" altLang="ko-KR" dirty="0"/>
              <a:t>MySQL </a:t>
            </a:r>
            <a:r>
              <a:rPr kumimoji="1" lang="ko-KR" altLang="en-US" dirty="0"/>
              <a:t>및</a:t>
            </a:r>
            <a:endParaRPr kumimoji="1" lang="en-US" altLang="ko-KR" dirty="0"/>
          </a:p>
          <a:p>
            <a:r>
              <a:rPr kumimoji="1" lang="en-US" altLang="ko-KR" dirty="0"/>
              <a:t>Ad-batch</a:t>
            </a:r>
            <a:r>
              <a:rPr kumimoji="1" lang="ko-KR" altLang="en-US" dirty="0"/>
              <a:t> 추가</a:t>
            </a:r>
          </a:p>
        </p:txBody>
      </p:sp>
    </p:spTree>
    <p:extLst>
      <p:ext uri="{BB962C8B-B14F-4D97-AF65-F5344CB8AC3E}">
        <p14:creationId xmlns:p14="http://schemas.microsoft.com/office/powerpoint/2010/main" val="1161034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FE978-53F8-A1BB-352D-633AF5CBD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DC29277-D4C1-EABF-34C3-18AE11A98C76}"/>
              </a:ext>
            </a:extLst>
          </p:cNvPr>
          <p:cNvSpPr/>
          <p:nvPr/>
        </p:nvSpPr>
        <p:spPr>
          <a:xfrm>
            <a:off x="-1321330" y="-2900941"/>
            <a:ext cx="2253543" cy="1140631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3</a:t>
            </a:r>
            <a:r>
              <a:rPr kumimoji="1" lang="en-US" altLang="ko-KR" sz="1000" baseline="30000" dirty="0">
                <a:solidFill>
                  <a:sysClr val="windowText" lastClr="000000"/>
                </a:solidFill>
              </a:rPr>
              <a:t>rd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party App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CA0B58-6019-89FD-A546-04AD1A435418}"/>
              </a:ext>
            </a:extLst>
          </p:cNvPr>
          <p:cNvSpPr/>
          <p:nvPr/>
        </p:nvSpPr>
        <p:spPr>
          <a:xfrm>
            <a:off x="-1075953" y="-1169090"/>
            <a:ext cx="1743472" cy="93841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ko-KR" altLang="en-US" sz="1000" dirty="0">
                <a:solidFill>
                  <a:sysClr val="windowText" lastClr="000000"/>
                </a:solidFill>
              </a:rPr>
              <a:t>광고화면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143D19-931E-565A-74EA-295574298D6A}"/>
              </a:ext>
            </a:extLst>
          </p:cNvPr>
          <p:cNvSpPr/>
          <p:nvPr/>
        </p:nvSpPr>
        <p:spPr>
          <a:xfrm>
            <a:off x="-784122" y="676978"/>
            <a:ext cx="1198978" cy="48927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ko-KR" sz="1000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Adwhale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Sdk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92C2B8-054C-D061-73F5-89797C46DE92}"/>
              </a:ext>
            </a:extLst>
          </p:cNvPr>
          <p:cNvSpPr/>
          <p:nvPr/>
        </p:nvSpPr>
        <p:spPr>
          <a:xfrm>
            <a:off x="-562275" y="3505867"/>
            <a:ext cx="71422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광고요청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AAAEBA-ADA5-D2EE-35E2-5D808A55869F}"/>
              </a:ext>
            </a:extLst>
          </p:cNvPr>
          <p:cNvSpPr/>
          <p:nvPr/>
        </p:nvSpPr>
        <p:spPr>
          <a:xfrm>
            <a:off x="-570498" y="4033785"/>
            <a:ext cx="71422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광고응답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90CE18-9398-C126-8D49-8D4E7B8AF6DA}"/>
              </a:ext>
            </a:extLst>
          </p:cNvPr>
          <p:cNvSpPr/>
          <p:nvPr/>
        </p:nvSpPr>
        <p:spPr>
          <a:xfrm>
            <a:off x="1289324" y="-2894472"/>
            <a:ext cx="23578770" cy="1209474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                                 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adwhale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-ad-platform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56B747F-3154-225B-299D-2CC019F01A27}"/>
              </a:ext>
            </a:extLst>
          </p:cNvPr>
          <p:cNvSpPr/>
          <p:nvPr/>
        </p:nvSpPr>
        <p:spPr>
          <a:xfrm>
            <a:off x="8441510" y="-2891887"/>
            <a:ext cx="3658947" cy="6954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ad-common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4F5CAE-2CAD-6A6C-8355-6321E219AEC1}"/>
              </a:ext>
            </a:extLst>
          </p:cNvPr>
          <p:cNvSpPr/>
          <p:nvPr/>
        </p:nvSpPr>
        <p:spPr>
          <a:xfrm>
            <a:off x="8517819" y="-2629012"/>
            <a:ext cx="1146935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AdRequestEvent</a:t>
            </a:r>
            <a:endParaRPr kumimoji="1"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44CC0F-536F-9485-33B9-EE2DD263682F}"/>
              </a:ext>
            </a:extLst>
          </p:cNvPr>
          <p:cNvSpPr/>
          <p:nvPr/>
        </p:nvSpPr>
        <p:spPr>
          <a:xfrm>
            <a:off x="10868827" y="-2639790"/>
            <a:ext cx="1146935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AdTrackingEvent</a:t>
            </a:r>
            <a:endParaRPr kumimoji="1" lang="ko-KR" altLang="en-US" sz="10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4593FE-FBDB-C37F-A335-8EEDC14F5816}"/>
              </a:ext>
            </a:extLst>
          </p:cNvPr>
          <p:cNvSpPr/>
          <p:nvPr/>
        </p:nvSpPr>
        <p:spPr>
          <a:xfrm>
            <a:off x="9749450" y="-2633495"/>
            <a:ext cx="1034681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AdTopicEnum</a:t>
            </a:r>
            <a:endParaRPr kumimoji="1"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981C61E-C049-4B02-823E-4359D793FA73}"/>
              </a:ext>
            </a:extLst>
          </p:cNvPr>
          <p:cNvSpPr/>
          <p:nvPr/>
        </p:nvSpPr>
        <p:spPr>
          <a:xfrm>
            <a:off x="6746218" y="-1169090"/>
            <a:ext cx="1732582" cy="938417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docker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EAE93E-4F81-731D-442C-87B82365DB21}"/>
              </a:ext>
            </a:extLst>
          </p:cNvPr>
          <p:cNvSpPr/>
          <p:nvPr/>
        </p:nvSpPr>
        <p:spPr>
          <a:xfrm>
            <a:off x="6979754" y="5070997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adwhale-kafka</a:t>
            </a:r>
            <a:endParaRPr kumimoji="1" lang="ko-KR" altLang="en-US" sz="1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2536434-4FC8-687B-A5EC-A70EC3A4A537}"/>
              </a:ext>
            </a:extLst>
          </p:cNvPr>
          <p:cNvSpPr/>
          <p:nvPr/>
        </p:nvSpPr>
        <p:spPr>
          <a:xfrm>
            <a:off x="6979754" y="6578514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adwhale-kafka-ui</a:t>
            </a:r>
            <a:endParaRPr kumimoji="1" lang="ko-KR" altLang="en-US" sz="10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0568536-77C2-024B-F6B5-6B2FFBBCB2C8}"/>
              </a:ext>
            </a:extLst>
          </p:cNvPr>
          <p:cNvSpPr/>
          <p:nvPr/>
        </p:nvSpPr>
        <p:spPr>
          <a:xfrm>
            <a:off x="4422757" y="-1169089"/>
            <a:ext cx="2023708" cy="6825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(n</a:t>
            </a:r>
            <a:r>
              <a:rPr kumimoji="1" lang="ko-KR" altLang="en-US" sz="1000" dirty="0">
                <a:solidFill>
                  <a:sysClr val="windowText" lastClr="000000"/>
                </a:solidFill>
              </a:rPr>
              <a:t>대 구성 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Port:8081)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9" name="원통[C] 18">
            <a:extLst>
              <a:ext uri="{FF2B5EF4-FFF2-40B4-BE49-F238E27FC236}">
                <a16:creationId xmlns:a16="http://schemas.microsoft.com/office/drawing/2014/main" id="{43270DB4-1B5E-732C-F6F0-AF879919754E}"/>
              </a:ext>
            </a:extLst>
          </p:cNvPr>
          <p:cNvSpPr/>
          <p:nvPr/>
        </p:nvSpPr>
        <p:spPr>
          <a:xfrm>
            <a:off x="4628169" y="676978"/>
            <a:ext cx="1570244" cy="4892708"/>
          </a:xfrm>
          <a:prstGeom prst="can">
            <a:avLst>
              <a:gd name="adj" fmla="val 8809"/>
            </a:avLst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</a:t>
            </a:r>
          </a:p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Server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7398163-A74D-929D-4B7B-D593586C1DEC}"/>
              </a:ext>
            </a:extLst>
          </p:cNvPr>
          <p:cNvSpPr/>
          <p:nvPr/>
        </p:nvSpPr>
        <p:spPr>
          <a:xfrm>
            <a:off x="4815608" y="3507407"/>
            <a:ext cx="1197556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AdController</a:t>
            </a:r>
            <a:endParaRPr kumimoji="1" lang="ko-KR" altLang="en-US" sz="10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8881C02-01A9-CEFA-208F-5DE89A6E1954}"/>
              </a:ext>
            </a:extLst>
          </p:cNvPr>
          <p:cNvSpPr/>
          <p:nvPr/>
        </p:nvSpPr>
        <p:spPr>
          <a:xfrm>
            <a:off x="4815608" y="4033785"/>
            <a:ext cx="1197556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AdService</a:t>
            </a:r>
            <a:endParaRPr kumimoji="1" lang="ko-KR" altLang="en-US" sz="10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55C5DA7-D14F-4BD2-945D-E0BCE6FAA670}"/>
              </a:ext>
            </a:extLst>
          </p:cNvPr>
          <p:cNvSpPr/>
          <p:nvPr/>
        </p:nvSpPr>
        <p:spPr>
          <a:xfrm>
            <a:off x="4815608" y="4560163"/>
            <a:ext cx="1197556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AdEventProducer</a:t>
            </a:r>
            <a:endParaRPr kumimoji="1" lang="ko-KR" altLang="en-US" sz="10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3C20EA2-805C-151F-E525-7DFAAD7DB1ED}"/>
              </a:ext>
            </a:extLst>
          </p:cNvPr>
          <p:cNvSpPr/>
          <p:nvPr/>
        </p:nvSpPr>
        <p:spPr>
          <a:xfrm>
            <a:off x="4815608" y="1687824"/>
            <a:ext cx="1197556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AdApiApplication</a:t>
            </a:r>
            <a:endParaRPr kumimoji="1" lang="ko-KR" altLang="en-US" sz="1000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62535A6-4BAE-5AD3-999E-265B1B9A824D}"/>
              </a:ext>
            </a:extLst>
          </p:cNvPr>
          <p:cNvCxnSpPr>
            <a:stCxn id="23" idx="2"/>
            <a:endCxn id="20" idx="0"/>
          </p:cNvCxnSpPr>
          <p:nvPr/>
        </p:nvCxnSpPr>
        <p:spPr>
          <a:xfrm>
            <a:off x="5414386" y="2044505"/>
            <a:ext cx="0" cy="146290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D07F35C-113D-4CC1-D9AA-08F7687F22C8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5414386" y="3864088"/>
            <a:ext cx="0" cy="169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7B6B09F-9686-31F6-C728-8A9C140B874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5414386" y="4390466"/>
            <a:ext cx="0" cy="169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BEC8C939-373D-7A2E-C5AD-0DE20418771F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5413291" y="4916844"/>
            <a:ext cx="1095" cy="151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4F2B3B7-45A3-F7CC-16DF-717FDB3E8AA7}"/>
              </a:ext>
            </a:extLst>
          </p:cNvPr>
          <p:cNvSpPr/>
          <p:nvPr/>
        </p:nvSpPr>
        <p:spPr>
          <a:xfrm>
            <a:off x="4815608" y="5068129"/>
            <a:ext cx="1197556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spring-boot-starter-</a:t>
            </a:r>
            <a:r>
              <a:rPr kumimoji="1" lang="en-US" altLang="ko-KR" sz="800" dirty="0" err="1">
                <a:solidFill>
                  <a:sysClr val="windowText" lastClr="000000"/>
                </a:solidFill>
              </a:rPr>
              <a:t>kafka</a:t>
            </a:r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E94D0C0-F874-6DAF-4AE4-BDFBCC330E26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6013164" y="5249338"/>
            <a:ext cx="966590" cy="5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8347330-52F9-47F9-DB00-249E839ED887}"/>
              </a:ext>
            </a:extLst>
          </p:cNvPr>
          <p:cNvSpPr/>
          <p:nvPr/>
        </p:nvSpPr>
        <p:spPr>
          <a:xfrm>
            <a:off x="8931537" y="-1169090"/>
            <a:ext cx="4744705" cy="938417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ad-log-consumer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4" name="원통[C] 33">
            <a:extLst>
              <a:ext uri="{FF2B5EF4-FFF2-40B4-BE49-F238E27FC236}">
                <a16:creationId xmlns:a16="http://schemas.microsoft.com/office/drawing/2014/main" id="{6197F78C-34E3-C0BD-1FBF-5B035501882B}"/>
              </a:ext>
            </a:extLst>
          </p:cNvPr>
          <p:cNvSpPr/>
          <p:nvPr/>
        </p:nvSpPr>
        <p:spPr>
          <a:xfrm>
            <a:off x="9202947" y="676978"/>
            <a:ext cx="2805632" cy="6681313"/>
          </a:xfrm>
          <a:prstGeom prst="can">
            <a:avLst>
              <a:gd name="adj" fmla="val 8527"/>
            </a:avLst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ad-log-consumer App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89CB392-D420-E7B8-F14F-C7C7DD7A8C86}"/>
              </a:ext>
            </a:extLst>
          </p:cNvPr>
          <p:cNvSpPr/>
          <p:nvPr/>
        </p:nvSpPr>
        <p:spPr>
          <a:xfrm>
            <a:off x="9551984" y="5584268"/>
            <a:ext cx="1156624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AdLogConsumer</a:t>
            </a:r>
            <a:endParaRPr kumimoji="1" lang="ko-KR" altLang="en-US" sz="10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3BC14E5-1A84-0682-2926-8E5011EB1B0A}"/>
              </a:ext>
            </a:extLst>
          </p:cNvPr>
          <p:cNvSpPr/>
          <p:nvPr/>
        </p:nvSpPr>
        <p:spPr>
          <a:xfrm>
            <a:off x="9343266" y="1215344"/>
            <a:ext cx="2510450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AdLogConsumerApplication</a:t>
            </a:r>
            <a:endParaRPr kumimoji="1" lang="ko-KR" altLang="en-US" sz="10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BCA2D5D-EA9E-7B9D-1079-F9C748FF3E9C}"/>
              </a:ext>
            </a:extLst>
          </p:cNvPr>
          <p:cNvSpPr/>
          <p:nvPr/>
        </p:nvSpPr>
        <p:spPr>
          <a:xfrm>
            <a:off x="9551984" y="6578514"/>
            <a:ext cx="1156624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AdLogFileWriter</a:t>
            </a:r>
            <a:endParaRPr kumimoji="1" lang="ko-KR" altLang="en-US" sz="1000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E3741AA2-AF84-58EE-C236-B077FE42C5C4}"/>
              </a:ext>
            </a:extLst>
          </p:cNvPr>
          <p:cNvCxnSpPr>
            <a:cxnSpLocks/>
            <a:stCxn id="35" idx="2"/>
            <a:endCxn id="75" idx="0"/>
          </p:cNvCxnSpPr>
          <p:nvPr/>
        </p:nvCxnSpPr>
        <p:spPr>
          <a:xfrm>
            <a:off x="10130296" y="5940949"/>
            <a:ext cx="1920" cy="138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7F1FC02-87B4-38B9-90A0-3ED23A56387E}"/>
              </a:ext>
            </a:extLst>
          </p:cNvPr>
          <p:cNvSpPr/>
          <p:nvPr/>
        </p:nvSpPr>
        <p:spPr>
          <a:xfrm>
            <a:off x="9541751" y="5068129"/>
            <a:ext cx="1177090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spring-boot-starter-</a:t>
            </a:r>
            <a:r>
              <a:rPr kumimoji="1" lang="en-US" altLang="ko-KR" sz="800" dirty="0" err="1">
                <a:solidFill>
                  <a:sysClr val="windowText" lastClr="000000"/>
                </a:solidFill>
              </a:rPr>
              <a:t>kafka</a:t>
            </a:r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279EBAD-095D-99C2-ACDA-E17C552CB170}"/>
              </a:ext>
            </a:extLst>
          </p:cNvPr>
          <p:cNvCxnSpPr>
            <a:cxnSpLocks/>
            <a:stCxn id="40" idx="2"/>
            <a:endCxn id="35" idx="0"/>
          </p:cNvCxnSpPr>
          <p:nvPr/>
        </p:nvCxnSpPr>
        <p:spPr>
          <a:xfrm>
            <a:off x="10130296" y="5441130"/>
            <a:ext cx="0" cy="143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A9217F87-49B3-19D0-E740-A9F9B401DA43}"/>
              </a:ext>
            </a:extLst>
          </p:cNvPr>
          <p:cNvCxnSpPr>
            <a:cxnSpLocks/>
            <a:stCxn id="16" idx="3"/>
            <a:endCxn id="40" idx="1"/>
          </p:cNvCxnSpPr>
          <p:nvPr/>
        </p:nvCxnSpPr>
        <p:spPr>
          <a:xfrm>
            <a:off x="8276646" y="5249338"/>
            <a:ext cx="1265105" cy="5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F0B87541-8326-DA34-CA78-2DEFD519BB2E}"/>
              </a:ext>
            </a:extLst>
          </p:cNvPr>
          <p:cNvCxnSpPr>
            <a:cxnSpLocks/>
            <a:stCxn id="38" idx="3"/>
            <a:endCxn id="76" idx="1"/>
          </p:cNvCxnSpPr>
          <p:nvPr/>
        </p:nvCxnSpPr>
        <p:spPr>
          <a:xfrm>
            <a:off x="10708608" y="6756855"/>
            <a:ext cx="1493824" cy="2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DC4FEC4-4BB4-7256-B582-488F8D909832}"/>
              </a:ext>
            </a:extLst>
          </p:cNvPr>
          <p:cNvSpPr txBox="1"/>
          <p:nvPr/>
        </p:nvSpPr>
        <p:spPr>
          <a:xfrm>
            <a:off x="5905965" y="5061909"/>
            <a:ext cx="119295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SEND KAFKA EVENT (9092)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254CD2-DEF8-7E29-AC71-42DC0DFEB98C}"/>
              </a:ext>
            </a:extLst>
          </p:cNvPr>
          <p:cNvSpPr txBox="1"/>
          <p:nvPr/>
        </p:nvSpPr>
        <p:spPr>
          <a:xfrm>
            <a:off x="8351621" y="5050249"/>
            <a:ext cx="106792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KAFKA LISTENER (9092)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CD42C0B-3A47-7819-DFED-F28A6ADC77A7}"/>
              </a:ext>
            </a:extLst>
          </p:cNvPr>
          <p:cNvSpPr/>
          <p:nvPr/>
        </p:nvSpPr>
        <p:spPr>
          <a:xfrm>
            <a:off x="6973308" y="676978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adwhale-kafka-init</a:t>
            </a:r>
            <a:endParaRPr kumimoji="1" lang="ko-KR" altLang="en-US" sz="1000" dirty="0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FEE73744-02A8-EFD7-06F6-DDFBEFDD082F}"/>
              </a:ext>
            </a:extLst>
          </p:cNvPr>
          <p:cNvCxnSpPr>
            <a:cxnSpLocks/>
          </p:cNvCxnSpPr>
          <p:nvPr/>
        </p:nvCxnSpPr>
        <p:spPr>
          <a:xfrm>
            <a:off x="7546937" y="1033659"/>
            <a:ext cx="0" cy="403733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7B590D5B-6C7E-EE03-6E2C-DF2ED5D91E69}"/>
              </a:ext>
            </a:extLst>
          </p:cNvPr>
          <p:cNvSpPr/>
          <p:nvPr/>
        </p:nvSpPr>
        <p:spPr>
          <a:xfrm>
            <a:off x="-2797233" y="727728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203FF0EC-FE14-BE1C-DA17-E5139375BEBF}"/>
              </a:ext>
            </a:extLst>
          </p:cNvPr>
          <p:cNvSpPr/>
          <p:nvPr/>
        </p:nvSpPr>
        <p:spPr>
          <a:xfrm>
            <a:off x="-2797233" y="1266093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E3CB17F0-ACDF-E82E-2CFF-D0D82A034118}"/>
              </a:ext>
            </a:extLst>
          </p:cNvPr>
          <p:cNvSpPr/>
          <p:nvPr/>
        </p:nvSpPr>
        <p:spPr>
          <a:xfrm>
            <a:off x="-2797233" y="1738573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572CC652-B8EA-9B8A-D3DB-F6671E475071}"/>
              </a:ext>
            </a:extLst>
          </p:cNvPr>
          <p:cNvSpPr/>
          <p:nvPr/>
        </p:nvSpPr>
        <p:spPr>
          <a:xfrm>
            <a:off x="-2797233" y="3556617"/>
            <a:ext cx="233916" cy="25518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67922C11-01D7-02F0-7585-BC9C0FA3276D}"/>
              </a:ext>
            </a:extLst>
          </p:cNvPr>
          <p:cNvCxnSpPr>
            <a:cxnSpLocks/>
            <a:stCxn id="54" idx="6"/>
            <a:endCxn id="8" idx="1"/>
          </p:cNvCxnSpPr>
          <p:nvPr/>
        </p:nvCxnSpPr>
        <p:spPr>
          <a:xfrm>
            <a:off x="-2563317" y="3684208"/>
            <a:ext cx="2001042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타원 55">
            <a:extLst>
              <a:ext uri="{FF2B5EF4-FFF2-40B4-BE49-F238E27FC236}">
                <a16:creationId xmlns:a16="http://schemas.microsoft.com/office/drawing/2014/main" id="{CA60F3D5-69FF-0FEC-77B8-C061F21289DC}"/>
              </a:ext>
            </a:extLst>
          </p:cNvPr>
          <p:cNvSpPr/>
          <p:nvPr/>
        </p:nvSpPr>
        <p:spPr>
          <a:xfrm>
            <a:off x="-2797233" y="6629263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4003495-D325-EF1C-FC59-F567F173D659}"/>
              </a:ext>
            </a:extLst>
          </p:cNvPr>
          <p:cNvSpPr/>
          <p:nvPr/>
        </p:nvSpPr>
        <p:spPr>
          <a:xfrm>
            <a:off x="-570498" y="4560161"/>
            <a:ext cx="71422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광고노출</a:t>
            </a: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B3CE31B8-5208-DD23-35DF-C244514861E0}"/>
              </a:ext>
            </a:extLst>
          </p:cNvPr>
          <p:cNvCxnSpPr>
            <a:cxnSpLocks/>
            <a:stCxn id="9" idx="2"/>
            <a:endCxn id="58" idx="0"/>
          </p:cNvCxnSpPr>
          <p:nvPr/>
        </p:nvCxnSpPr>
        <p:spPr>
          <a:xfrm>
            <a:off x="-213387" y="4390466"/>
            <a:ext cx="0" cy="16969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47DB7F6-5C40-BC7E-04C0-EEF702F79A11}"/>
              </a:ext>
            </a:extLst>
          </p:cNvPr>
          <p:cNvSpPr/>
          <p:nvPr/>
        </p:nvSpPr>
        <p:spPr>
          <a:xfrm>
            <a:off x="-563852" y="5095182"/>
            <a:ext cx="71422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광고클릭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74D972FD-EB2B-3620-DA5D-E93F78D780CC}"/>
              </a:ext>
            </a:extLst>
          </p:cNvPr>
          <p:cNvSpPr/>
          <p:nvPr/>
        </p:nvSpPr>
        <p:spPr>
          <a:xfrm>
            <a:off x="-2797233" y="5146136"/>
            <a:ext cx="233916" cy="25518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D8563C1A-BA11-85F7-7844-6A82EA476AB6}"/>
              </a:ext>
            </a:extLst>
          </p:cNvPr>
          <p:cNvCxnSpPr>
            <a:cxnSpLocks/>
            <a:stCxn id="61" idx="6"/>
            <a:endCxn id="60" idx="1"/>
          </p:cNvCxnSpPr>
          <p:nvPr/>
        </p:nvCxnSpPr>
        <p:spPr>
          <a:xfrm flipV="1">
            <a:off x="-2563317" y="5273523"/>
            <a:ext cx="1999465" cy="20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FE48132-C1E0-F18B-9C33-C4AF7397717E}"/>
              </a:ext>
            </a:extLst>
          </p:cNvPr>
          <p:cNvSpPr txBox="1"/>
          <p:nvPr/>
        </p:nvSpPr>
        <p:spPr>
          <a:xfrm>
            <a:off x="-3718131" y="997413"/>
            <a:ext cx="20553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1.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Kafka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docker </a:t>
            </a:r>
            <a:r>
              <a:rPr kumimoji="1" lang="ko-KR" altLang="en-US" sz="1000" dirty="0">
                <a:solidFill>
                  <a:srgbClr val="0070C0"/>
                </a:solidFill>
              </a:rPr>
              <a:t>기동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9092)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E6DEA4-4E4A-7B85-8D37-6EE595C0A806}"/>
              </a:ext>
            </a:extLst>
          </p:cNvPr>
          <p:cNvSpPr txBox="1"/>
          <p:nvPr/>
        </p:nvSpPr>
        <p:spPr>
          <a:xfrm>
            <a:off x="-3593898" y="1517080"/>
            <a:ext cx="18069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2.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ad-log-consumer </a:t>
            </a:r>
            <a:r>
              <a:rPr kumimoji="1" lang="ko-KR" altLang="en-US" sz="1000" dirty="0">
                <a:solidFill>
                  <a:srgbClr val="0070C0"/>
                </a:solidFill>
              </a:rPr>
              <a:t>앱 기동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B105C32-9437-4504-25E4-3DF4A12D0F8F}"/>
              </a:ext>
            </a:extLst>
          </p:cNvPr>
          <p:cNvSpPr txBox="1"/>
          <p:nvPr/>
        </p:nvSpPr>
        <p:spPr>
          <a:xfrm>
            <a:off x="-3679659" y="2011287"/>
            <a:ext cx="19784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3.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ad-</a:t>
            </a:r>
            <a:r>
              <a:rPr kumimoji="1" lang="en-US" altLang="ko-KR" sz="1000" dirty="0" err="1">
                <a:solidFill>
                  <a:srgbClr val="0070C0"/>
                </a:solidFill>
              </a:rPr>
              <a:t>api</a:t>
            </a:r>
            <a:r>
              <a:rPr kumimoji="1" lang="en-US" altLang="ko-KR" sz="1000" dirty="0">
                <a:solidFill>
                  <a:srgbClr val="0070C0"/>
                </a:solidFill>
              </a:rPr>
              <a:t> </a:t>
            </a:r>
            <a:r>
              <a:rPr kumimoji="1" lang="ko-KR" altLang="en-US" sz="1000" dirty="0">
                <a:solidFill>
                  <a:srgbClr val="0070C0"/>
                </a:solidFill>
              </a:rPr>
              <a:t>서버 기동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8081)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B1375CA-7DFF-44B8-9385-63F4E7C46EEE}"/>
              </a:ext>
            </a:extLst>
          </p:cNvPr>
          <p:cNvSpPr txBox="1"/>
          <p:nvPr/>
        </p:nvSpPr>
        <p:spPr>
          <a:xfrm>
            <a:off x="-3262077" y="3823814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accent2"/>
                </a:solidFill>
              </a:rPr>
              <a:t>7.</a:t>
            </a:r>
            <a:r>
              <a:rPr kumimoji="1" lang="ko-KR" altLang="en-US" sz="1000" dirty="0">
                <a:solidFill>
                  <a:schemeClr val="accent2"/>
                </a:solidFill>
              </a:rPr>
              <a:t> 광고화면 진입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56D47D-4BB1-A223-3FE9-9DC3CFFC9245}"/>
              </a:ext>
            </a:extLst>
          </p:cNvPr>
          <p:cNvSpPr txBox="1"/>
          <p:nvPr/>
        </p:nvSpPr>
        <p:spPr>
          <a:xfrm>
            <a:off x="-3262077" y="5400771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accent2"/>
                </a:solidFill>
              </a:rPr>
              <a:t>8.</a:t>
            </a:r>
            <a:r>
              <a:rPr kumimoji="1" lang="ko-KR" altLang="en-US" sz="1000" dirty="0">
                <a:solidFill>
                  <a:schemeClr val="accent2"/>
                </a:solidFill>
              </a:rPr>
              <a:t> 광고화면 클릭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7B712F-DA9B-9B87-A1FD-7C7920F482C3}"/>
              </a:ext>
            </a:extLst>
          </p:cNvPr>
          <p:cNvSpPr txBox="1"/>
          <p:nvPr/>
        </p:nvSpPr>
        <p:spPr>
          <a:xfrm>
            <a:off x="-3597104" y="6889852"/>
            <a:ext cx="18133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6.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Kafka </a:t>
            </a:r>
            <a:r>
              <a:rPr kumimoji="1" lang="en-US" altLang="ko-KR" sz="1000" dirty="0" err="1">
                <a:solidFill>
                  <a:srgbClr val="0070C0"/>
                </a:solidFill>
              </a:rPr>
              <a:t>ui</a:t>
            </a:r>
            <a:r>
              <a:rPr kumimoji="1" lang="en-US" altLang="ko-KR" sz="1000" dirty="0">
                <a:solidFill>
                  <a:srgbClr val="0070C0"/>
                </a:solidFill>
              </a:rPr>
              <a:t> </a:t>
            </a:r>
            <a:r>
              <a:rPr kumimoji="1" lang="ko-KR" altLang="en-US" sz="1000" dirty="0">
                <a:solidFill>
                  <a:srgbClr val="0070C0"/>
                </a:solidFill>
              </a:rPr>
              <a:t>접속 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8989)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AE48B8C-B342-A470-3AA7-A34BEAB9705A}"/>
              </a:ext>
            </a:extLst>
          </p:cNvPr>
          <p:cNvSpPr/>
          <p:nvPr/>
        </p:nvSpPr>
        <p:spPr>
          <a:xfrm>
            <a:off x="7020965" y="-2894472"/>
            <a:ext cx="1128772" cy="6889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 err="1">
                <a:solidFill>
                  <a:sysClr val="windowText" lastClr="000000"/>
                </a:solidFill>
              </a:rPr>
              <a:t>Settings.gradle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70" name="꺾인 연결선[E] 69">
            <a:extLst>
              <a:ext uri="{FF2B5EF4-FFF2-40B4-BE49-F238E27FC236}">
                <a16:creationId xmlns:a16="http://schemas.microsoft.com/office/drawing/2014/main" id="{26E63A52-B09E-409A-4DFD-49B68505E341}"/>
              </a:ext>
            </a:extLst>
          </p:cNvPr>
          <p:cNvCxnSpPr>
            <a:cxnSpLocks/>
            <a:stCxn id="69" idx="2"/>
            <a:endCxn id="18" idx="0"/>
          </p:cNvCxnSpPr>
          <p:nvPr/>
        </p:nvCxnSpPr>
        <p:spPr>
          <a:xfrm rot="5400000">
            <a:off x="5991770" y="-2762671"/>
            <a:ext cx="1036423" cy="2150740"/>
          </a:xfrm>
          <a:prstGeom prst="bentConnector3">
            <a:avLst>
              <a:gd name="adj1" fmla="val 49036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꺾인 연결선[E] 70">
            <a:extLst>
              <a:ext uri="{FF2B5EF4-FFF2-40B4-BE49-F238E27FC236}">
                <a16:creationId xmlns:a16="http://schemas.microsoft.com/office/drawing/2014/main" id="{67D9A642-1C12-BF71-C036-7485519E657C}"/>
              </a:ext>
            </a:extLst>
          </p:cNvPr>
          <p:cNvCxnSpPr>
            <a:cxnSpLocks/>
            <a:stCxn id="69" idx="2"/>
            <a:endCxn id="33" idx="0"/>
          </p:cNvCxnSpPr>
          <p:nvPr/>
        </p:nvCxnSpPr>
        <p:spPr>
          <a:xfrm rot="16200000" flipH="1">
            <a:off x="8926409" y="-3546571"/>
            <a:ext cx="1036422" cy="371853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9E11A7EF-7B13-782D-351A-2BC4CD6BDC47}"/>
              </a:ext>
            </a:extLst>
          </p:cNvPr>
          <p:cNvCxnSpPr>
            <a:cxnSpLocks/>
            <a:stCxn id="69" idx="3"/>
            <a:endCxn id="11" idx="1"/>
          </p:cNvCxnSpPr>
          <p:nvPr/>
        </p:nvCxnSpPr>
        <p:spPr>
          <a:xfrm>
            <a:off x="8149737" y="-2549992"/>
            <a:ext cx="291773" cy="581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꺾인 연결선[E] 72">
            <a:extLst>
              <a:ext uri="{FF2B5EF4-FFF2-40B4-BE49-F238E27FC236}">
                <a16:creationId xmlns:a16="http://schemas.microsoft.com/office/drawing/2014/main" id="{B2CCDFE6-976F-4B35-4E37-9057C7EA41EE}"/>
              </a:ext>
            </a:extLst>
          </p:cNvPr>
          <p:cNvCxnSpPr>
            <a:cxnSpLocks/>
            <a:stCxn id="102" idx="2"/>
            <a:endCxn id="15" idx="0"/>
          </p:cNvCxnSpPr>
          <p:nvPr/>
        </p:nvCxnSpPr>
        <p:spPr>
          <a:xfrm rot="16200000" flipH="1">
            <a:off x="5876519" y="-2905081"/>
            <a:ext cx="1032415" cy="2439566"/>
          </a:xfrm>
          <a:prstGeom prst="bentConnector3">
            <a:avLst>
              <a:gd name="adj1" fmla="val 74313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F24F133-AA0C-5882-497C-B6EE2873B0A7}"/>
              </a:ext>
            </a:extLst>
          </p:cNvPr>
          <p:cNvSpPr/>
          <p:nvPr/>
        </p:nvSpPr>
        <p:spPr>
          <a:xfrm>
            <a:off x="9553904" y="6079640"/>
            <a:ext cx="1156624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KafkaErrorConfig</a:t>
            </a:r>
            <a:endParaRPr kumimoji="1" lang="en-US" altLang="ko-KR" sz="1000" dirty="0"/>
          </a:p>
          <a:p>
            <a:pPr algn="ctr"/>
            <a:r>
              <a:rPr kumimoji="1" lang="en-US" altLang="ko-KR" sz="1000" dirty="0"/>
              <a:t>(DLQ)</a:t>
            </a:r>
            <a:endParaRPr kumimoji="1" lang="ko-KR" altLang="en-US" sz="1000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7FE139B-D9E2-68FD-3D23-F379DE917128}"/>
              </a:ext>
            </a:extLst>
          </p:cNvPr>
          <p:cNvSpPr/>
          <p:nvPr/>
        </p:nvSpPr>
        <p:spPr>
          <a:xfrm>
            <a:off x="12202432" y="6580834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*-{topic</a:t>
            </a:r>
            <a:r>
              <a:rPr kumimoji="1" lang="ko-KR" altLang="en-US" sz="1000" dirty="0"/>
              <a:t>명</a:t>
            </a:r>
            <a:r>
              <a:rPr kumimoji="1" lang="en-US" altLang="ko-KR" sz="1000" dirty="0"/>
              <a:t>}.log</a:t>
            </a:r>
            <a:endParaRPr kumimoji="1" lang="ko-KR" altLang="en-US" sz="1000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AD933A5-1FB1-0B09-C019-83400EBE78CC}"/>
              </a:ext>
            </a:extLst>
          </p:cNvPr>
          <p:cNvSpPr/>
          <p:nvPr/>
        </p:nvSpPr>
        <p:spPr>
          <a:xfrm>
            <a:off x="6979754" y="6079639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ad-request-dlq-0/*.log</a:t>
            </a:r>
            <a:endParaRPr kumimoji="1" lang="ko-KR" altLang="en-US" sz="1000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73CC853-1EEE-C756-B408-82B2CD880D1A}"/>
              </a:ext>
            </a:extLst>
          </p:cNvPr>
          <p:cNvSpPr/>
          <p:nvPr/>
        </p:nvSpPr>
        <p:spPr>
          <a:xfrm>
            <a:off x="6979754" y="5584268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ad-request-0/*.log</a:t>
            </a:r>
            <a:endParaRPr kumimoji="1" lang="ko-KR" altLang="en-US" sz="1000" dirty="0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C8976BC5-F63C-7DA8-ED2C-7D4FBE1268A4}"/>
              </a:ext>
            </a:extLst>
          </p:cNvPr>
          <p:cNvCxnSpPr>
            <a:cxnSpLocks/>
            <a:stCxn id="16" idx="2"/>
            <a:endCxn id="78" idx="0"/>
          </p:cNvCxnSpPr>
          <p:nvPr/>
        </p:nvCxnSpPr>
        <p:spPr>
          <a:xfrm>
            <a:off x="7628200" y="5427678"/>
            <a:ext cx="0" cy="156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0" name="꺾인 연결선[E] 79">
            <a:extLst>
              <a:ext uri="{FF2B5EF4-FFF2-40B4-BE49-F238E27FC236}">
                <a16:creationId xmlns:a16="http://schemas.microsoft.com/office/drawing/2014/main" id="{3887F8F6-ADDC-B036-F030-B2D318D1A9BC}"/>
              </a:ext>
            </a:extLst>
          </p:cNvPr>
          <p:cNvCxnSpPr>
            <a:cxnSpLocks/>
            <a:stCxn id="75" idx="3"/>
            <a:endCxn id="16" idx="0"/>
          </p:cNvCxnSpPr>
          <p:nvPr/>
        </p:nvCxnSpPr>
        <p:spPr>
          <a:xfrm flipH="1" flipV="1">
            <a:off x="7628200" y="5070997"/>
            <a:ext cx="3082328" cy="1186984"/>
          </a:xfrm>
          <a:prstGeom prst="bentConnector4">
            <a:avLst>
              <a:gd name="adj1" fmla="val -7416"/>
              <a:gd name="adj2" fmla="val 134331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1" name="꺾인 연결선[E] 80">
            <a:extLst>
              <a:ext uri="{FF2B5EF4-FFF2-40B4-BE49-F238E27FC236}">
                <a16:creationId xmlns:a16="http://schemas.microsoft.com/office/drawing/2014/main" id="{CF770081-EFD5-B3A6-DD9E-BDD65F4F7929}"/>
              </a:ext>
            </a:extLst>
          </p:cNvPr>
          <p:cNvCxnSpPr>
            <a:cxnSpLocks/>
          </p:cNvCxnSpPr>
          <p:nvPr/>
        </p:nvCxnSpPr>
        <p:spPr>
          <a:xfrm>
            <a:off x="8276646" y="5299216"/>
            <a:ext cx="12700" cy="1008642"/>
          </a:xfrm>
          <a:prstGeom prst="bentConnector3">
            <a:avLst>
              <a:gd name="adj1" fmla="val 883638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2" name="꺾인 연결선[E] 81">
            <a:extLst>
              <a:ext uri="{FF2B5EF4-FFF2-40B4-BE49-F238E27FC236}">
                <a16:creationId xmlns:a16="http://schemas.microsoft.com/office/drawing/2014/main" id="{F3A71062-3198-B5C4-E3FE-9E2AC09D8C87}"/>
              </a:ext>
            </a:extLst>
          </p:cNvPr>
          <p:cNvCxnSpPr>
            <a:cxnSpLocks/>
          </p:cNvCxnSpPr>
          <p:nvPr/>
        </p:nvCxnSpPr>
        <p:spPr>
          <a:xfrm>
            <a:off x="8276646" y="6307858"/>
            <a:ext cx="12700" cy="498875"/>
          </a:xfrm>
          <a:prstGeom prst="bentConnector3">
            <a:avLst>
              <a:gd name="adj1" fmla="val 883638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3" name="꺾인 연결선[E] 82">
            <a:extLst>
              <a:ext uri="{FF2B5EF4-FFF2-40B4-BE49-F238E27FC236}">
                <a16:creationId xmlns:a16="http://schemas.microsoft.com/office/drawing/2014/main" id="{095D321A-FF0D-D15C-03D3-DD3BF50CBC03}"/>
              </a:ext>
            </a:extLst>
          </p:cNvPr>
          <p:cNvCxnSpPr>
            <a:cxnSpLocks/>
            <a:stCxn id="78" idx="1"/>
            <a:endCxn id="17" idx="0"/>
          </p:cNvCxnSpPr>
          <p:nvPr/>
        </p:nvCxnSpPr>
        <p:spPr>
          <a:xfrm rot="10800000" flipH="1" flipV="1">
            <a:off x="6979754" y="5762608"/>
            <a:ext cx="648446" cy="815905"/>
          </a:xfrm>
          <a:prstGeom prst="bentConnector4">
            <a:avLst>
              <a:gd name="adj1" fmla="val -14743"/>
              <a:gd name="adj2" fmla="val 87419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4" name="꺾인 연결선[E] 83">
            <a:extLst>
              <a:ext uri="{FF2B5EF4-FFF2-40B4-BE49-F238E27FC236}">
                <a16:creationId xmlns:a16="http://schemas.microsoft.com/office/drawing/2014/main" id="{2D4FFB22-964A-4C97-E070-FBBE18B8E972}"/>
              </a:ext>
            </a:extLst>
          </p:cNvPr>
          <p:cNvCxnSpPr>
            <a:cxnSpLocks/>
            <a:stCxn id="35" idx="1"/>
            <a:endCxn id="38" idx="1"/>
          </p:cNvCxnSpPr>
          <p:nvPr/>
        </p:nvCxnSpPr>
        <p:spPr>
          <a:xfrm rot="10800000" flipV="1">
            <a:off x="9551984" y="5762609"/>
            <a:ext cx="12700" cy="99424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5F5870D-B812-AB46-211C-B515D899DBC0}"/>
              </a:ext>
            </a:extLst>
          </p:cNvPr>
          <p:cNvSpPr/>
          <p:nvPr/>
        </p:nvSpPr>
        <p:spPr>
          <a:xfrm>
            <a:off x="6973308" y="5569686"/>
            <a:ext cx="832327" cy="86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500" b="1" dirty="0"/>
              <a:t>디폴트 보관기간</a:t>
            </a:r>
            <a:r>
              <a:rPr kumimoji="1" lang="en-US" altLang="ko-KR" sz="500" b="1" dirty="0"/>
              <a:t>:</a:t>
            </a:r>
            <a:r>
              <a:rPr kumimoji="1" lang="ko-KR" altLang="en-US" sz="500" b="1" dirty="0"/>
              <a:t> </a:t>
            </a:r>
            <a:r>
              <a:rPr kumimoji="1" lang="en-US" altLang="ko-KR" sz="500" b="1" dirty="0"/>
              <a:t>7</a:t>
            </a:r>
            <a:r>
              <a:rPr kumimoji="1" lang="ko-KR" altLang="en-US" sz="500" b="1" dirty="0"/>
              <a:t>일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E51ACF83-6A31-1D00-5414-1C47419ED3B3}"/>
              </a:ext>
            </a:extLst>
          </p:cNvPr>
          <p:cNvSpPr/>
          <p:nvPr/>
        </p:nvSpPr>
        <p:spPr>
          <a:xfrm>
            <a:off x="6973308" y="6062481"/>
            <a:ext cx="832327" cy="8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500" b="1" dirty="0"/>
              <a:t>디폴트 보관기간</a:t>
            </a:r>
            <a:r>
              <a:rPr kumimoji="1" lang="en-US" altLang="ko-KR" sz="500" b="1" dirty="0"/>
              <a:t>:</a:t>
            </a:r>
            <a:r>
              <a:rPr kumimoji="1" lang="ko-KR" altLang="en-US" sz="500" b="1" dirty="0"/>
              <a:t> </a:t>
            </a:r>
            <a:r>
              <a:rPr kumimoji="1" lang="en-US" altLang="ko-KR" sz="500" b="1" dirty="0"/>
              <a:t>7</a:t>
            </a:r>
            <a:r>
              <a:rPr kumimoji="1" lang="ko-KR" altLang="en-US" sz="500" b="1" dirty="0"/>
              <a:t>일</a:t>
            </a:r>
          </a:p>
        </p:txBody>
      </p:sp>
      <p:sp>
        <p:nvSpPr>
          <p:cNvPr id="88" name="번개[L] 87">
            <a:extLst>
              <a:ext uri="{FF2B5EF4-FFF2-40B4-BE49-F238E27FC236}">
                <a16:creationId xmlns:a16="http://schemas.microsoft.com/office/drawing/2014/main" id="{E1F787A2-7A85-DE63-0E67-8C0919CD6CB9}"/>
              </a:ext>
            </a:extLst>
          </p:cNvPr>
          <p:cNvSpPr/>
          <p:nvPr/>
        </p:nvSpPr>
        <p:spPr>
          <a:xfrm>
            <a:off x="6670273" y="308605"/>
            <a:ext cx="442543" cy="390649"/>
          </a:xfrm>
          <a:prstGeom prst="lightningBol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9" name="번개[L] 88">
            <a:extLst>
              <a:ext uri="{FF2B5EF4-FFF2-40B4-BE49-F238E27FC236}">
                <a16:creationId xmlns:a16="http://schemas.microsoft.com/office/drawing/2014/main" id="{2FA3B1CD-724B-6A71-9124-B120F8A96D2C}"/>
              </a:ext>
            </a:extLst>
          </p:cNvPr>
          <p:cNvSpPr/>
          <p:nvPr/>
        </p:nvSpPr>
        <p:spPr>
          <a:xfrm>
            <a:off x="8867957" y="910711"/>
            <a:ext cx="442543" cy="390649"/>
          </a:xfrm>
          <a:prstGeom prst="lightningBol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0" name="모서리가 둥근 사각형 설명선[R] 89">
            <a:extLst>
              <a:ext uri="{FF2B5EF4-FFF2-40B4-BE49-F238E27FC236}">
                <a16:creationId xmlns:a16="http://schemas.microsoft.com/office/drawing/2014/main" id="{AB1400EE-6AB0-5D35-2770-DD7741F35CA9}"/>
              </a:ext>
            </a:extLst>
          </p:cNvPr>
          <p:cNvSpPr/>
          <p:nvPr/>
        </p:nvSpPr>
        <p:spPr>
          <a:xfrm>
            <a:off x="6215286" y="4863457"/>
            <a:ext cx="631082" cy="161654"/>
          </a:xfrm>
          <a:prstGeom prst="wedgeRoundRectCallout">
            <a:avLst>
              <a:gd name="adj1" fmla="val -12484"/>
              <a:gd name="adj2" fmla="val 98496"/>
              <a:gd name="adj3" fmla="val 16667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600" dirty="0" err="1">
                <a:solidFill>
                  <a:schemeClr val="tx1"/>
                </a:solidFill>
              </a:rPr>
              <a:t>버퍼큐사용</a:t>
            </a:r>
            <a:endParaRPr kumimoji="1"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91" name="모서리가 둥근 사각형 설명선[R] 90">
            <a:extLst>
              <a:ext uri="{FF2B5EF4-FFF2-40B4-BE49-F238E27FC236}">
                <a16:creationId xmlns:a16="http://schemas.microsoft.com/office/drawing/2014/main" id="{F4B6B836-FBA3-CABF-7C86-E5F410CFC11B}"/>
              </a:ext>
            </a:extLst>
          </p:cNvPr>
          <p:cNvSpPr/>
          <p:nvPr/>
        </p:nvSpPr>
        <p:spPr>
          <a:xfrm>
            <a:off x="8606574" y="4814959"/>
            <a:ext cx="631082" cy="161654"/>
          </a:xfrm>
          <a:prstGeom prst="wedgeRoundRectCallout">
            <a:avLst>
              <a:gd name="adj1" fmla="val -12484"/>
              <a:gd name="adj2" fmla="val 98496"/>
              <a:gd name="adj3" fmla="val 16667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>
                <a:solidFill>
                  <a:schemeClr val="tx1"/>
                </a:solidFill>
              </a:rPr>
              <a:t>polling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D6AEDE9-7392-A31D-241D-59F4F7FE6531}"/>
              </a:ext>
            </a:extLst>
          </p:cNvPr>
          <p:cNvSpPr/>
          <p:nvPr/>
        </p:nvSpPr>
        <p:spPr>
          <a:xfrm>
            <a:off x="4422757" y="5777579"/>
            <a:ext cx="2023708" cy="3388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(n</a:t>
            </a:r>
            <a:r>
              <a:rPr kumimoji="1" lang="ko-KR" altLang="en-US" sz="1000" dirty="0">
                <a:solidFill>
                  <a:sysClr val="windowText" lastClr="000000"/>
                </a:solidFill>
              </a:rPr>
              <a:t>대 구성 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Port:8082)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3553FF3-B010-103A-42C6-E649725CC7E7}"/>
              </a:ext>
            </a:extLst>
          </p:cNvPr>
          <p:cNvSpPr/>
          <p:nvPr/>
        </p:nvSpPr>
        <p:spPr>
          <a:xfrm>
            <a:off x="4422757" y="6226508"/>
            <a:ext cx="2023708" cy="3388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(n</a:t>
            </a:r>
            <a:r>
              <a:rPr kumimoji="1" lang="ko-KR" altLang="en-US" sz="1000" dirty="0">
                <a:solidFill>
                  <a:sysClr val="windowText" lastClr="000000"/>
                </a:solidFill>
              </a:rPr>
              <a:t>대 구성 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Port:8083)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7B61C07-ABDB-C2F9-1AD6-20C3B8C4B429}"/>
              </a:ext>
            </a:extLst>
          </p:cNvPr>
          <p:cNvSpPr txBox="1"/>
          <p:nvPr/>
        </p:nvSpPr>
        <p:spPr>
          <a:xfrm>
            <a:off x="5306531" y="6497896"/>
            <a:ext cx="2135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/>
              <a:t>.</a:t>
            </a:r>
          </a:p>
          <a:p>
            <a:r>
              <a:rPr kumimoji="1" lang="en-US" altLang="ko-KR" sz="1000" dirty="0"/>
              <a:t>.</a:t>
            </a:r>
          </a:p>
          <a:p>
            <a:r>
              <a:rPr kumimoji="1" lang="en-US" altLang="ko-KR" sz="1000" dirty="0"/>
              <a:t>.</a:t>
            </a:r>
          </a:p>
        </p:txBody>
      </p:sp>
      <p:sp>
        <p:nvSpPr>
          <p:cNvPr id="99" name="모서리가 둥근 사각형 설명선[R] 98">
            <a:extLst>
              <a:ext uri="{FF2B5EF4-FFF2-40B4-BE49-F238E27FC236}">
                <a16:creationId xmlns:a16="http://schemas.microsoft.com/office/drawing/2014/main" id="{0ADEF84C-19F6-866D-0889-7B7E18A86E47}"/>
              </a:ext>
            </a:extLst>
          </p:cNvPr>
          <p:cNvSpPr/>
          <p:nvPr/>
        </p:nvSpPr>
        <p:spPr>
          <a:xfrm>
            <a:off x="10804538" y="98825"/>
            <a:ext cx="2694786" cy="663949"/>
          </a:xfrm>
          <a:prstGeom prst="wedgeRoundRectCallout">
            <a:avLst>
              <a:gd name="adj1" fmla="val -21596"/>
              <a:gd name="adj2" fmla="val 139301"/>
              <a:gd name="adj3" fmla="val 16667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ad-log-consumer </a:t>
            </a:r>
            <a:r>
              <a:rPr kumimoji="1" lang="ko-KR" altLang="en-US" sz="600" dirty="0">
                <a:solidFill>
                  <a:srgbClr val="FF0000"/>
                </a:solidFill>
              </a:rPr>
              <a:t>장애대응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v1/ad/request : 200(</a:t>
            </a:r>
            <a:r>
              <a:rPr kumimoji="1" lang="ko-KR" altLang="en-US" sz="600" dirty="0">
                <a:solidFill>
                  <a:srgbClr val="FF0000"/>
                </a:solidFill>
              </a:rPr>
              <a:t>비동기처리</a:t>
            </a:r>
            <a:r>
              <a:rPr kumimoji="1" lang="en-US" altLang="ko-KR" sz="600" dirty="0">
                <a:solidFill>
                  <a:srgbClr val="FF0000"/>
                </a:solidFill>
              </a:rPr>
              <a:t>)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v1/ad/request : 204(No Fill,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adId</a:t>
            </a:r>
            <a:r>
              <a:rPr kumimoji="1" lang="en-US" altLang="ko-KR" sz="600" dirty="0">
                <a:solidFill>
                  <a:srgbClr val="FF0000"/>
                </a:solidFill>
              </a:rPr>
              <a:t>=null)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v1/ad/impression, click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503(</a:t>
            </a:r>
            <a:r>
              <a:rPr kumimoji="1" lang="ko-KR" altLang="en-US" sz="600" dirty="0">
                <a:solidFill>
                  <a:srgbClr val="FF0000"/>
                </a:solidFill>
              </a:rPr>
              <a:t>동기처리</a:t>
            </a:r>
            <a:r>
              <a:rPr kumimoji="1" lang="en-US" altLang="ko-KR" sz="600" dirty="0">
                <a:solidFill>
                  <a:srgbClr val="FF0000"/>
                </a:solidFill>
              </a:rPr>
              <a:t>).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eventId</a:t>
            </a:r>
            <a:r>
              <a:rPr kumimoji="1" lang="ko-KR" altLang="en-US" sz="600" dirty="0">
                <a:solidFill>
                  <a:srgbClr val="FF0000"/>
                </a:solidFill>
              </a:rPr>
              <a:t>로 중복처리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1)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Docker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kafka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에</a:t>
            </a:r>
            <a:r>
              <a:rPr kumimoji="1" lang="ko-KR" altLang="en-US" sz="600" dirty="0">
                <a:solidFill>
                  <a:srgbClr val="FF0000"/>
                </a:solidFill>
              </a:rPr>
              <a:t> 메시지 쌓이고 </a:t>
            </a:r>
            <a:r>
              <a:rPr kumimoji="1" lang="en-US" altLang="ko-KR" sz="600" dirty="0">
                <a:solidFill>
                  <a:srgbClr val="FF0000"/>
                </a:solidFill>
              </a:rPr>
              <a:t>&gt;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ad-log-consumer </a:t>
            </a:r>
            <a:r>
              <a:rPr kumimoji="1" lang="ko-KR" altLang="en-US" sz="600" dirty="0">
                <a:solidFill>
                  <a:srgbClr val="FF0000"/>
                </a:solidFill>
              </a:rPr>
              <a:t>가 켜지면 마지막 기록된 </a:t>
            </a:r>
            <a:r>
              <a:rPr kumimoji="1" lang="en-US" altLang="ko-KR" sz="600" dirty="0">
                <a:solidFill>
                  <a:srgbClr val="FF0000"/>
                </a:solidFill>
              </a:rPr>
              <a:t>offset 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부터</a:t>
            </a:r>
            <a:r>
              <a:rPr kumimoji="1" lang="ko-KR" altLang="en-US" sz="600" dirty="0">
                <a:solidFill>
                  <a:srgbClr val="FF0000"/>
                </a:solidFill>
              </a:rPr>
              <a:t> 밀린 메시지를 전부 처리</a:t>
            </a:r>
            <a:endParaRPr kumimoji="1" lang="en-US" altLang="ko-KR" sz="600" dirty="0">
              <a:solidFill>
                <a:srgbClr val="FF0000"/>
              </a:solidFill>
            </a:endParaRPr>
          </a:p>
        </p:txBody>
      </p:sp>
      <p:sp>
        <p:nvSpPr>
          <p:cNvPr id="100" name="모서리가 둥근 사각형 설명선[R] 99">
            <a:extLst>
              <a:ext uri="{FF2B5EF4-FFF2-40B4-BE49-F238E27FC236}">
                <a16:creationId xmlns:a16="http://schemas.microsoft.com/office/drawing/2014/main" id="{B9F787C2-7485-2EE1-7B50-C97F208FF94C}"/>
              </a:ext>
            </a:extLst>
          </p:cNvPr>
          <p:cNvSpPr/>
          <p:nvPr/>
        </p:nvSpPr>
        <p:spPr>
          <a:xfrm>
            <a:off x="7112816" y="-103725"/>
            <a:ext cx="3408571" cy="780702"/>
          </a:xfrm>
          <a:prstGeom prst="wedgeRoundRectCallout">
            <a:avLst>
              <a:gd name="adj1" fmla="val -38134"/>
              <a:gd name="adj2" fmla="val 61200"/>
              <a:gd name="adj3" fmla="val 16667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Docker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kafka</a:t>
            </a:r>
            <a:r>
              <a:rPr kumimoji="1" lang="en-US" altLang="ko-KR" sz="600" dirty="0">
                <a:solidFill>
                  <a:srgbClr val="FF0000"/>
                </a:solidFill>
              </a:rPr>
              <a:t> </a:t>
            </a:r>
            <a:r>
              <a:rPr kumimoji="1" lang="ko-KR" altLang="en-US" sz="600" dirty="0">
                <a:solidFill>
                  <a:srgbClr val="FF0000"/>
                </a:solidFill>
              </a:rPr>
              <a:t>장애대응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v1/ad/request : 200(</a:t>
            </a:r>
            <a:r>
              <a:rPr kumimoji="1" lang="ko-KR" altLang="en-US" sz="600" dirty="0">
                <a:solidFill>
                  <a:srgbClr val="FF0000"/>
                </a:solidFill>
              </a:rPr>
              <a:t>비동기처리</a:t>
            </a:r>
            <a:r>
              <a:rPr kumimoji="1" lang="en-US" altLang="ko-KR" sz="600" dirty="0">
                <a:solidFill>
                  <a:srgbClr val="FF0000"/>
                </a:solidFill>
              </a:rPr>
              <a:t>)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v1/ad/request : 204(No Fill,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adId</a:t>
            </a:r>
            <a:r>
              <a:rPr kumimoji="1" lang="en-US" altLang="ko-KR" sz="600" dirty="0">
                <a:solidFill>
                  <a:srgbClr val="FF0000"/>
                </a:solidFill>
              </a:rPr>
              <a:t>=null)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v1/ad/impression, click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503(</a:t>
            </a:r>
            <a:r>
              <a:rPr kumimoji="1" lang="ko-KR" altLang="en-US" sz="600" dirty="0">
                <a:solidFill>
                  <a:srgbClr val="FF0000"/>
                </a:solidFill>
              </a:rPr>
              <a:t>동기처리</a:t>
            </a:r>
            <a:r>
              <a:rPr kumimoji="1" lang="en-US" altLang="ko-KR" sz="600" dirty="0">
                <a:solidFill>
                  <a:srgbClr val="FF0000"/>
                </a:solidFill>
              </a:rPr>
              <a:t>).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eventId</a:t>
            </a:r>
            <a:r>
              <a:rPr kumimoji="1" lang="ko-KR" altLang="en-US" sz="600" dirty="0">
                <a:solidFill>
                  <a:srgbClr val="FF0000"/>
                </a:solidFill>
              </a:rPr>
              <a:t>로 중복처리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Kafka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여러대</a:t>
            </a:r>
            <a:r>
              <a:rPr kumimoji="1" lang="ko-KR" altLang="en-US" sz="600" dirty="0">
                <a:solidFill>
                  <a:srgbClr val="FF0000"/>
                </a:solidFill>
              </a:rPr>
              <a:t> 두기</a:t>
            </a:r>
            <a:r>
              <a:rPr kumimoji="1" lang="en-US" altLang="ko-KR" sz="600" dirty="0">
                <a:solidFill>
                  <a:srgbClr val="FF0000"/>
                </a:solidFill>
              </a:rPr>
              <a:t>(</a:t>
            </a:r>
            <a:r>
              <a:rPr kumimoji="1" lang="ko-KR" altLang="en-US" sz="600" dirty="0">
                <a:solidFill>
                  <a:srgbClr val="FF0000"/>
                </a:solidFill>
              </a:rPr>
              <a:t>추후예정</a:t>
            </a:r>
            <a:r>
              <a:rPr kumimoji="1" lang="en-US" altLang="ko-KR" sz="600" dirty="0">
                <a:solidFill>
                  <a:srgbClr val="FF0000"/>
                </a:solidFill>
              </a:rPr>
              <a:t>)</a:t>
            </a:r>
          </a:p>
          <a:p>
            <a:pPr algn="ctr"/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1)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ad-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api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에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kafka</a:t>
            </a:r>
            <a:r>
              <a:rPr kumimoji="1" lang="ko-KR" altLang="en-US" sz="600" dirty="0">
                <a:solidFill>
                  <a:srgbClr val="FF0000"/>
                </a:solidFill>
              </a:rPr>
              <a:t>가 붙어있는 상태에서 잠깐 죽는 경우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2</a:t>
            </a:r>
            <a:r>
              <a:rPr kumimoji="1" lang="ko-KR" altLang="en-US" sz="600" dirty="0">
                <a:solidFill>
                  <a:srgbClr val="FF0000"/>
                </a:solidFill>
              </a:rPr>
              <a:t>분 안에 돌아오면 유실</a:t>
            </a:r>
            <a:r>
              <a:rPr kumimoji="1" lang="en-US" altLang="ko-KR" sz="600" dirty="0">
                <a:solidFill>
                  <a:srgbClr val="FF0000"/>
                </a:solidFill>
              </a:rPr>
              <a:t>x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2) Kafka</a:t>
            </a:r>
            <a:r>
              <a:rPr kumimoji="1" lang="ko-KR" altLang="en-US" sz="600" dirty="0">
                <a:solidFill>
                  <a:srgbClr val="FF0000"/>
                </a:solidFill>
              </a:rPr>
              <a:t>가 죽은 상태에서 </a:t>
            </a:r>
            <a:r>
              <a:rPr kumimoji="1" lang="en-US" altLang="ko-KR" sz="600" dirty="0">
                <a:solidFill>
                  <a:srgbClr val="FF0000"/>
                </a:solidFill>
              </a:rPr>
              <a:t>ad-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api</a:t>
            </a:r>
            <a:r>
              <a:rPr kumimoji="1" lang="ko-KR" altLang="en-US" sz="600" dirty="0">
                <a:solidFill>
                  <a:srgbClr val="FF0000"/>
                </a:solidFill>
              </a:rPr>
              <a:t> 켠 경우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max.block.ms</a:t>
            </a:r>
            <a:r>
              <a:rPr kumimoji="1" lang="ko-KR" altLang="en-US" sz="600" dirty="0">
                <a:solidFill>
                  <a:srgbClr val="FF0000"/>
                </a:solidFill>
              </a:rPr>
              <a:t>설정 </a:t>
            </a:r>
            <a:r>
              <a:rPr kumimoji="1" lang="en-US" altLang="ko-KR" sz="600" dirty="0">
                <a:solidFill>
                  <a:srgbClr val="FF0000"/>
                </a:solidFill>
              </a:rPr>
              <a:t>3</a:t>
            </a:r>
            <a:r>
              <a:rPr kumimoji="1" lang="ko-KR" altLang="en-US" sz="600" dirty="0">
                <a:solidFill>
                  <a:srgbClr val="FF0000"/>
                </a:solidFill>
              </a:rPr>
              <a:t>초씩 느려지고 이벤트 유실됨</a:t>
            </a:r>
            <a:r>
              <a:rPr kumimoji="1" lang="en-US" altLang="ko-KR" sz="600" dirty="0">
                <a:solidFill>
                  <a:srgbClr val="FF0000"/>
                </a:solidFill>
              </a:rPr>
              <a:t>.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endParaRPr kumimoji="1" lang="en-US" altLang="ko-KR" sz="600" dirty="0">
              <a:solidFill>
                <a:srgbClr val="FF0000"/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42C4E3EF-848F-C85F-48D1-6BBAA1005681}"/>
              </a:ext>
            </a:extLst>
          </p:cNvPr>
          <p:cNvSpPr/>
          <p:nvPr/>
        </p:nvSpPr>
        <p:spPr>
          <a:xfrm>
            <a:off x="4422757" y="-2894474"/>
            <a:ext cx="1494255" cy="28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Nginx/ad-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api.conf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135094F-7E28-5826-F4C7-EB46A3782345}"/>
              </a:ext>
            </a:extLst>
          </p:cNvPr>
          <p:cNvSpPr/>
          <p:nvPr/>
        </p:nvSpPr>
        <p:spPr>
          <a:xfrm>
            <a:off x="4425815" y="-2489505"/>
            <a:ext cx="1494255" cy="28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Docker-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compose.yml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84D86B57-8F22-CF5F-0E5F-71A32A2462BC}"/>
              </a:ext>
            </a:extLst>
          </p:cNvPr>
          <p:cNvSpPr/>
          <p:nvPr/>
        </p:nvSpPr>
        <p:spPr>
          <a:xfrm>
            <a:off x="1691288" y="-1170126"/>
            <a:ext cx="1732582" cy="938417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docker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6D86D201-39FE-07A3-AC86-45F45AD9FC30}"/>
              </a:ext>
            </a:extLst>
          </p:cNvPr>
          <p:cNvSpPr/>
          <p:nvPr/>
        </p:nvSpPr>
        <p:spPr>
          <a:xfrm>
            <a:off x="1924937" y="3502669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adwhale-lb</a:t>
            </a:r>
            <a:r>
              <a:rPr kumimoji="1" lang="en-US" altLang="ko-KR" sz="1000" dirty="0"/>
              <a:t>(nginx)</a:t>
            </a:r>
            <a:endParaRPr kumimoji="1" lang="ko-KR" altLang="en-US" sz="10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29574D0-3819-8BEE-C63C-F8113A806308}"/>
              </a:ext>
            </a:extLst>
          </p:cNvPr>
          <p:cNvCxnSpPr>
            <a:cxnSpLocks/>
            <a:stCxn id="21" idx="1"/>
            <a:endCxn id="9" idx="3"/>
          </p:cNvCxnSpPr>
          <p:nvPr/>
        </p:nvCxnSpPr>
        <p:spPr>
          <a:xfrm flipH="1">
            <a:off x="143724" y="4212126"/>
            <a:ext cx="46718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724C9B6-6A16-1E83-16BA-193C3A274C3F}"/>
              </a:ext>
            </a:extLst>
          </p:cNvPr>
          <p:cNvSpPr txBox="1"/>
          <p:nvPr/>
        </p:nvSpPr>
        <p:spPr>
          <a:xfrm>
            <a:off x="136963" y="3479479"/>
            <a:ext cx="179247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[POST] Http://localhost:8080/v1/ad/request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3E88BD58-E42E-6A5F-9BC0-02FC8A2565C9}"/>
              </a:ext>
            </a:extLst>
          </p:cNvPr>
          <p:cNvCxnSpPr>
            <a:cxnSpLocks/>
            <a:stCxn id="48" idx="6"/>
            <a:endCxn id="46" idx="1"/>
          </p:cNvCxnSpPr>
          <p:nvPr/>
        </p:nvCxnSpPr>
        <p:spPr>
          <a:xfrm>
            <a:off x="-2563317" y="855319"/>
            <a:ext cx="953662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6971DF0-4D22-B2FD-FE6E-442207FEEC86}"/>
              </a:ext>
            </a:extLst>
          </p:cNvPr>
          <p:cNvCxnSpPr>
            <a:cxnSpLocks/>
            <a:stCxn id="49" idx="6"/>
            <a:endCxn id="36" idx="1"/>
          </p:cNvCxnSpPr>
          <p:nvPr/>
        </p:nvCxnSpPr>
        <p:spPr>
          <a:xfrm>
            <a:off x="-2563317" y="1393684"/>
            <a:ext cx="11906583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8D2881C0-FB3C-868B-83EA-D802044848F9}"/>
              </a:ext>
            </a:extLst>
          </p:cNvPr>
          <p:cNvCxnSpPr>
            <a:cxnSpLocks/>
            <a:stCxn id="50" idx="6"/>
            <a:endCxn id="23" idx="1"/>
          </p:cNvCxnSpPr>
          <p:nvPr/>
        </p:nvCxnSpPr>
        <p:spPr>
          <a:xfrm>
            <a:off x="-2563317" y="1866164"/>
            <a:ext cx="7378925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0C6A259E-E6C0-20AC-B1C8-07D0C0EC81C9}"/>
              </a:ext>
            </a:extLst>
          </p:cNvPr>
          <p:cNvSpPr txBox="1"/>
          <p:nvPr/>
        </p:nvSpPr>
        <p:spPr>
          <a:xfrm>
            <a:off x="2173887" y="4228407"/>
            <a:ext cx="7457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requestId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adId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placementUid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creativeUrl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landingUrl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A28D82A5-2DD9-D35C-1183-6676A835340C}"/>
              </a:ext>
            </a:extLst>
          </p:cNvPr>
          <p:cNvCxnSpPr>
            <a:cxnSpLocks/>
            <a:stCxn id="8" idx="3"/>
            <a:endCxn id="127" idx="1"/>
          </p:cNvCxnSpPr>
          <p:nvPr/>
        </p:nvCxnSpPr>
        <p:spPr>
          <a:xfrm flipV="1">
            <a:off x="151947" y="3681010"/>
            <a:ext cx="1772990" cy="3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DDBAA7EF-FEB1-24C9-02E4-A1FD5E022BCE}"/>
              </a:ext>
            </a:extLst>
          </p:cNvPr>
          <p:cNvCxnSpPr>
            <a:cxnSpLocks/>
            <a:stCxn id="127" idx="3"/>
            <a:endCxn id="20" idx="1"/>
          </p:cNvCxnSpPr>
          <p:nvPr/>
        </p:nvCxnSpPr>
        <p:spPr>
          <a:xfrm>
            <a:off x="3221829" y="3681010"/>
            <a:ext cx="1593779" cy="473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꺾인 연결선[E] 102">
            <a:extLst>
              <a:ext uri="{FF2B5EF4-FFF2-40B4-BE49-F238E27FC236}">
                <a16:creationId xmlns:a16="http://schemas.microsoft.com/office/drawing/2014/main" id="{2E63CD11-F630-4D11-C1AA-A888354F49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21829" y="-2819924"/>
            <a:ext cx="1200928" cy="6431484"/>
          </a:xfrm>
          <a:prstGeom prst="bentConnector3">
            <a:avLst>
              <a:gd name="adj1" fmla="val 73131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번개[L] 86">
            <a:extLst>
              <a:ext uri="{FF2B5EF4-FFF2-40B4-BE49-F238E27FC236}">
                <a16:creationId xmlns:a16="http://schemas.microsoft.com/office/drawing/2014/main" id="{1E230C72-A04C-1682-23DE-1931E4278E1C}"/>
              </a:ext>
            </a:extLst>
          </p:cNvPr>
          <p:cNvSpPr/>
          <p:nvPr/>
        </p:nvSpPr>
        <p:spPr>
          <a:xfrm>
            <a:off x="1842093" y="3204328"/>
            <a:ext cx="442543" cy="390649"/>
          </a:xfrm>
          <a:prstGeom prst="lightningBol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8" name="모서리가 둥근 사각형 설명선[R] 97">
            <a:extLst>
              <a:ext uri="{FF2B5EF4-FFF2-40B4-BE49-F238E27FC236}">
                <a16:creationId xmlns:a16="http://schemas.microsoft.com/office/drawing/2014/main" id="{B469C104-478B-924F-5D0E-5D4D3126DE4A}"/>
              </a:ext>
            </a:extLst>
          </p:cNvPr>
          <p:cNvSpPr/>
          <p:nvPr/>
        </p:nvSpPr>
        <p:spPr>
          <a:xfrm>
            <a:off x="383686" y="2782956"/>
            <a:ext cx="2067971" cy="388601"/>
          </a:xfrm>
          <a:prstGeom prst="wedgeRoundRectCallout">
            <a:avLst>
              <a:gd name="adj1" fmla="val 24679"/>
              <a:gd name="adj2" fmla="val 76140"/>
              <a:gd name="adj3" fmla="val 16667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Ad-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api</a:t>
            </a:r>
            <a:r>
              <a:rPr kumimoji="1" lang="en-US" altLang="ko-KR" sz="600" dirty="0">
                <a:solidFill>
                  <a:srgbClr val="FF0000"/>
                </a:solidFill>
              </a:rPr>
              <a:t> </a:t>
            </a:r>
            <a:r>
              <a:rPr kumimoji="1" lang="ko-KR" altLang="en-US" sz="600" dirty="0">
                <a:solidFill>
                  <a:srgbClr val="FF0000"/>
                </a:solidFill>
              </a:rPr>
              <a:t>서버 장애대응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응답</a:t>
            </a:r>
            <a:r>
              <a:rPr kumimoji="1" lang="en-US" altLang="ko-KR" sz="600" dirty="0">
                <a:solidFill>
                  <a:srgbClr val="FF0000"/>
                </a:solidFill>
              </a:rPr>
              <a:t>x,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kafka</a:t>
            </a:r>
            <a:r>
              <a:rPr kumimoji="1" lang="ko-KR" altLang="en-US" sz="600" dirty="0">
                <a:solidFill>
                  <a:srgbClr val="FF0000"/>
                </a:solidFill>
              </a:rPr>
              <a:t>메시지</a:t>
            </a:r>
            <a:r>
              <a:rPr kumimoji="1" lang="en-US" altLang="ko-KR" sz="600" dirty="0">
                <a:solidFill>
                  <a:srgbClr val="FF0000"/>
                </a:solidFill>
              </a:rPr>
              <a:t>x</a:t>
            </a:r>
            <a:r>
              <a:rPr kumimoji="1" lang="ko-KR" altLang="en-US" sz="600" dirty="0">
                <a:solidFill>
                  <a:srgbClr val="FF0000"/>
                </a:solidFill>
              </a:rPr>
              <a:t> 일 경우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로드밸런서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nginx </a:t>
            </a:r>
            <a:r>
              <a:rPr kumimoji="1" lang="ko-KR" altLang="en-US" sz="600" dirty="0">
                <a:solidFill>
                  <a:srgbClr val="FF0000"/>
                </a:solidFill>
              </a:rPr>
              <a:t>처리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v1/ad/request : 503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v1/ad/impression, click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503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387F52D6-6509-45BC-3076-53EBE25684D5}"/>
              </a:ext>
            </a:extLst>
          </p:cNvPr>
          <p:cNvSpPr/>
          <p:nvPr/>
        </p:nvSpPr>
        <p:spPr>
          <a:xfrm>
            <a:off x="1925188" y="2307721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adwhale-lb</a:t>
            </a:r>
            <a:r>
              <a:rPr kumimoji="1" lang="en-US" altLang="ko-KR" sz="1000" dirty="0"/>
              <a:t>(nginx)</a:t>
            </a:r>
            <a:endParaRPr kumimoji="1" lang="ko-KR" altLang="en-US" sz="1000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4C4006FA-D131-81D1-CE5B-5252DA87F40C}"/>
              </a:ext>
            </a:extLst>
          </p:cNvPr>
          <p:cNvSpPr/>
          <p:nvPr/>
        </p:nvSpPr>
        <p:spPr>
          <a:xfrm>
            <a:off x="-2797233" y="2354222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6027F51-64DE-8E62-B21F-645980276FA9}"/>
              </a:ext>
            </a:extLst>
          </p:cNvPr>
          <p:cNvSpPr txBox="1"/>
          <p:nvPr/>
        </p:nvSpPr>
        <p:spPr>
          <a:xfrm>
            <a:off x="-3729352" y="2626936"/>
            <a:ext cx="20778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4.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Loadbalancer </a:t>
            </a:r>
            <a:r>
              <a:rPr kumimoji="1" lang="ko-KR" altLang="en-US" sz="1000" dirty="0">
                <a:solidFill>
                  <a:srgbClr val="0070C0"/>
                </a:solidFill>
              </a:rPr>
              <a:t>기동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8080)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175B0B55-752D-369D-AB65-9C4173F6E737}"/>
              </a:ext>
            </a:extLst>
          </p:cNvPr>
          <p:cNvCxnSpPr>
            <a:cxnSpLocks/>
            <a:stCxn id="138" idx="6"/>
            <a:endCxn id="136" idx="1"/>
          </p:cNvCxnSpPr>
          <p:nvPr/>
        </p:nvCxnSpPr>
        <p:spPr>
          <a:xfrm>
            <a:off x="-2563317" y="2481813"/>
            <a:ext cx="4488505" cy="424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45F93F3-ACE3-24D2-2C09-12A28A6E06C7}"/>
              </a:ext>
            </a:extLst>
          </p:cNvPr>
          <p:cNvSpPr txBox="1"/>
          <p:nvPr/>
        </p:nvSpPr>
        <p:spPr>
          <a:xfrm>
            <a:off x="2285592" y="4019486"/>
            <a:ext cx="5357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JSON</a:t>
            </a:r>
            <a:r>
              <a:rPr kumimoji="1" lang="ko-KR" altLang="en-US" sz="600" b="1" dirty="0">
                <a:solidFill>
                  <a:schemeClr val="accent2"/>
                </a:solidFill>
              </a:rPr>
              <a:t>객체</a:t>
            </a:r>
          </a:p>
        </p:txBody>
      </p: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E76FDC86-9243-95FD-6FC5-6BF626CD98E3}"/>
              </a:ext>
            </a:extLst>
          </p:cNvPr>
          <p:cNvCxnSpPr>
            <a:stCxn id="136" idx="2"/>
            <a:endCxn id="127" idx="0"/>
          </p:cNvCxnSpPr>
          <p:nvPr/>
        </p:nvCxnSpPr>
        <p:spPr>
          <a:xfrm flipH="1">
            <a:off x="2573383" y="2664402"/>
            <a:ext cx="251" cy="83826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타원 151">
            <a:extLst>
              <a:ext uri="{FF2B5EF4-FFF2-40B4-BE49-F238E27FC236}">
                <a16:creationId xmlns:a16="http://schemas.microsoft.com/office/drawing/2014/main" id="{31D793D1-28AE-98B9-05B1-EF3D8763A965}"/>
              </a:ext>
            </a:extLst>
          </p:cNvPr>
          <p:cNvSpPr/>
          <p:nvPr/>
        </p:nvSpPr>
        <p:spPr>
          <a:xfrm>
            <a:off x="-2797233" y="5824556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8574655-15CE-2672-84E7-42003A14BD11}"/>
              </a:ext>
            </a:extLst>
          </p:cNvPr>
          <p:cNvSpPr txBox="1"/>
          <p:nvPr/>
        </p:nvSpPr>
        <p:spPr>
          <a:xfrm>
            <a:off x="-3679659" y="6097270"/>
            <a:ext cx="19784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3.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ad-</a:t>
            </a:r>
            <a:r>
              <a:rPr kumimoji="1" lang="en-US" altLang="ko-KR" sz="1000" dirty="0" err="1">
                <a:solidFill>
                  <a:srgbClr val="0070C0"/>
                </a:solidFill>
              </a:rPr>
              <a:t>api</a:t>
            </a:r>
            <a:r>
              <a:rPr kumimoji="1" lang="en-US" altLang="ko-KR" sz="1000" dirty="0">
                <a:solidFill>
                  <a:srgbClr val="0070C0"/>
                </a:solidFill>
              </a:rPr>
              <a:t> </a:t>
            </a:r>
            <a:r>
              <a:rPr kumimoji="1" lang="ko-KR" altLang="en-US" sz="1000" dirty="0">
                <a:solidFill>
                  <a:srgbClr val="0070C0"/>
                </a:solidFill>
              </a:rPr>
              <a:t>서버 기동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8082)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20D91D70-FFB4-8A74-185A-8726490AF3ED}"/>
              </a:ext>
            </a:extLst>
          </p:cNvPr>
          <p:cNvCxnSpPr>
            <a:cxnSpLocks/>
            <a:stCxn id="152" idx="6"/>
            <a:endCxn id="93" idx="1"/>
          </p:cNvCxnSpPr>
          <p:nvPr/>
        </p:nvCxnSpPr>
        <p:spPr>
          <a:xfrm flipV="1">
            <a:off x="-2563317" y="5947004"/>
            <a:ext cx="6986074" cy="514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0E77F9D8-C813-D41A-C3E5-2A08853E3D2E}"/>
              </a:ext>
            </a:extLst>
          </p:cNvPr>
          <p:cNvCxnSpPr>
            <a:cxnSpLocks/>
            <a:stCxn id="56" idx="6"/>
            <a:endCxn id="17" idx="1"/>
          </p:cNvCxnSpPr>
          <p:nvPr/>
        </p:nvCxnSpPr>
        <p:spPr>
          <a:xfrm>
            <a:off x="-2563317" y="6756854"/>
            <a:ext cx="9543071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모서리가 둥근 사각형 설명선[R] 95">
            <a:extLst>
              <a:ext uri="{FF2B5EF4-FFF2-40B4-BE49-F238E27FC236}">
                <a16:creationId xmlns:a16="http://schemas.microsoft.com/office/drawing/2014/main" id="{6EF78EAA-6FD9-755A-880F-535106C1D731}"/>
              </a:ext>
            </a:extLst>
          </p:cNvPr>
          <p:cNvSpPr/>
          <p:nvPr/>
        </p:nvSpPr>
        <p:spPr>
          <a:xfrm>
            <a:off x="3594589" y="3363748"/>
            <a:ext cx="761673" cy="184666"/>
          </a:xfrm>
          <a:prstGeom prst="wedgeRoundRectCallout">
            <a:avLst>
              <a:gd name="adj1" fmla="val -12484"/>
              <a:gd name="adj2" fmla="val 98496"/>
              <a:gd name="adj3" fmla="val 16667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600" dirty="0" err="1">
                <a:solidFill>
                  <a:schemeClr val="tx1"/>
                </a:solidFill>
              </a:rPr>
              <a:t>라운드로빈사용</a:t>
            </a:r>
            <a:endParaRPr kumimoji="1" lang="en-US" altLang="ko-KR" sz="600" dirty="0">
              <a:solidFill>
                <a:schemeClr val="tx1"/>
              </a:solidFill>
            </a:endParaRPr>
          </a:p>
        </p:txBody>
      </p:sp>
      <p:cxnSp>
        <p:nvCxnSpPr>
          <p:cNvPr id="164" name="꺾인 연결선[E] 163">
            <a:extLst>
              <a:ext uri="{FF2B5EF4-FFF2-40B4-BE49-F238E27FC236}">
                <a16:creationId xmlns:a16="http://schemas.microsoft.com/office/drawing/2014/main" id="{3B59A001-2C60-C719-90CC-FB44C30B4522}"/>
              </a:ext>
            </a:extLst>
          </p:cNvPr>
          <p:cNvCxnSpPr>
            <a:cxnSpLocks/>
            <a:stCxn id="102" idx="2"/>
            <a:endCxn id="126" idx="0"/>
          </p:cNvCxnSpPr>
          <p:nvPr/>
        </p:nvCxnSpPr>
        <p:spPr>
          <a:xfrm rot="5400000">
            <a:off x="3349572" y="-2993498"/>
            <a:ext cx="1031379" cy="2615364"/>
          </a:xfrm>
          <a:prstGeom prst="bentConnector3">
            <a:avLst>
              <a:gd name="adj1" fmla="val 7433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BD00D4F3-647D-B84F-CF58-65C5B5D9D1E0}"/>
              </a:ext>
            </a:extLst>
          </p:cNvPr>
          <p:cNvSpPr/>
          <p:nvPr/>
        </p:nvSpPr>
        <p:spPr>
          <a:xfrm>
            <a:off x="17346177" y="-1170125"/>
            <a:ext cx="2020910" cy="93706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docker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D9008D59-E4B2-B51E-E715-94F784351773}"/>
              </a:ext>
            </a:extLst>
          </p:cNvPr>
          <p:cNvSpPr/>
          <p:nvPr/>
        </p:nvSpPr>
        <p:spPr>
          <a:xfrm>
            <a:off x="17701090" y="-853883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adwhale-mysql</a:t>
            </a:r>
            <a:endParaRPr kumimoji="1" lang="ko-KR" altLang="en-US" sz="1000" dirty="0"/>
          </a:p>
        </p:txBody>
      </p:sp>
      <p:sp>
        <p:nvSpPr>
          <p:cNvPr id="170" name="원통[C] 169">
            <a:extLst>
              <a:ext uri="{FF2B5EF4-FFF2-40B4-BE49-F238E27FC236}">
                <a16:creationId xmlns:a16="http://schemas.microsoft.com/office/drawing/2014/main" id="{2D1B149E-0041-9282-C0BA-C2C6C08456E9}"/>
              </a:ext>
            </a:extLst>
          </p:cNvPr>
          <p:cNvSpPr/>
          <p:nvPr/>
        </p:nvSpPr>
        <p:spPr>
          <a:xfrm>
            <a:off x="17491010" y="1321238"/>
            <a:ext cx="1717051" cy="5257275"/>
          </a:xfrm>
          <a:prstGeom prst="can">
            <a:avLst>
              <a:gd name="adj" fmla="val 8527"/>
            </a:avLst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adwhale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-db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72EBB6A7-6023-5A39-7B9B-CB54ECC206DE}"/>
              </a:ext>
            </a:extLst>
          </p:cNvPr>
          <p:cNvSpPr/>
          <p:nvPr/>
        </p:nvSpPr>
        <p:spPr>
          <a:xfrm>
            <a:off x="-2797233" y="-800905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EAAB8EF-34F1-18EE-216E-E0B2DF514074}"/>
              </a:ext>
            </a:extLst>
          </p:cNvPr>
          <p:cNvSpPr txBox="1"/>
          <p:nvPr/>
        </p:nvSpPr>
        <p:spPr>
          <a:xfrm>
            <a:off x="-3765420" y="-531220"/>
            <a:ext cx="21499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5.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MySQL docker </a:t>
            </a:r>
            <a:r>
              <a:rPr kumimoji="1" lang="ko-KR" altLang="en-US" sz="1000" dirty="0">
                <a:solidFill>
                  <a:srgbClr val="0070C0"/>
                </a:solidFill>
              </a:rPr>
              <a:t>기동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3306)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03B9EE3C-F6E9-96C7-0CE1-311A9F9BA80B}"/>
              </a:ext>
            </a:extLst>
          </p:cNvPr>
          <p:cNvCxnSpPr>
            <a:cxnSpLocks/>
            <a:stCxn id="169" idx="2"/>
            <a:endCxn id="170" idx="1"/>
          </p:cNvCxnSpPr>
          <p:nvPr/>
        </p:nvCxnSpPr>
        <p:spPr>
          <a:xfrm>
            <a:off x="18349536" y="-497202"/>
            <a:ext cx="0" cy="1818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13B52347-D39B-D1F0-593E-0A0C04D2D759}"/>
              </a:ext>
            </a:extLst>
          </p:cNvPr>
          <p:cNvSpPr/>
          <p:nvPr/>
        </p:nvSpPr>
        <p:spPr>
          <a:xfrm>
            <a:off x="10399754" y="3561303"/>
            <a:ext cx="1443683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AdEventRepository</a:t>
            </a:r>
            <a:endParaRPr kumimoji="1" lang="ko-KR" altLang="en-US" sz="1000" dirty="0"/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750B07EB-6F84-0982-8E41-35CD003E3079}"/>
              </a:ext>
            </a:extLst>
          </p:cNvPr>
          <p:cNvSpPr/>
          <p:nvPr/>
        </p:nvSpPr>
        <p:spPr>
          <a:xfrm>
            <a:off x="10388526" y="3000583"/>
            <a:ext cx="1469228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spring-boot-starter-</a:t>
            </a:r>
            <a:r>
              <a:rPr kumimoji="1" lang="en-US" altLang="ko-KR" sz="800" dirty="0" err="1">
                <a:solidFill>
                  <a:sysClr val="windowText" lastClr="000000"/>
                </a:solidFill>
              </a:rPr>
              <a:t>jdbc</a:t>
            </a:r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D8419394-BA7E-F024-818C-0B61511F63FB}"/>
              </a:ext>
            </a:extLst>
          </p:cNvPr>
          <p:cNvSpPr txBox="1"/>
          <p:nvPr/>
        </p:nvSpPr>
        <p:spPr>
          <a:xfrm>
            <a:off x="8499503" y="4059244"/>
            <a:ext cx="92685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DB LISTENER (3306)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4430BA7D-8FBC-C4B6-441F-F82C440C1F9F}"/>
              </a:ext>
            </a:extLst>
          </p:cNvPr>
          <p:cNvSpPr/>
          <p:nvPr/>
        </p:nvSpPr>
        <p:spPr>
          <a:xfrm>
            <a:off x="10403954" y="4081251"/>
            <a:ext cx="1443683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AdEventDbConsumer</a:t>
            </a:r>
            <a:endParaRPr kumimoji="1" lang="ko-KR" altLang="en-US" sz="1000" dirty="0"/>
          </a:p>
        </p:txBody>
      </p: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28E7E3D2-E160-3FFF-37B1-CB82085C8379}"/>
              </a:ext>
            </a:extLst>
          </p:cNvPr>
          <p:cNvCxnSpPr>
            <a:cxnSpLocks/>
            <a:stCxn id="222" idx="0"/>
            <a:endCxn id="204" idx="2"/>
          </p:cNvCxnSpPr>
          <p:nvPr/>
        </p:nvCxnSpPr>
        <p:spPr>
          <a:xfrm flipH="1" flipV="1">
            <a:off x="11121596" y="3917984"/>
            <a:ext cx="4200" cy="163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3" name="꺾인 연결선[E] 232">
            <a:extLst>
              <a:ext uri="{FF2B5EF4-FFF2-40B4-BE49-F238E27FC236}">
                <a16:creationId xmlns:a16="http://schemas.microsoft.com/office/drawing/2014/main" id="{7E2AE580-AEE5-E168-345A-42A85EE510CA}"/>
              </a:ext>
            </a:extLst>
          </p:cNvPr>
          <p:cNvCxnSpPr>
            <a:cxnSpLocks/>
            <a:stCxn id="16" idx="3"/>
            <a:endCxn id="222" idx="1"/>
          </p:cNvCxnSpPr>
          <p:nvPr/>
        </p:nvCxnSpPr>
        <p:spPr>
          <a:xfrm flipV="1">
            <a:off x="8276646" y="4259592"/>
            <a:ext cx="2127308" cy="989746"/>
          </a:xfrm>
          <a:prstGeom prst="bentConnector3">
            <a:avLst>
              <a:gd name="adj1" fmla="val 3746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D014E14D-9E79-DC51-4114-3A73F11BF558}"/>
              </a:ext>
            </a:extLst>
          </p:cNvPr>
          <p:cNvCxnSpPr>
            <a:cxnSpLocks/>
          </p:cNvCxnSpPr>
          <p:nvPr/>
        </p:nvCxnSpPr>
        <p:spPr>
          <a:xfrm>
            <a:off x="9921578" y="1572025"/>
            <a:ext cx="0" cy="351242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직선 화살표 연결선 243">
            <a:extLst>
              <a:ext uri="{FF2B5EF4-FFF2-40B4-BE49-F238E27FC236}">
                <a16:creationId xmlns:a16="http://schemas.microsoft.com/office/drawing/2014/main" id="{AD61EBD2-2CA8-FA12-0DF5-236A5EAFAD1C}"/>
              </a:ext>
            </a:extLst>
          </p:cNvPr>
          <p:cNvCxnSpPr>
            <a:cxnSpLocks/>
            <a:stCxn id="204" idx="0"/>
            <a:endCxn id="205" idx="2"/>
          </p:cNvCxnSpPr>
          <p:nvPr/>
        </p:nvCxnSpPr>
        <p:spPr>
          <a:xfrm flipV="1">
            <a:off x="11121596" y="3373584"/>
            <a:ext cx="1544" cy="187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D1FCEF44-A314-7093-4C16-BE9D8CE75675}"/>
              </a:ext>
            </a:extLst>
          </p:cNvPr>
          <p:cNvCxnSpPr>
            <a:cxnSpLocks/>
            <a:endCxn id="205" idx="0"/>
          </p:cNvCxnSpPr>
          <p:nvPr/>
        </p:nvCxnSpPr>
        <p:spPr>
          <a:xfrm>
            <a:off x="11123140" y="1572025"/>
            <a:ext cx="0" cy="142855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64" name="표 263">
            <a:extLst>
              <a:ext uri="{FF2B5EF4-FFF2-40B4-BE49-F238E27FC236}">
                <a16:creationId xmlns:a16="http://schemas.microsoft.com/office/drawing/2014/main" id="{9FC3D01A-D5B9-0BDA-ACEC-057D67E3A2AB}"/>
              </a:ext>
            </a:extLst>
          </p:cNvPr>
          <p:cNvGraphicFramePr>
            <a:graphicFrameLocks noGrp="1"/>
          </p:cNvGraphicFramePr>
          <p:nvPr/>
        </p:nvGraphicFramePr>
        <p:xfrm>
          <a:off x="17608402" y="2258833"/>
          <a:ext cx="1457960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6040337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51222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489118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203276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620463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818293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29149594"/>
                    </a:ext>
                  </a:extLst>
                </a:gridCol>
              </a:tblGrid>
              <a:tr h="1790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706128"/>
                  </a:ext>
                </a:extLst>
              </a:tr>
              <a:tr h="1790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470320"/>
                  </a:ext>
                </a:extLst>
              </a:tr>
            </a:tbl>
          </a:graphicData>
        </a:graphic>
      </p:graphicFrame>
      <p:graphicFrame>
        <p:nvGraphicFramePr>
          <p:cNvPr id="265" name="표 264">
            <a:extLst>
              <a:ext uri="{FF2B5EF4-FFF2-40B4-BE49-F238E27FC236}">
                <a16:creationId xmlns:a16="http://schemas.microsoft.com/office/drawing/2014/main" id="{EE3F6C38-9152-588E-F06A-4476B219B498}"/>
              </a:ext>
            </a:extLst>
          </p:cNvPr>
          <p:cNvGraphicFramePr>
            <a:graphicFrameLocks noGrp="1"/>
          </p:cNvGraphicFramePr>
          <p:nvPr/>
        </p:nvGraphicFramePr>
        <p:xfrm>
          <a:off x="17608402" y="3716201"/>
          <a:ext cx="1457960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6040337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51222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489118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203276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620463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818293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29149594"/>
                    </a:ext>
                  </a:extLst>
                </a:gridCol>
              </a:tblGrid>
              <a:tr h="1790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706128"/>
                  </a:ext>
                </a:extLst>
              </a:tr>
              <a:tr h="1790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470320"/>
                  </a:ext>
                </a:extLst>
              </a:tr>
            </a:tbl>
          </a:graphicData>
        </a:graphic>
      </p:graphicFrame>
      <p:sp>
        <p:nvSpPr>
          <p:cNvPr id="266" name="TextBox 265">
            <a:extLst>
              <a:ext uri="{FF2B5EF4-FFF2-40B4-BE49-F238E27FC236}">
                <a16:creationId xmlns:a16="http://schemas.microsoft.com/office/drawing/2014/main" id="{40CCF222-BE83-AC98-2229-7C058CB99C86}"/>
              </a:ext>
            </a:extLst>
          </p:cNvPr>
          <p:cNvSpPr txBox="1"/>
          <p:nvPr/>
        </p:nvSpPr>
        <p:spPr>
          <a:xfrm>
            <a:off x="17982201" y="2011287"/>
            <a:ext cx="7264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ad_event</a:t>
            </a:r>
            <a:endParaRPr kumimoji="1" lang="ko-KR" altLang="en-US" sz="1000" b="1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EB8B2219-62AB-423C-4BCE-D62675D76DAF}"/>
              </a:ext>
            </a:extLst>
          </p:cNvPr>
          <p:cNvSpPr txBox="1"/>
          <p:nvPr/>
        </p:nvSpPr>
        <p:spPr>
          <a:xfrm>
            <a:off x="17785031" y="3461262"/>
            <a:ext cx="11208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ad_stats_hourly</a:t>
            </a:r>
            <a:endParaRPr kumimoji="1" lang="ko-KR" altLang="en-US" sz="1000" b="1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366B0F6C-F274-552C-C27E-F6E084FD1B4A}"/>
              </a:ext>
            </a:extLst>
          </p:cNvPr>
          <p:cNvSpPr txBox="1"/>
          <p:nvPr/>
        </p:nvSpPr>
        <p:spPr>
          <a:xfrm>
            <a:off x="8424135" y="5270226"/>
            <a:ext cx="94288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ad-log-writer (9092)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077AEFE4-3975-A5A7-3074-00A29786DF50}"/>
              </a:ext>
            </a:extLst>
          </p:cNvPr>
          <p:cNvSpPr txBox="1"/>
          <p:nvPr/>
        </p:nvSpPr>
        <p:spPr>
          <a:xfrm>
            <a:off x="8512563" y="4278255"/>
            <a:ext cx="90922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ad-db-writer (3306)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270" name="번개[L] 269">
            <a:extLst>
              <a:ext uri="{FF2B5EF4-FFF2-40B4-BE49-F238E27FC236}">
                <a16:creationId xmlns:a16="http://schemas.microsoft.com/office/drawing/2014/main" id="{8C70B6A4-8FC4-E6F5-C6D5-62CE84663AC6}"/>
              </a:ext>
            </a:extLst>
          </p:cNvPr>
          <p:cNvSpPr/>
          <p:nvPr/>
        </p:nvSpPr>
        <p:spPr>
          <a:xfrm>
            <a:off x="10179542" y="2608447"/>
            <a:ext cx="442543" cy="390649"/>
          </a:xfrm>
          <a:prstGeom prst="lightningBol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71" name="모서리가 둥근 사각형 설명선[R] 270">
            <a:extLst>
              <a:ext uri="{FF2B5EF4-FFF2-40B4-BE49-F238E27FC236}">
                <a16:creationId xmlns:a16="http://schemas.microsoft.com/office/drawing/2014/main" id="{1E98829C-B022-4370-1E88-D7CC7A1EEAD8}"/>
              </a:ext>
            </a:extLst>
          </p:cNvPr>
          <p:cNvSpPr/>
          <p:nvPr/>
        </p:nvSpPr>
        <p:spPr>
          <a:xfrm>
            <a:off x="11345030" y="2288872"/>
            <a:ext cx="1714804" cy="319575"/>
          </a:xfrm>
          <a:prstGeom prst="wedgeRoundRectCallout">
            <a:avLst>
              <a:gd name="adj1" fmla="val -43072"/>
              <a:gd name="adj2" fmla="val 185824"/>
              <a:gd name="adj3" fmla="val 16667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 err="1">
                <a:solidFill>
                  <a:srgbClr val="FF0000"/>
                </a:solidFill>
              </a:rPr>
              <a:t>Adwhale</a:t>
            </a:r>
            <a:r>
              <a:rPr kumimoji="1" lang="en-US" altLang="ko-KR" sz="600" dirty="0">
                <a:solidFill>
                  <a:srgbClr val="FF0000"/>
                </a:solidFill>
              </a:rPr>
              <a:t>-db </a:t>
            </a:r>
            <a:r>
              <a:rPr kumimoji="1" lang="ko-KR" altLang="en-US" sz="600" dirty="0">
                <a:solidFill>
                  <a:srgbClr val="FF0000"/>
                </a:solidFill>
              </a:rPr>
              <a:t>장애대응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실패 시 </a:t>
            </a:r>
            <a:r>
              <a:rPr kumimoji="1" lang="en-US" altLang="ko-KR" sz="600" dirty="0">
                <a:solidFill>
                  <a:srgbClr val="FF0000"/>
                </a:solidFill>
              </a:rPr>
              <a:t>DB</a:t>
            </a:r>
            <a:r>
              <a:rPr kumimoji="1" lang="ko-KR" altLang="en-US" sz="600" dirty="0">
                <a:solidFill>
                  <a:srgbClr val="FF0000"/>
                </a:solidFill>
              </a:rPr>
              <a:t>가 살아날 때까지 계속 재시도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(1</a:t>
            </a:r>
            <a:r>
              <a:rPr kumimoji="1" lang="ko-KR" altLang="en-US" sz="600" dirty="0">
                <a:solidFill>
                  <a:srgbClr val="FF0000"/>
                </a:solidFill>
              </a:rPr>
              <a:t>초 </a:t>
            </a:r>
            <a:r>
              <a:rPr kumimoji="1" lang="en-US" altLang="ko-KR" sz="600" dirty="0">
                <a:solidFill>
                  <a:srgbClr val="FF0000"/>
                </a:solidFill>
              </a:rPr>
              <a:t>&gt;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2</a:t>
            </a:r>
            <a:r>
              <a:rPr kumimoji="1" lang="ko-KR" altLang="en-US" sz="600" dirty="0">
                <a:solidFill>
                  <a:srgbClr val="FF0000"/>
                </a:solidFill>
              </a:rPr>
              <a:t>초 </a:t>
            </a:r>
            <a:r>
              <a:rPr kumimoji="1" lang="en-US" altLang="ko-KR" sz="600" dirty="0">
                <a:solidFill>
                  <a:srgbClr val="FF0000"/>
                </a:solidFill>
              </a:rPr>
              <a:t>&gt;.4</a:t>
            </a:r>
            <a:r>
              <a:rPr kumimoji="1" lang="ko-KR" altLang="en-US" sz="600" dirty="0">
                <a:solidFill>
                  <a:srgbClr val="FF0000"/>
                </a:solidFill>
              </a:rPr>
              <a:t>초 </a:t>
            </a:r>
            <a:r>
              <a:rPr kumimoji="1" lang="en-US" altLang="ko-KR" sz="600" dirty="0">
                <a:solidFill>
                  <a:srgbClr val="FF0000"/>
                </a:solidFill>
              </a:rPr>
              <a:t>&gt;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…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&gt;</a:t>
            </a:r>
            <a:r>
              <a:rPr kumimoji="1" lang="ko-KR" altLang="en-US" sz="600" dirty="0">
                <a:solidFill>
                  <a:srgbClr val="FF0000"/>
                </a:solidFill>
              </a:rPr>
              <a:t> 최대 </a:t>
            </a:r>
            <a:r>
              <a:rPr kumimoji="1" lang="en-US" altLang="ko-KR" sz="600" dirty="0">
                <a:solidFill>
                  <a:srgbClr val="FF0000"/>
                </a:solidFill>
              </a:rPr>
              <a:t>30</a:t>
            </a:r>
            <a:r>
              <a:rPr kumimoji="1" lang="ko-KR" altLang="en-US" sz="600" dirty="0">
                <a:solidFill>
                  <a:srgbClr val="FF0000"/>
                </a:solidFill>
              </a:rPr>
              <a:t>초 간격</a:t>
            </a:r>
            <a:r>
              <a:rPr kumimoji="1" lang="en-US" altLang="ko-KR" sz="6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BEC9D497-217B-09E1-5017-2F6FA43759FA}"/>
              </a:ext>
            </a:extLst>
          </p:cNvPr>
          <p:cNvSpPr/>
          <p:nvPr/>
        </p:nvSpPr>
        <p:spPr>
          <a:xfrm>
            <a:off x="14096071" y="-1169091"/>
            <a:ext cx="2826118" cy="93696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ad-batch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190" name="직선 화살표 연결선 189">
            <a:extLst>
              <a:ext uri="{FF2B5EF4-FFF2-40B4-BE49-F238E27FC236}">
                <a16:creationId xmlns:a16="http://schemas.microsoft.com/office/drawing/2014/main" id="{8869C2B1-72AA-9ADB-2430-1B2368CFD22D}"/>
              </a:ext>
            </a:extLst>
          </p:cNvPr>
          <p:cNvCxnSpPr>
            <a:cxnSpLocks/>
            <a:stCxn id="188" idx="6"/>
            <a:endCxn id="169" idx="1"/>
          </p:cNvCxnSpPr>
          <p:nvPr/>
        </p:nvCxnSpPr>
        <p:spPr>
          <a:xfrm flipV="1">
            <a:off x="-2563317" y="-675542"/>
            <a:ext cx="20264407" cy="222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5" name="꺾인 연결선[E] 274">
            <a:extLst>
              <a:ext uri="{FF2B5EF4-FFF2-40B4-BE49-F238E27FC236}">
                <a16:creationId xmlns:a16="http://schemas.microsoft.com/office/drawing/2014/main" id="{3BBED3DA-D0D2-CD3C-6DF4-9DC9FB6768A4}"/>
              </a:ext>
            </a:extLst>
          </p:cNvPr>
          <p:cNvCxnSpPr>
            <a:cxnSpLocks/>
            <a:stCxn id="102" idx="2"/>
            <a:endCxn id="168" idx="0"/>
          </p:cNvCxnSpPr>
          <p:nvPr/>
        </p:nvCxnSpPr>
        <p:spPr>
          <a:xfrm rot="16200000" flipH="1">
            <a:off x="11249097" y="-8277660"/>
            <a:ext cx="1031380" cy="13183689"/>
          </a:xfrm>
          <a:prstGeom prst="bentConnector3">
            <a:avLst>
              <a:gd name="adj1" fmla="val 7433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1" name="꺾인 연결선[E] 280">
            <a:extLst>
              <a:ext uri="{FF2B5EF4-FFF2-40B4-BE49-F238E27FC236}">
                <a16:creationId xmlns:a16="http://schemas.microsoft.com/office/drawing/2014/main" id="{501F7D83-1494-D7F5-84E7-72B5FEE207D0}"/>
              </a:ext>
            </a:extLst>
          </p:cNvPr>
          <p:cNvCxnSpPr>
            <a:cxnSpLocks/>
            <a:stCxn id="69" idx="2"/>
            <a:endCxn id="272" idx="0"/>
          </p:cNvCxnSpPr>
          <p:nvPr/>
        </p:nvCxnSpPr>
        <p:spPr>
          <a:xfrm rot="16200000" flipH="1">
            <a:off x="11029030" y="-5649192"/>
            <a:ext cx="1036421" cy="792377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5" name="직사각형 284">
            <a:extLst>
              <a:ext uri="{FF2B5EF4-FFF2-40B4-BE49-F238E27FC236}">
                <a16:creationId xmlns:a16="http://schemas.microsoft.com/office/drawing/2014/main" id="{63FE5C83-23B8-6FCD-08F9-F659C6AA6EAB}"/>
              </a:ext>
            </a:extLst>
          </p:cNvPr>
          <p:cNvSpPr/>
          <p:nvPr/>
        </p:nvSpPr>
        <p:spPr>
          <a:xfrm>
            <a:off x="14292438" y="-356681"/>
            <a:ext cx="2386683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AdBatchApplication</a:t>
            </a:r>
            <a:endParaRPr kumimoji="1" lang="ko-KR" altLang="en-US" sz="1000" dirty="0"/>
          </a:p>
        </p:txBody>
      </p:sp>
      <p:sp>
        <p:nvSpPr>
          <p:cNvPr id="286" name="타원 285">
            <a:extLst>
              <a:ext uri="{FF2B5EF4-FFF2-40B4-BE49-F238E27FC236}">
                <a16:creationId xmlns:a16="http://schemas.microsoft.com/office/drawing/2014/main" id="{63DCDB48-E765-0EEF-8FA7-DF0910A14A12}"/>
              </a:ext>
            </a:extLst>
          </p:cNvPr>
          <p:cNvSpPr/>
          <p:nvPr/>
        </p:nvSpPr>
        <p:spPr>
          <a:xfrm>
            <a:off x="-2797233" y="-267581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DBD385C2-DBA0-44D4-DF3D-4768220DB391}"/>
              </a:ext>
            </a:extLst>
          </p:cNvPr>
          <p:cNvSpPr txBox="1"/>
          <p:nvPr/>
        </p:nvSpPr>
        <p:spPr>
          <a:xfrm>
            <a:off x="-3352647" y="2104"/>
            <a:ext cx="13244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6.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ad-batch </a:t>
            </a:r>
            <a:r>
              <a:rPr kumimoji="1" lang="ko-KR" altLang="en-US" sz="1000" dirty="0">
                <a:solidFill>
                  <a:srgbClr val="0070C0"/>
                </a:solidFill>
              </a:rPr>
              <a:t>앱 기동</a:t>
            </a:r>
          </a:p>
        </p:txBody>
      </p:sp>
      <p:cxnSp>
        <p:nvCxnSpPr>
          <p:cNvPr id="288" name="직선 화살표 연결선 287">
            <a:extLst>
              <a:ext uri="{FF2B5EF4-FFF2-40B4-BE49-F238E27FC236}">
                <a16:creationId xmlns:a16="http://schemas.microsoft.com/office/drawing/2014/main" id="{35B6525F-FAFE-F97C-F281-CAA23BBB9B93}"/>
              </a:ext>
            </a:extLst>
          </p:cNvPr>
          <p:cNvCxnSpPr>
            <a:cxnSpLocks/>
            <a:stCxn id="286" idx="6"/>
            <a:endCxn id="285" idx="1"/>
          </p:cNvCxnSpPr>
          <p:nvPr/>
        </p:nvCxnSpPr>
        <p:spPr>
          <a:xfrm flipV="1">
            <a:off x="-2563317" y="-178340"/>
            <a:ext cx="16855755" cy="383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2" name="직사각형 291">
            <a:extLst>
              <a:ext uri="{FF2B5EF4-FFF2-40B4-BE49-F238E27FC236}">
                <a16:creationId xmlns:a16="http://schemas.microsoft.com/office/drawing/2014/main" id="{51C42045-CD9A-A757-A50A-F7A50D418359}"/>
              </a:ext>
            </a:extLst>
          </p:cNvPr>
          <p:cNvSpPr/>
          <p:nvPr/>
        </p:nvSpPr>
        <p:spPr>
          <a:xfrm>
            <a:off x="15541191" y="1488301"/>
            <a:ext cx="1114780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spring-boot-starter-</a:t>
            </a:r>
            <a:r>
              <a:rPr kumimoji="1" lang="en-US" altLang="ko-KR" sz="800" dirty="0" err="1">
                <a:solidFill>
                  <a:sysClr val="windowText" lastClr="000000"/>
                </a:solidFill>
              </a:rPr>
              <a:t>jdbc</a:t>
            </a:r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293" name="직사각형 292">
            <a:extLst>
              <a:ext uri="{FF2B5EF4-FFF2-40B4-BE49-F238E27FC236}">
                <a16:creationId xmlns:a16="http://schemas.microsoft.com/office/drawing/2014/main" id="{761CD866-7F6E-B39F-962E-A050C069AD99}"/>
              </a:ext>
            </a:extLst>
          </p:cNvPr>
          <p:cNvSpPr/>
          <p:nvPr/>
        </p:nvSpPr>
        <p:spPr>
          <a:xfrm>
            <a:off x="14316203" y="1488301"/>
            <a:ext cx="1089703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</a:t>
            </a:r>
          </a:p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297" name="직사각형 296">
            <a:extLst>
              <a:ext uri="{FF2B5EF4-FFF2-40B4-BE49-F238E27FC236}">
                <a16:creationId xmlns:a16="http://schemas.microsoft.com/office/drawing/2014/main" id="{6F9AA088-6375-8408-E5BD-84A0F96191AB}"/>
              </a:ext>
            </a:extLst>
          </p:cNvPr>
          <p:cNvSpPr/>
          <p:nvPr/>
        </p:nvSpPr>
        <p:spPr>
          <a:xfrm>
            <a:off x="14688273" y="2363569"/>
            <a:ext cx="1574157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HourlyStatsJob</a:t>
            </a:r>
            <a:endParaRPr kumimoji="1" lang="ko-KR" altLang="en-US" sz="1000" dirty="0"/>
          </a:p>
        </p:txBody>
      </p:sp>
      <p:cxnSp>
        <p:nvCxnSpPr>
          <p:cNvPr id="302" name="직선 화살표 연결선 301">
            <a:extLst>
              <a:ext uri="{FF2B5EF4-FFF2-40B4-BE49-F238E27FC236}">
                <a16:creationId xmlns:a16="http://schemas.microsoft.com/office/drawing/2014/main" id="{1E465C21-F36C-86C9-3F9A-06319954AF50}"/>
              </a:ext>
            </a:extLst>
          </p:cNvPr>
          <p:cNvCxnSpPr>
            <a:cxnSpLocks/>
            <a:endCxn id="293" idx="0"/>
          </p:cNvCxnSpPr>
          <p:nvPr/>
        </p:nvCxnSpPr>
        <p:spPr>
          <a:xfrm>
            <a:off x="14861055" y="0"/>
            <a:ext cx="0" cy="148830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직선 화살표 연결선 305">
            <a:extLst>
              <a:ext uri="{FF2B5EF4-FFF2-40B4-BE49-F238E27FC236}">
                <a16:creationId xmlns:a16="http://schemas.microsoft.com/office/drawing/2014/main" id="{D9A427D1-8448-7F9C-C095-45CA279382A7}"/>
              </a:ext>
            </a:extLst>
          </p:cNvPr>
          <p:cNvCxnSpPr>
            <a:cxnSpLocks/>
            <a:endCxn id="292" idx="0"/>
          </p:cNvCxnSpPr>
          <p:nvPr/>
        </p:nvCxnSpPr>
        <p:spPr>
          <a:xfrm>
            <a:off x="16098581" y="0"/>
            <a:ext cx="0" cy="148830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구부러진 연결선[U] 310">
            <a:extLst>
              <a:ext uri="{FF2B5EF4-FFF2-40B4-BE49-F238E27FC236}">
                <a16:creationId xmlns:a16="http://schemas.microsoft.com/office/drawing/2014/main" id="{B659BA46-494D-78D8-FBAC-48A75EB0DB44}"/>
              </a:ext>
            </a:extLst>
          </p:cNvPr>
          <p:cNvCxnSpPr>
            <a:stCxn id="297" idx="0"/>
            <a:endCxn id="297" idx="2"/>
          </p:cNvCxnSpPr>
          <p:nvPr/>
        </p:nvCxnSpPr>
        <p:spPr>
          <a:xfrm rot="16200000" flipH="1">
            <a:off x="15297011" y="2541909"/>
            <a:ext cx="356681" cy="12700"/>
          </a:xfrm>
          <a:prstGeom prst="curvedConnector5">
            <a:avLst>
              <a:gd name="adj1" fmla="val -64091"/>
              <a:gd name="adj2" fmla="val 7997472"/>
              <a:gd name="adj3" fmla="val 164091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2ED0EE7B-5128-ACAD-AF14-884CB8FB7F24}"/>
              </a:ext>
            </a:extLst>
          </p:cNvPr>
          <p:cNvCxnSpPr>
            <a:cxnSpLocks/>
            <a:endCxn id="293" idx="2"/>
          </p:cNvCxnSpPr>
          <p:nvPr/>
        </p:nvCxnSpPr>
        <p:spPr>
          <a:xfrm flipV="1">
            <a:off x="14861055" y="1861302"/>
            <a:ext cx="0" cy="488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6" name="직선 화살표 연결선 315">
            <a:extLst>
              <a:ext uri="{FF2B5EF4-FFF2-40B4-BE49-F238E27FC236}">
                <a16:creationId xmlns:a16="http://schemas.microsoft.com/office/drawing/2014/main" id="{A249C557-3FE8-D431-5024-F0256852E212}"/>
              </a:ext>
            </a:extLst>
          </p:cNvPr>
          <p:cNvCxnSpPr>
            <a:cxnSpLocks/>
            <a:endCxn id="292" idx="2"/>
          </p:cNvCxnSpPr>
          <p:nvPr/>
        </p:nvCxnSpPr>
        <p:spPr>
          <a:xfrm flipV="1">
            <a:off x="16098581" y="1861302"/>
            <a:ext cx="0" cy="488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1" name="직선 화살표 연결선 320">
            <a:extLst>
              <a:ext uri="{FF2B5EF4-FFF2-40B4-BE49-F238E27FC236}">
                <a16:creationId xmlns:a16="http://schemas.microsoft.com/office/drawing/2014/main" id="{90B9EB9E-DD4B-143A-8AB8-EA4DEC1F14C7}"/>
              </a:ext>
            </a:extLst>
          </p:cNvPr>
          <p:cNvCxnSpPr>
            <a:cxnSpLocks/>
            <a:stCxn id="292" idx="3"/>
          </p:cNvCxnSpPr>
          <p:nvPr/>
        </p:nvCxnSpPr>
        <p:spPr>
          <a:xfrm>
            <a:off x="16655971" y="1674802"/>
            <a:ext cx="8333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0" name="TextBox 329">
            <a:extLst>
              <a:ext uri="{FF2B5EF4-FFF2-40B4-BE49-F238E27FC236}">
                <a16:creationId xmlns:a16="http://schemas.microsoft.com/office/drawing/2014/main" id="{88C31E1A-5B3D-4977-DCE9-1880C201180B}"/>
              </a:ext>
            </a:extLst>
          </p:cNvPr>
          <p:cNvSpPr txBox="1"/>
          <p:nvPr/>
        </p:nvSpPr>
        <p:spPr>
          <a:xfrm>
            <a:off x="16794608" y="1479692"/>
            <a:ext cx="53251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DB CRUD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DB334D99-B8ED-B0B6-FF02-3A358D49F559}"/>
              </a:ext>
            </a:extLst>
          </p:cNvPr>
          <p:cNvSpPr txBox="1"/>
          <p:nvPr/>
        </p:nvSpPr>
        <p:spPr>
          <a:xfrm>
            <a:off x="16102056" y="1966680"/>
            <a:ext cx="822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600" b="1" dirty="0">
                <a:solidFill>
                  <a:schemeClr val="accent2"/>
                </a:solidFill>
              </a:rPr>
              <a:t>앱 시작 </a:t>
            </a:r>
            <a:r>
              <a:rPr kumimoji="1" lang="en-US" altLang="ko-KR" sz="600" b="1" dirty="0">
                <a:solidFill>
                  <a:schemeClr val="accent2"/>
                </a:solidFill>
              </a:rPr>
              <a:t>5</a:t>
            </a:r>
            <a:r>
              <a:rPr kumimoji="1" lang="ko-KR" altLang="en-US" sz="600" b="1" dirty="0">
                <a:solidFill>
                  <a:schemeClr val="accent2"/>
                </a:solidFill>
              </a:rPr>
              <a:t>초 뒤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5</a:t>
            </a:r>
            <a:r>
              <a:rPr kumimoji="1" lang="ko-KR" altLang="en-US" sz="600" b="1" dirty="0">
                <a:solidFill>
                  <a:schemeClr val="accent2"/>
                </a:solidFill>
              </a:rPr>
              <a:t>분 마다 배치실행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85F4BDC4-8BAF-9BE4-5A20-7CC30D28A53E}"/>
              </a:ext>
            </a:extLst>
          </p:cNvPr>
          <p:cNvSpPr txBox="1"/>
          <p:nvPr/>
        </p:nvSpPr>
        <p:spPr>
          <a:xfrm>
            <a:off x="16541892" y="1687824"/>
            <a:ext cx="10727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UPDATE ad_stats_hourly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2C16477B-87E7-C0A3-906A-82E1C2C0CEA5}"/>
              </a:ext>
            </a:extLst>
          </p:cNvPr>
          <p:cNvSpPr txBox="1"/>
          <p:nvPr/>
        </p:nvSpPr>
        <p:spPr>
          <a:xfrm>
            <a:off x="14373566" y="2989286"/>
            <a:ext cx="53251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DB CRUD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A4CB3BD1-51C2-16E8-EA87-AF38F62FBBD7}"/>
              </a:ext>
            </a:extLst>
          </p:cNvPr>
          <p:cNvSpPr txBox="1"/>
          <p:nvPr/>
        </p:nvSpPr>
        <p:spPr>
          <a:xfrm>
            <a:off x="14235539" y="3198034"/>
            <a:ext cx="79861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INSERT ad_event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925E6AAB-BFE6-D423-AA3E-655557440202}"/>
              </a:ext>
            </a:extLst>
          </p:cNvPr>
          <p:cNvSpPr txBox="1"/>
          <p:nvPr/>
        </p:nvSpPr>
        <p:spPr>
          <a:xfrm>
            <a:off x="-3913251" y="-2900941"/>
            <a:ext cx="28536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버전</a:t>
            </a:r>
            <a:r>
              <a:rPr kumimoji="1" lang="en-US" altLang="ko-KR" dirty="0"/>
              <a:t>3:</a:t>
            </a:r>
          </a:p>
          <a:p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Placement_stats_hourly</a:t>
            </a:r>
            <a:r>
              <a:rPr kumimoji="1" lang="en-US" altLang="ko-KR" dirty="0"/>
              <a:t> </a:t>
            </a:r>
          </a:p>
          <a:p>
            <a:r>
              <a:rPr kumimoji="1" lang="ko-KR" altLang="en-US" dirty="0"/>
              <a:t>테이블 추가</a:t>
            </a:r>
            <a:endParaRPr kumimoji="1" lang="en-US" altLang="ko-KR" dirty="0"/>
          </a:p>
          <a:p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Ad-db-migration </a:t>
            </a:r>
          </a:p>
          <a:p>
            <a:r>
              <a:rPr kumimoji="1" lang="ko-KR" altLang="en-US" dirty="0"/>
              <a:t>추가</a:t>
            </a:r>
            <a:r>
              <a:rPr kumimoji="1" lang="en-US" altLang="ko-KR" dirty="0"/>
              <a:t>(Flyway)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3EFDE61C-3180-BB8F-6767-2A124BB3DD52}"/>
              </a:ext>
            </a:extLst>
          </p:cNvPr>
          <p:cNvCxnSpPr>
            <a:cxnSpLocks/>
          </p:cNvCxnSpPr>
          <p:nvPr/>
        </p:nvCxnSpPr>
        <p:spPr>
          <a:xfrm flipV="1">
            <a:off x="11857754" y="3183114"/>
            <a:ext cx="5633256" cy="3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FD6FB56E-EB3F-B0E8-2C82-F233EDE00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04364"/>
              </p:ext>
            </p:extLst>
          </p:nvPr>
        </p:nvGraphicFramePr>
        <p:xfrm>
          <a:off x="17581634" y="5234915"/>
          <a:ext cx="1457960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6040337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51222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489118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203276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620463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818293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29149594"/>
                    </a:ext>
                  </a:extLst>
                </a:gridCol>
              </a:tblGrid>
              <a:tr h="1790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706128"/>
                  </a:ext>
                </a:extLst>
              </a:tr>
              <a:tr h="1790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470320"/>
                  </a:ext>
                </a:extLst>
              </a:tr>
            </a:tbl>
          </a:graphicData>
        </a:graphic>
      </p:graphicFrame>
      <p:sp>
        <p:nvSpPr>
          <p:cNvPr id="95" name="TextBox 94">
            <a:extLst>
              <a:ext uri="{FF2B5EF4-FFF2-40B4-BE49-F238E27FC236}">
                <a16:creationId xmlns:a16="http://schemas.microsoft.com/office/drawing/2014/main" id="{4B049AF4-7E2F-F2DA-C84E-E827AE2F8D36}"/>
              </a:ext>
            </a:extLst>
          </p:cNvPr>
          <p:cNvSpPr txBox="1"/>
          <p:nvPr/>
        </p:nvSpPr>
        <p:spPr>
          <a:xfrm>
            <a:off x="17542176" y="4979976"/>
            <a:ext cx="16065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 err="1"/>
              <a:t>placement_stats_hourly</a:t>
            </a:r>
            <a:endParaRPr kumimoji="1" lang="ko-KR" altLang="en-US" sz="1000" b="1" dirty="0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CF28D933-1A31-C3B9-D65D-E2F9B4D413B9}"/>
              </a:ext>
            </a:extLst>
          </p:cNvPr>
          <p:cNvSpPr/>
          <p:nvPr/>
        </p:nvSpPr>
        <p:spPr>
          <a:xfrm>
            <a:off x="19864636" y="-1169091"/>
            <a:ext cx="2826118" cy="93696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ad-db-migration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448CBBC-3D86-B60E-0BDB-BE092B2D672A}"/>
              </a:ext>
            </a:extLst>
          </p:cNvPr>
          <p:cNvSpPr/>
          <p:nvPr/>
        </p:nvSpPr>
        <p:spPr>
          <a:xfrm>
            <a:off x="20466122" y="7474405"/>
            <a:ext cx="1571946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DbMigrationApplication</a:t>
            </a:r>
            <a:endParaRPr kumimoji="1" lang="ko-KR" altLang="en-US" sz="1000" dirty="0"/>
          </a:p>
        </p:txBody>
      </p:sp>
      <p:cxnSp>
        <p:nvCxnSpPr>
          <p:cNvPr id="107" name="꺾인 연결선[E] 106">
            <a:extLst>
              <a:ext uri="{FF2B5EF4-FFF2-40B4-BE49-F238E27FC236}">
                <a16:creationId xmlns:a16="http://schemas.microsoft.com/office/drawing/2014/main" id="{3D21C780-CD81-2F9C-AB4E-25BDF07F01A4}"/>
              </a:ext>
            </a:extLst>
          </p:cNvPr>
          <p:cNvCxnSpPr>
            <a:cxnSpLocks/>
            <a:stCxn id="69" idx="2"/>
            <a:endCxn id="105" idx="0"/>
          </p:cNvCxnSpPr>
          <p:nvPr/>
        </p:nvCxnSpPr>
        <p:spPr>
          <a:xfrm rot="16200000" flipH="1">
            <a:off x="13913313" y="-8533474"/>
            <a:ext cx="1036421" cy="1369234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타원 116">
            <a:extLst>
              <a:ext uri="{FF2B5EF4-FFF2-40B4-BE49-F238E27FC236}">
                <a16:creationId xmlns:a16="http://schemas.microsoft.com/office/drawing/2014/main" id="{266017CE-FBC5-BE43-010D-F7ADDD49E0F5}"/>
              </a:ext>
            </a:extLst>
          </p:cNvPr>
          <p:cNvSpPr/>
          <p:nvPr/>
        </p:nvSpPr>
        <p:spPr>
          <a:xfrm>
            <a:off x="-2810929" y="7483015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27DAD4B-CB65-1AFE-7FFD-C649C43ECBD0}"/>
              </a:ext>
            </a:extLst>
          </p:cNvPr>
          <p:cNvSpPr txBox="1"/>
          <p:nvPr/>
        </p:nvSpPr>
        <p:spPr>
          <a:xfrm>
            <a:off x="-3610800" y="7743604"/>
            <a:ext cx="20842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9.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DB </a:t>
            </a:r>
            <a:r>
              <a:rPr kumimoji="1" lang="ko-KR" altLang="en-US" sz="1000" dirty="0">
                <a:solidFill>
                  <a:srgbClr val="0070C0"/>
                </a:solidFill>
              </a:rPr>
              <a:t>스키마 </a:t>
            </a:r>
            <a:r>
              <a:rPr kumimoji="1" lang="ko-KR" altLang="en-US" sz="1000" dirty="0" err="1">
                <a:solidFill>
                  <a:srgbClr val="0070C0"/>
                </a:solidFill>
              </a:rPr>
              <a:t>수정시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Flyway</a:t>
            </a:r>
            <a:r>
              <a:rPr kumimoji="1" lang="ko-KR" altLang="en-US" sz="1000" dirty="0">
                <a:solidFill>
                  <a:srgbClr val="0070C0"/>
                </a:solidFill>
              </a:rPr>
              <a:t> 실행</a:t>
            </a:r>
          </a:p>
        </p:txBody>
      </p: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766BFCE3-D77C-59AA-3CE4-82135E3DCAD5}"/>
              </a:ext>
            </a:extLst>
          </p:cNvPr>
          <p:cNvCxnSpPr>
            <a:cxnSpLocks/>
            <a:stCxn id="117" idx="6"/>
            <a:endCxn id="106" idx="1"/>
          </p:cNvCxnSpPr>
          <p:nvPr/>
        </p:nvCxnSpPr>
        <p:spPr>
          <a:xfrm>
            <a:off x="-2577013" y="7610606"/>
            <a:ext cx="23043135" cy="4214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5E7D71BC-E743-B516-5C1F-5A58D66BF9C4}"/>
              </a:ext>
            </a:extLst>
          </p:cNvPr>
          <p:cNvSpPr/>
          <p:nvPr/>
        </p:nvSpPr>
        <p:spPr>
          <a:xfrm>
            <a:off x="20523166" y="3654330"/>
            <a:ext cx="1469228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spring-boot-starter-</a:t>
            </a:r>
            <a:r>
              <a:rPr kumimoji="1" lang="en-US" altLang="ko-KR" sz="800" dirty="0" err="1">
                <a:solidFill>
                  <a:sysClr val="windowText" lastClr="000000"/>
                </a:solidFill>
              </a:rPr>
              <a:t>jdbc</a:t>
            </a:r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7E2E72B5-4235-757D-4EEE-F972855032B1}"/>
              </a:ext>
            </a:extLst>
          </p:cNvPr>
          <p:cNvSpPr/>
          <p:nvPr/>
        </p:nvSpPr>
        <p:spPr>
          <a:xfrm>
            <a:off x="20521945" y="6619128"/>
            <a:ext cx="1469228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Flyway-</a:t>
            </a:r>
            <a:r>
              <a:rPr kumimoji="1" lang="en-US" altLang="ko-KR" sz="800" dirty="0" err="1">
                <a:solidFill>
                  <a:sysClr val="windowText" lastClr="000000"/>
                </a:solidFill>
              </a:rPr>
              <a:t>mysql</a:t>
            </a:r>
            <a:endParaRPr kumimoji="1" lang="en-US" altLang="ko-KR" sz="800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08F3DC53-869C-F0DF-F115-0F5568A00CB5}"/>
              </a:ext>
            </a:extLst>
          </p:cNvPr>
          <p:cNvCxnSpPr>
            <a:cxnSpLocks/>
            <a:stCxn id="106" idx="0"/>
            <a:endCxn id="128" idx="2"/>
          </p:cNvCxnSpPr>
          <p:nvPr/>
        </p:nvCxnSpPr>
        <p:spPr>
          <a:xfrm flipV="1">
            <a:off x="21252095" y="6992129"/>
            <a:ext cx="4464" cy="48227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6B56FBEE-B7B1-69E9-0752-44FB40129715}"/>
              </a:ext>
            </a:extLst>
          </p:cNvPr>
          <p:cNvCxnSpPr>
            <a:cxnSpLocks/>
            <a:stCxn id="125" idx="1"/>
          </p:cNvCxnSpPr>
          <p:nvPr/>
        </p:nvCxnSpPr>
        <p:spPr>
          <a:xfrm flipH="1">
            <a:off x="19222947" y="3840831"/>
            <a:ext cx="1300219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한쪽 모서리가 잘린 사각형 164">
            <a:extLst>
              <a:ext uri="{FF2B5EF4-FFF2-40B4-BE49-F238E27FC236}">
                <a16:creationId xmlns:a16="http://schemas.microsoft.com/office/drawing/2014/main" id="{3DAA12AB-4C00-D31E-D7F9-C6876EF3302F}"/>
              </a:ext>
            </a:extLst>
          </p:cNvPr>
          <p:cNvSpPr/>
          <p:nvPr/>
        </p:nvSpPr>
        <p:spPr>
          <a:xfrm>
            <a:off x="20057807" y="4502692"/>
            <a:ext cx="2389205" cy="1628578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db/migration folder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1" name="한쪽 모서리가 잘린 사각형 160">
            <a:extLst>
              <a:ext uri="{FF2B5EF4-FFF2-40B4-BE49-F238E27FC236}">
                <a16:creationId xmlns:a16="http://schemas.microsoft.com/office/drawing/2014/main" id="{B9CEAC35-9016-2171-6A11-D633FE1EDECE}"/>
              </a:ext>
            </a:extLst>
          </p:cNvPr>
          <p:cNvSpPr/>
          <p:nvPr/>
        </p:nvSpPr>
        <p:spPr>
          <a:xfrm>
            <a:off x="20261583" y="4929476"/>
            <a:ext cx="1972637" cy="421729"/>
          </a:xfrm>
          <a:prstGeom prst="snip1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V1__init.sql</a:t>
            </a:r>
            <a:endParaRPr kumimoji="1" lang="ko-KR" altLang="en-US" sz="1000" dirty="0"/>
          </a:p>
        </p:txBody>
      </p:sp>
      <p:sp>
        <p:nvSpPr>
          <p:cNvPr id="163" name="한쪽 모서리가 잘린 사각형 162">
            <a:extLst>
              <a:ext uri="{FF2B5EF4-FFF2-40B4-BE49-F238E27FC236}">
                <a16:creationId xmlns:a16="http://schemas.microsoft.com/office/drawing/2014/main" id="{11CA3895-1DF9-0ECC-E13F-D613CD81E869}"/>
              </a:ext>
            </a:extLst>
          </p:cNvPr>
          <p:cNvSpPr/>
          <p:nvPr/>
        </p:nvSpPr>
        <p:spPr>
          <a:xfrm>
            <a:off x="20271857" y="5519222"/>
            <a:ext cx="1972637" cy="421729"/>
          </a:xfrm>
          <a:prstGeom prst="snip1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V2__add_placement_stats.sql</a:t>
            </a:r>
            <a:endParaRPr kumimoji="1" lang="ko-KR" altLang="en-US" sz="1000" dirty="0"/>
          </a:p>
        </p:txBody>
      </p: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46246CE5-D68E-BAD5-9893-A4EB49E07D81}"/>
              </a:ext>
            </a:extLst>
          </p:cNvPr>
          <p:cNvCxnSpPr>
            <a:cxnSpLocks/>
            <a:stCxn id="128" idx="0"/>
            <a:endCxn id="165" idx="1"/>
          </p:cNvCxnSpPr>
          <p:nvPr/>
        </p:nvCxnSpPr>
        <p:spPr>
          <a:xfrm flipH="1" flipV="1">
            <a:off x="21252410" y="6131270"/>
            <a:ext cx="4149" cy="48785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B2C1CF15-8441-80DA-F33B-5C13A8997ACC}"/>
              </a:ext>
            </a:extLst>
          </p:cNvPr>
          <p:cNvCxnSpPr>
            <a:cxnSpLocks/>
            <a:stCxn id="165" idx="3"/>
            <a:endCxn id="125" idx="2"/>
          </p:cNvCxnSpPr>
          <p:nvPr/>
        </p:nvCxnSpPr>
        <p:spPr>
          <a:xfrm flipV="1">
            <a:off x="21252410" y="4027331"/>
            <a:ext cx="5370" cy="47536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타원 179">
            <a:extLst>
              <a:ext uri="{FF2B5EF4-FFF2-40B4-BE49-F238E27FC236}">
                <a16:creationId xmlns:a16="http://schemas.microsoft.com/office/drawing/2014/main" id="{FA2581DC-FEE4-1AB3-2BEE-A02A6BAA9956}"/>
              </a:ext>
            </a:extLst>
          </p:cNvPr>
          <p:cNvSpPr/>
          <p:nvPr/>
        </p:nvSpPr>
        <p:spPr>
          <a:xfrm>
            <a:off x="-2816877" y="8578903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9E19DB0B-1B65-FA9D-0E41-8A3CEC8D040D}"/>
              </a:ext>
            </a:extLst>
          </p:cNvPr>
          <p:cNvSpPr txBox="1"/>
          <p:nvPr/>
        </p:nvSpPr>
        <p:spPr>
          <a:xfrm>
            <a:off x="-4004205" y="8839492"/>
            <a:ext cx="25827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10.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DB</a:t>
            </a:r>
            <a:r>
              <a:rPr kumimoji="1" lang="ko-KR" altLang="en-US" sz="1000" dirty="0">
                <a:solidFill>
                  <a:srgbClr val="0070C0"/>
                </a:solidFill>
              </a:rPr>
              <a:t> 조회 클라이언트 툴</a:t>
            </a:r>
            <a:r>
              <a:rPr kumimoji="1" lang="en-US" altLang="ko-KR" sz="1000" dirty="0">
                <a:solidFill>
                  <a:srgbClr val="0070C0"/>
                </a:solidFill>
              </a:rPr>
              <a:t>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 err="1">
                <a:solidFill>
                  <a:srgbClr val="0070C0"/>
                </a:solidFill>
              </a:rPr>
              <a:t>DBeaver</a:t>
            </a:r>
            <a:r>
              <a:rPr kumimoji="1" lang="en-US" altLang="ko-KR" sz="1000" dirty="0">
                <a:solidFill>
                  <a:srgbClr val="0070C0"/>
                </a:solidFill>
              </a:rPr>
              <a:t> </a:t>
            </a:r>
            <a:r>
              <a:rPr kumimoji="1" lang="ko-KR" altLang="en-US" sz="1000" dirty="0">
                <a:solidFill>
                  <a:srgbClr val="0070C0"/>
                </a:solidFill>
              </a:rPr>
              <a:t>사용</a:t>
            </a:r>
          </a:p>
        </p:txBody>
      </p:sp>
      <p:sp>
        <p:nvSpPr>
          <p:cNvPr id="182" name="모서리가 둥근 사각형 설명선[R] 181">
            <a:extLst>
              <a:ext uri="{FF2B5EF4-FFF2-40B4-BE49-F238E27FC236}">
                <a16:creationId xmlns:a16="http://schemas.microsoft.com/office/drawing/2014/main" id="{3FB9465A-C195-C35D-5EB5-E00E0F410C52}"/>
              </a:ext>
            </a:extLst>
          </p:cNvPr>
          <p:cNvSpPr/>
          <p:nvPr/>
        </p:nvSpPr>
        <p:spPr>
          <a:xfrm>
            <a:off x="22085111" y="6907874"/>
            <a:ext cx="3140093" cy="597115"/>
          </a:xfrm>
          <a:prstGeom prst="wedgeRoundRectCallout">
            <a:avLst>
              <a:gd name="adj1" fmla="val -57472"/>
              <a:gd name="adj2" fmla="val 21056"/>
              <a:gd name="adj3" fmla="val 16667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ad-db-migration </a:t>
            </a:r>
            <a:r>
              <a:rPr kumimoji="1" lang="ko-KR" altLang="en-US" sz="600" dirty="0">
                <a:solidFill>
                  <a:srgbClr val="FF0000"/>
                </a:solidFill>
              </a:rPr>
              <a:t>장애대응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간단한 추가</a:t>
            </a:r>
            <a:r>
              <a:rPr kumimoji="1" lang="en-US" altLang="ko-KR" sz="600" dirty="0">
                <a:solidFill>
                  <a:srgbClr val="FF0000"/>
                </a:solidFill>
              </a:rPr>
              <a:t>/</a:t>
            </a:r>
            <a:r>
              <a:rPr kumimoji="1" lang="ko-KR" altLang="en-US" sz="600" dirty="0">
                <a:solidFill>
                  <a:srgbClr val="FF0000"/>
                </a:solidFill>
              </a:rPr>
              <a:t>변경은 </a:t>
            </a:r>
            <a:r>
              <a:rPr kumimoji="1" lang="en-US" altLang="ko-KR" sz="600" dirty="0">
                <a:solidFill>
                  <a:srgbClr val="FF0000"/>
                </a:solidFill>
              </a:rPr>
              <a:t>Flyway</a:t>
            </a:r>
            <a:r>
              <a:rPr kumimoji="1" lang="ko-KR" altLang="en-US" sz="600" dirty="0">
                <a:solidFill>
                  <a:srgbClr val="FF0000"/>
                </a:solidFill>
              </a:rPr>
              <a:t> 나 </a:t>
            </a:r>
            <a:r>
              <a:rPr kumimoji="1" lang="en-US" altLang="ko-KR" sz="600" dirty="0">
                <a:solidFill>
                  <a:srgbClr val="FF0000"/>
                </a:solidFill>
              </a:rPr>
              <a:t>MySQL ALGORITHM=INSTANT </a:t>
            </a:r>
            <a:r>
              <a:rPr kumimoji="1" lang="ko-KR" altLang="en-US" sz="600" dirty="0">
                <a:solidFill>
                  <a:srgbClr val="FF0000"/>
                </a:solidFill>
              </a:rPr>
              <a:t>로 커버 가능하지만 나중에 큰 테이블의 구조를 바꿀 때는 잠금 위험이 있음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gh-ost</a:t>
            </a:r>
            <a:r>
              <a:rPr kumimoji="1" lang="en-US" altLang="ko-KR" sz="600" dirty="0">
                <a:solidFill>
                  <a:srgbClr val="FF0000"/>
                </a:solidFill>
              </a:rPr>
              <a:t> </a:t>
            </a:r>
            <a:r>
              <a:rPr kumimoji="1" lang="ko-KR" altLang="en-US" sz="600" dirty="0">
                <a:solidFill>
                  <a:srgbClr val="FF0000"/>
                </a:solidFill>
              </a:rPr>
              <a:t>나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Percona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를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Flyway </a:t>
            </a:r>
            <a:r>
              <a:rPr kumimoji="1" lang="ko-KR" altLang="en-US" sz="600" dirty="0">
                <a:solidFill>
                  <a:srgbClr val="FF0000"/>
                </a:solidFill>
              </a:rPr>
              <a:t>밖에서 사용하고</a:t>
            </a:r>
            <a:r>
              <a:rPr kumimoji="1" lang="en-US" altLang="ko-KR" sz="600" dirty="0">
                <a:solidFill>
                  <a:srgbClr val="FF0000"/>
                </a:solidFill>
              </a:rPr>
              <a:t>,</a:t>
            </a:r>
            <a:r>
              <a:rPr kumimoji="1" lang="ko-KR" altLang="en-US" sz="600" dirty="0">
                <a:solidFill>
                  <a:srgbClr val="FF0000"/>
                </a:solidFill>
              </a:rPr>
              <a:t> 레코드들은 한번에 채우지 말고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PK</a:t>
            </a:r>
            <a:r>
              <a:rPr kumimoji="1" lang="ko-KR" altLang="en-US" sz="600" dirty="0">
                <a:solidFill>
                  <a:srgbClr val="FF0000"/>
                </a:solidFill>
              </a:rPr>
              <a:t> 범위로 나눠서 조금씩 커밋하는 배치로 한다</a:t>
            </a:r>
            <a:r>
              <a:rPr kumimoji="1" lang="en-US" altLang="ko-KR" sz="6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83" name="번개[L] 182">
            <a:extLst>
              <a:ext uri="{FF2B5EF4-FFF2-40B4-BE49-F238E27FC236}">
                <a16:creationId xmlns:a16="http://schemas.microsoft.com/office/drawing/2014/main" id="{77C3185E-70B8-D472-1E78-B5EE6767AC6D}"/>
              </a:ext>
            </a:extLst>
          </p:cNvPr>
          <p:cNvSpPr/>
          <p:nvPr/>
        </p:nvSpPr>
        <p:spPr>
          <a:xfrm>
            <a:off x="21573683" y="7136073"/>
            <a:ext cx="442543" cy="390649"/>
          </a:xfrm>
          <a:prstGeom prst="lightningBol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6A4472EB-8B9A-B428-D03D-5EA8A83BD66E}"/>
              </a:ext>
            </a:extLst>
          </p:cNvPr>
          <p:cNvSpPr/>
          <p:nvPr/>
        </p:nvSpPr>
        <p:spPr>
          <a:xfrm>
            <a:off x="17701090" y="8505371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DBeaver</a:t>
            </a:r>
            <a:r>
              <a:rPr kumimoji="1" lang="en-US" altLang="ko-KR" sz="1000" dirty="0"/>
              <a:t> Community</a:t>
            </a:r>
            <a:endParaRPr kumimoji="1" lang="ko-KR" altLang="en-US" sz="1000" dirty="0"/>
          </a:p>
        </p:txBody>
      </p: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13F3B468-92D3-C8A1-FF5A-E5E045CA2F75}"/>
              </a:ext>
            </a:extLst>
          </p:cNvPr>
          <p:cNvCxnSpPr>
            <a:cxnSpLocks/>
            <a:stCxn id="184" idx="0"/>
            <a:endCxn id="170" idx="3"/>
          </p:cNvCxnSpPr>
          <p:nvPr/>
        </p:nvCxnSpPr>
        <p:spPr>
          <a:xfrm flipV="1">
            <a:off x="18349536" y="6578513"/>
            <a:ext cx="0" cy="192685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ED56E72B-98BB-54FF-6E0E-BF37B7C904DF}"/>
              </a:ext>
            </a:extLst>
          </p:cNvPr>
          <p:cNvCxnSpPr>
            <a:cxnSpLocks/>
            <a:stCxn id="180" idx="6"/>
            <a:endCxn id="184" idx="1"/>
          </p:cNvCxnSpPr>
          <p:nvPr/>
        </p:nvCxnSpPr>
        <p:spPr>
          <a:xfrm flipV="1">
            <a:off x="-2582961" y="8683712"/>
            <a:ext cx="20284051" cy="2278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966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9EFE1FC-D397-ACEA-D06F-9BE342668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57" y="867211"/>
            <a:ext cx="11208885" cy="15157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6804906-A926-527A-81D1-01A21E263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57" y="3001452"/>
            <a:ext cx="7772400" cy="7985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FC63291-29F7-5417-57A2-0FFAA0ACF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57" y="5505261"/>
            <a:ext cx="7772400" cy="12306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A3C53F-D7BC-0F4D-DFF8-AB5F65C97228}"/>
              </a:ext>
            </a:extLst>
          </p:cNvPr>
          <p:cNvSpPr txBox="1"/>
          <p:nvPr/>
        </p:nvSpPr>
        <p:spPr>
          <a:xfrm>
            <a:off x="491557" y="488452"/>
            <a:ext cx="2036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 err="1"/>
              <a:t>ad_events</a:t>
            </a:r>
            <a:r>
              <a:rPr kumimoji="1" lang="en-US" altLang="ko-KR" b="1" dirty="0"/>
              <a:t> </a:t>
            </a:r>
            <a:r>
              <a:rPr kumimoji="1" lang="ko-KR" altLang="en-US" b="1" dirty="0"/>
              <a:t>테이블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029A61-7464-B9A3-225C-4BDEFD16265B}"/>
              </a:ext>
            </a:extLst>
          </p:cNvPr>
          <p:cNvSpPr txBox="1"/>
          <p:nvPr/>
        </p:nvSpPr>
        <p:spPr>
          <a:xfrm>
            <a:off x="491557" y="2622693"/>
            <a:ext cx="2642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ad_stats_hourly </a:t>
            </a:r>
            <a:r>
              <a:rPr kumimoji="1" lang="ko-KR" altLang="en-US" b="1" dirty="0"/>
              <a:t>테이블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4C344C-AAC2-3E66-E2E7-BFA30BC62163}"/>
              </a:ext>
            </a:extLst>
          </p:cNvPr>
          <p:cNvSpPr txBox="1"/>
          <p:nvPr/>
        </p:nvSpPr>
        <p:spPr>
          <a:xfrm>
            <a:off x="0" y="0"/>
            <a:ext cx="4148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V1__init.sql :</a:t>
            </a:r>
            <a:r>
              <a:rPr kumimoji="1" lang="en-US" altLang="ko-KR" dirty="0"/>
              <a:t> Flyway </a:t>
            </a:r>
            <a:r>
              <a:rPr kumimoji="1" lang="ko-KR" altLang="en-US" dirty="0"/>
              <a:t>마이그레이션 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86D018-4290-2871-1B56-692ED9EC76FB}"/>
              </a:ext>
            </a:extLst>
          </p:cNvPr>
          <p:cNvSpPr txBox="1"/>
          <p:nvPr/>
        </p:nvSpPr>
        <p:spPr>
          <a:xfrm>
            <a:off x="491557" y="5126504"/>
            <a:ext cx="405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 err="1"/>
              <a:t>Placement_stats_hourly</a:t>
            </a:r>
            <a:r>
              <a:rPr kumimoji="1" lang="en-US" altLang="ko-KR" b="1" dirty="0"/>
              <a:t> </a:t>
            </a:r>
            <a:r>
              <a:rPr kumimoji="1" lang="ko-KR" altLang="en-US" b="1" dirty="0"/>
              <a:t>테이블 추가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228156-78ED-4570-2A43-2C5885377CB9}"/>
              </a:ext>
            </a:extLst>
          </p:cNvPr>
          <p:cNvSpPr txBox="1"/>
          <p:nvPr/>
        </p:nvSpPr>
        <p:spPr>
          <a:xfrm>
            <a:off x="0" y="3941537"/>
            <a:ext cx="115211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V2__add_placement_stats.sql : </a:t>
            </a:r>
            <a:r>
              <a:rPr lang="en" altLang="ko-KR" dirty="0"/>
              <a:t>V2</a:t>
            </a:r>
            <a:r>
              <a:rPr lang="ko-KR" altLang="en-US" dirty="0"/>
              <a:t>는 마이그레이션 연습을 겸해 </a:t>
            </a:r>
            <a:r>
              <a:rPr lang="ko-KR" altLang="en-US" b="1" dirty="0"/>
              <a:t>빈 테이블만 생성</a:t>
            </a:r>
            <a:r>
              <a:rPr lang="ko-KR" altLang="en-US" dirty="0"/>
              <a:t>했고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레코드는 원래 돌던 집계 배치가 채운다</a:t>
            </a:r>
            <a:r>
              <a:rPr lang="en-US" altLang="ko-KR" dirty="0"/>
              <a:t>.</a:t>
            </a:r>
            <a:r>
              <a:rPr lang="ko-KR" altLang="en-US" dirty="0"/>
              <a:t> 나중에 </a:t>
            </a:r>
            <a:r>
              <a:rPr lang="ko-KR" altLang="en-US" b="1" dirty="0"/>
              <a:t>큰 테이블의 구조를 바꿀 때는</a:t>
            </a:r>
            <a:r>
              <a:rPr lang="ko-KR" altLang="en-US" dirty="0"/>
              <a:t> 잠금 위험이 있으니</a:t>
            </a:r>
            <a:r>
              <a:rPr lang="en-US" altLang="ko-KR" dirty="0"/>
              <a:t>, </a:t>
            </a:r>
            <a:r>
              <a:rPr lang="ko-KR" altLang="en-US" dirty="0"/>
              <a:t>가능하면 </a:t>
            </a:r>
            <a:endParaRPr lang="en-US" altLang="ko-KR" dirty="0"/>
          </a:p>
          <a:p>
            <a:r>
              <a:rPr lang="en" altLang="ko-KR" dirty="0"/>
              <a:t>ALGORITHM=INSTANT(</a:t>
            </a:r>
            <a:r>
              <a:rPr lang="ko-KR" altLang="en-US" dirty="0"/>
              <a:t>컬럼 추가</a:t>
            </a:r>
            <a:r>
              <a:rPr lang="en-US" altLang="ko-KR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쓰고 안 되면 </a:t>
            </a:r>
            <a:r>
              <a:rPr lang="en" altLang="ko-KR" dirty="0" err="1"/>
              <a:t>gh-ost</a:t>
            </a:r>
            <a:r>
              <a:rPr lang="ko-KR" altLang="en-US" dirty="0"/>
              <a:t>나 </a:t>
            </a:r>
            <a:r>
              <a:rPr lang="en" altLang="ko-KR" dirty="0"/>
              <a:t>pt-online-schema-change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" altLang="ko-KR" dirty="0"/>
              <a:t>Flyway </a:t>
            </a:r>
            <a:r>
              <a:rPr lang="ko-KR" altLang="en-US" dirty="0"/>
              <a:t>밖에서 쓴다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b="1" dirty="0"/>
              <a:t>대량 데이터를 채울 때는</a:t>
            </a:r>
            <a:r>
              <a:rPr lang="ko-KR" altLang="en-US" dirty="0"/>
              <a:t> 한 번에 하지 말고 </a:t>
            </a:r>
            <a:r>
              <a:rPr lang="en" altLang="ko-KR" dirty="0"/>
              <a:t>PK </a:t>
            </a:r>
            <a:r>
              <a:rPr lang="ko-KR" altLang="en-US" dirty="0"/>
              <a:t>범위로 나눠서 조금씩 커밋하는 배치로 한다</a:t>
            </a:r>
            <a:r>
              <a:rPr lang="en-US" altLang="ko-KR" dirty="0"/>
              <a:t>.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73786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ACE1E-AEE8-EA98-6F01-00B0B426E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0ACCB25-4658-4C84-798C-3E75C3216D35}"/>
              </a:ext>
            </a:extLst>
          </p:cNvPr>
          <p:cNvSpPr/>
          <p:nvPr/>
        </p:nvSpPr>
        <p:spPr>
          <a:xfrm>
            <a:off x="-1321330" y="-2900941"/>
            <a:ext cx="2253543" cy="1140631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3</a:t>
            </a:r>
            <a:r>
              <a:rPr kumimoji="1" lang="en-US" altLang="ko-KR" sz="1000" baseline="30000" dirty="0">
                <a:solidFill>
                  <a:sysClr val="windowText" lastClr="000000"/>
                </a:solidFill>
              </a:rPr>
              <a:t>rd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party App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29E387-CCA2-15C5-AF5E-9B43E2CCEA08}"/>
              </a:ext>
            </a:extLst>
          </p:cNvPr>
          <p:cNvSpPr/>
          <p:nvPr/>
        </p:nvSpPr>
        <p:spPr>
          <a:xfrm>
            <a:off x="-1075953" y="-1169090"/>
            <a:ext cx="1743472" cy="93841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ko-KR" altLang="en-US" sz="1000" dirty="0">
                <a:solidFill>
                  <a:sysClr val="windowText" lastClr="000000"/>
                </a:solidFill>
              </a:rPr>
              <a:t>광고화면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B9921C-1D17-8638-48F5-F821F735254C}"/>
              </a:ext>
            </a:extLst>
          </p:cNvPr>
          <p:cNvSpPr/>
          <p:nvPr/>
        </p:nvSpPr>
        <p:spPr>
          <a:xfrm>
            <a:off x="-784122" y="676978"/>
            <a:ext cx="1198978" cy="48927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ko-KR" sz="1000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Adwhale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Sdk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035F31-B017-4A5D-EC89-4AC3ED867CD4}"/>
              </a:ext>
            </a:extLst>
          </p:cNvPr>
          <p:cNvSpPr/>
          <p:nvPr/>
        </p:nvSpPr>
        <p:spPr>
          <a:xfrm>
            <a:off x="-562275" y="3505867"/>
            <a:ext cx="71422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광고요청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B0E71B5-B110-64EB-ED04-84E874C9D99D}"/>
              </a:ext>
            </a:extLst>
          </p:cNvPr>
          <p:cNvSpPr/>
          <p:nvPr/>
        </p:nvSpPr>
        <p:spPr>
          <a:xfrm>
            <a:off x="-570498" y="4033785"/>
            <a:ext cx="71422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광고응답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A404FA-D56C-6EB5-6070-265D6739FBBA}"/>
              </a:ext>
            </a:extLst>
          </p:cNvPr>
          <p:cNvSpPr/>
          <p:nvPr/>
        </p:nvSpPr>
        <p:spPr>
          <a:xfrm>
            <a:off x="1289324" y="-2894472"/>
            <a:ext cx="25112162" cy="1209474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                                 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adwhale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-ad-platform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F1F7C56-A9A6-AFEA-D133-D18C8F441564}"/>
              </a:ext>
            </a:extLst>
          </p:cNvPr>
          <p:cNvSpPr/>
          <p:nvPr/>
        </p:nvSpPr>
        <p:spPr>
          <a:xfrm>
            <a:off x="8441510" y="-2891887"/>
            <a:ext cx="3658947" cy="6954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ad-common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773FFF-4553-E79A-676E-E539615045F1}"/>
              </a:ext>
            </a:extLst>
          </p:cNvPr>
          <p:cNvSpPr/>
          <p:nvPr/>
        </p:nvSpPr>
        <p:spPr>
          <a:xfrm>
            <a:off x="8517819" y="-2629012"/>
            <a:ext cx="1146935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AdRequestEvent</a:t>
            </a:r>
            <a:endParaRPr kumimoji="1"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BBE6113-C08C-6CD4-263F-B32533B9A457}"/>
              </a:ext>
            </a:extLst>
          </p:cNvPr>
          <p:cNvSpPr/>
          <p:nvPr/>
        </p:nvSpPr>
        <p:spPr>
          <a:xfrm>
            <a:off x="10868827" y="-2639790"/>
            <a:ext cx="1146935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AdTrackingEvent</a:t>
            </a:r>
            <a:endParaRPr kumimoji="1" lang="ko-KR" altLang="en-US" sz="10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183870A-9B09-FB5C-100F-35008E3F8A90}"/>
              </a:ext>
            </a:extLst>
          </p:cNvPr>
          <p:cNvSpPr/>
          <p:nvPr/>
        </p:nvSpPr>
        <p:spPr>
          <a:xfrm>
            <a:off x="9749450" y="-2633495"/>
            <a:ext cx="1034681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AdTopicEnum</a:t>
            </a:r>
            <a:endParaRPr kumimoji="1"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6A7BB3C-1381-F809-0BA7-64B5C971C545}"/>
              </a:ext>
            </a:extLst>
          </p:cNvPr>
          <p:cNvSpPr/>
          <p:nvPr/>
        </p:nvSpPr>
        <p:spPr>
          <a:xfrm>
            <a:off x="6746218" y="-1169090"/>
            <a:ext cx="1732582" cy="938417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docker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6263180-D9E8-E8E0-90EA-E0246447686E}"/>
              </a:ext>
            </a:extLst>
          </p:cNvPr>
          <p:cNvSpPr/>
          <p:nvPr/>
        </p:nvSpPr>
        <p:spPr>
          <a:xfrm>
            <a:off x="6979754" y="5070997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adwhale-kafka</a:t>
            </a:r>
            <a:endParaRPr kumimoji="1" lang="ko-KR" altLang="en-US" sz="1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0A5EBF-F9B4-784A-01EE-FBCBDD5E3915}"/>
              </a:ext>
            </a:extLst>
          </p:cNvPr>
          <p:cNvSpPr/>
          <p:nvPr/>
        </p:nvSpPr>
        <p:spPr>
          <a:xfrm>
            <a:off x="6979754" y="6578514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adwhale-kafka-ui</a:t>
            </a:r>
            <a:endParaRPr kumimoji="1" lang="ko-KR" altLang="en-US" sz="10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88F4B2F-13C4-C3C4-8D2A-8782B351EDAA}"/>
              </a:ext>
            </a:extLst>
          </p:cNvPr>
          <p:cNvSpPr/>
          <p:nvPr/>
        </p:nvSpPr>
        <p:spPr>
          <a:xfrm>
            <a:off x="4422757" y="-1169089"/>
            <a:ext cx="2023708" cy="6825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(n</a:t>
            </a:r>
            <a:r>
              <a:rPr kumimoji="1" lang="ko-KR" altLang="en-US" sz="1000" dirty="0">
                <a:solidFill>
                  <a:sysClr val="windowText" lastClr="000000"/>
                </a:solidFill>
              </a:rPr>
              <a:t>대 구성 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Port:8081)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9" name="원통[C] 18">
            <a:extLst>
              <a:ext uri="{FF2B5EF4-FFF2-40B4-BE49-F238E27FC236}">
                <a16:creationId xmlns:a16="http://schemas.microsoft.com/office/drawing/2014/main" id="{930541B0-6FEB-6113-BB64-97CB5D9F010D}"/>
              </a:ext>
            </a:extLst>
          </p:cNvPr>
          <p:cNvSpPr/>
          <p:nvPr/>
        </p:nvSpPr>
        <p:spPr>
          <a:xfrm>
            <a:off x="4628169" y="676978"/>
            <a:ext cx="1570244" cy="4892708"/>
          </a:xfrm>
          <a:prstGeom prst="can">
            <a:avLst>
              <a:gd name="adj" fmla="val 8809"/>
            </a:avLst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</a:t>
            </a:r>
          </a:p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Server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A821439-93ED-F203-10E9-C5D0CE793D5C}"/>
              </a:ext>
            </a:extLst>
          </p:cNvPr>
          <p:cNvSpPr/>
          <p:nvPr/>
        </p:nvSpPr>
        <p:spPr>
          <a:xfrm>
            <a:off x="4815608" y="3507407"/>
            <a:ext cx="1197556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AdController</a:t>
            </a:r>
            <a:endParaRPr kumimoji="1" lang="ko-KR" altLang="en-US" sz="10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180C6A4-0618-D33C-7CF8-7F525E99E168}"/>
              </a:ext>
            </a:extLst>
          </p:cNvPr>
          <p:cNvSpPr/>
          <p:nvPr/>
        </p:nvSpPr>
        <p:spPr>
          <a:xfrm>
            <a:off x="4815608" y="4033785"/>
            <a:ext cx="1197556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AdService</a:t>
            </a:r>
            <a:endParaRPr kumimoji="1" lang="ko-KR" altLang="en-US" sz="10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65D7A4B-F298-3F8C-2742-2FD5F9D271B6}"/>
              </a:ext>
            </a:extLst>
          </p:cNvPr>
          <p:cNvSpPr/>
          <p:nvPr/>
        </p:nvSpPr>
        <p:spPr>
          <a:xfrm>
            <a:off x="4815608" y="4560163"/>
            <a:ext cx="1197556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AdEventProducer</a:t>
            </a:r>
            <a:endParaRPr kumimoji="1" lang="ko-KR" altLang="en-US" sz="10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9744C2E-932A-E122-6A7A-E4A3EF7C6609}"/>
              </a:ext>
            </a:extLst>
          </p:cNvPr>
          <p:cNvSpPr/>
          <p:nvPr/>
        </p:nvSpPr>
        <p:spPr>
          <a:xfrm>
            <a:off x="4815608" y="1687824"/>
            <a:ext cx="1197556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AdApiApplication</a:t>
            </a:r>
            <a:endParaRPr kumimoji="1" lang="ko-KR" altLang="en-US" sz="1000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57D4C26-DF3E-7864-DCCF-97FB0AFEE2F1}"/>
              </a:ext>
            </a:extLst>
          </p:cNvPr>
          <p:cNvCxnSpPr>
            <a:stCxn id="23" idx="2"/>
            <a:endCxn id="20" idx="0"/>
          </p:cNvCxnSpPr>
          <p:nvPr/>
        </p:nvCxnSpPr>
        <p:spPr>
          <a:xfrm>
            <a:off x="5414386" y="2044505"/>
            <a:ext cx="0" cy="146290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523F0B2-2CD7-F1FC-E748-1613E74E8134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5414386" y="3864088"/>
            <a:ext cx="0" cy="169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D285F1B-5EAC-2C57-B5A6-41F24ADF5C8C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5414386" y="4390466"/>
            <a:ext cx="0" cy="169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6E1B75DB-B219-7D49-38F6-8920B8EA7EFE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5413291" y="4916844"/>
            <a:ext cx="1095" cy="151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F08DEDE-204F-DFED-6D6B-3A617E4812BA}"/>
              </a:ext>
            </a:extLst>
          </p:cNvPr>
          <p:cNvSpPr/>
          <p:nvPr/>
        </p:nvSpPr>
        <p:spPr>
          <a:xfrm>
            <a:off x="4815608" y="5068129"/>
            <a:ext cx="1197556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spring-boot-starter-</a:t>
            </a:r>
            <a:r>
              <a:rPr kumimoji="1" lang="en-US" altLang="ko-KR" sz="800" dirty="0" err="1">
                <a:solidFill>
                  <a:sysClr val="windowText" lastClr="000000"/>
                </a:solidFill>
              </a:rPr>
              <a:t>kafka</a:t>
            </a:r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0F45ECB-629B-FD64-68EA-7C9FA3401898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6013164" y="5249338"/>
            <a:ext cx="966590" cy="5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46211ED-9E20-7949-0457-1A9CCE5D41B7}"/>
              </a:ext>
            </a:extLst>
          </p:cNvPr>
          <p:cNvSpPr/>
          <p:nvPr/>
        </p:nvSpPr>
        <p:spPr>
          <a:xfrm>
            <a:off x="8931537" y="-1169090"/>
            <a:ext cx="4744705" cy="938417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ad-log-consumer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4" name="원통[C] 33">
            <a:extLst>
              <a:ext uri="{FF2B5EF4-FFF2-40B4-BE49-F238E27FC236}">
                <a16:creationId xmlns:a16="http://schemas.microsoft.com/office/drawing/2014/main" id="{6A5C5483-CCF7-1798-8F50-E40F449D07BA}"/>
              </a:ext>
            </a:extLst>
          </p:cNvPr>
          <p:cNvSpPr/>
          <p:nvPr/>
        </p:nvSpPr>
        <p:spPr>
          <a:xfrm>
            <a:off x="9202947" y="676978"/>
            <a:ext cx="2805632" cy="6681313"/>
          </a:xfrm>
          <a:prstGeom prst="can">
            <a:avLst>
              <a:gd name="adj" fmla="val 8527"/>
            </a:avLst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ad-log-consumer App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AEAE178-70B4-F189-AE6E-2614B1C942D8}"/>
              </a:ext>
            </a:extLst>
          </p:cNvPr>
          <p:cNvSpPr/>
          <p:nvPr/>
        </p:nvSpPr>
        <p:spPr>
          <a:xfrm>
            <a:off x="9551984" y="5584268"/>
            <a:ext cx="1156624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AdLogConsumer</a:t>
            </a:r>
            <a:endParaRPr kumimoji="1" lang="ko-KR" altLang="en-US" sz="10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590BCAE-9C14-2260-1DA0-341F087ABB98}"/>
              </a:ext>
            </a:extLst>
          </p:cNvPr>
          <p:cNvSpPr/>
          <p:nvPr/>
        </p:nvSpPr>
        <p:spPr>
          <a:xfrm>
            <a:off x="9343266" y="1215344"/>
            <a:ext cx="2510450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AdLogConsumerApplication</a:t>
            </a:r>
            <a:endParaRPr kumimoji="1" lang="ko-KR" altLang="en-US" sz="10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AD3BF88-690F-B190-BA18-685EC995FCC1}"/>
              </a:ext>
            </a:extLst>
          </p:cNvPr>
          <p:cNvSpPr/>
          <p:nvPr/>
        </p:nvSpPr>
        <p:spPr>
          <a:xfrm>
            <a:off x="9551984" y="6578514"/>
            <a:ext cx="1156624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AdLogFileWriter</a:t>
            </a:r>
            <a:endParaRPr kumimoji="1" lang="ko-KR" altLang="en-US" sz="1000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F02E7F6-C82C-E5C3-D5B9-D29040446F6F}"/>
              </a:ext>
            </a:extLst>
          </p:cNvPr>
          <p:cNvCxnSpPr>
            <a:cxnSpLocks/>
            <a:stCxn id="35" idx="2"/>
            <a:endCxn id="75" idx="0"/>
          </p:cNvCxnSpPr>
          <p:nvPr/>
        </p:nvCxnSpPr>
        <p:spPr>
          <a:xfrm>
            <a:off x="10130296" y="5940949"/>
            <a:ext cx="1920" cy="138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C26D0C7-5176-9FC5-FEA5-31B0576A3F83}"/>
              </a:ext>
            </a:extLst>
          </p:cNvPr>
          <p:cNvSpPr/>
          <p:nvPr/>
        </p:nvSpPr>
        <p:spPr>
          <a:xfrm>
            <a:off x="9541751" y="5068129"/>
            <a:ext cx="1177090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spring-boot-starter-</a:t>
            </a:r>
            <a:r>
              <a:rPr kumimoji="1" lang="en-US" altLang="ko-KR" sz="800" dirty="0" err="1">
                <a:solidFill>
                  <a:sysClr val="windowText" lastClr="000000"/>
                </a:solidFill>
              </a:rPr>
              <a:t>kafka</a:t>
            </a:r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57FEC48-A0B8-7876-5F21-BD297A52875F}"/>
              </a:ext>
            </a:extLst>
          </p:cNvPr>
          <p:cNvCxnSpPr>
            <a:cxnSpLocks/>
            <a:stCxn id="40" idx="2"/>
            <a:endCxn id="35" idx="0"/>
          </p:cNvCxnSpPr>
          <p:nvPr/>
        </p:nvCxnSpPr>
        <p:spPr>
          <a:xfrm>
            <a:off x="10130296" y="5441130"/>
            <a:ext cx="0" cy="143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D7BE2C7B-FC8D-11AF-8AC8-E8373A257AB9}"/>
              </a:ext>
            </a:extLst>
          </p:cNvPr>
          <p:cNvCxnSpPr>
            <a:cxnSpLocks/>
            <a:stCxn id="16" idx="3"/>
            <a:endCxn id="40" idx="1"/>
          </p:cNvCxnSpPr>
          <p:nvPr/>
        </p:nvCxnSpPr>
        <p:spPr>
          <a:xfrm>
            <a:off x="8276646" y="5249338"/>
            <a:ext cx="1265105" cy="5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ACAE2C1-A8A5-9FD3-2C31-E98CD5F13DB9}"/>
              </a:ext>
            </a:extLst>
          </p:cNvPr>
          <p:cNvCxnSpPr>
            <a:cxnSpLocks/>
            <a:stCxn id="38" idx="3"/>
            <a:endCxn id="76" idx="1"/>
          </p:cNvCxnSpPr>
          <p:nvPr/>
        </p:nvCxnSpPr>
        <p:spPr>
          <a:xfrm>
            <a:off x="10708608" y="6756855"/>
            <a:ext cx="1493824" cy="2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53D61D2-EB98-D7D6-15A2-98615FDFB2E9}"/>
              </a:ext>
            </a:extLst>
          </p:cNvPr>
          <p:cNvSpPr txBox="1"/>
          <p:nvPr/>
        </p:nvSpPr>
        <p:spPr>
          <a:xfrm>
            <a:off x="5905965" y="5061909"/>
            <a:ext cx="119295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SEND KAFKA EVENT (9092)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F968FE-1419-0129-0FFF-44F187083D42}"/>
              </a:ext>
            </a:extLst>
          </p:cNvPr>
          <p:cNvSpPr txBox="1"/>
          <p:nvPr/>
        </p:nvSpPr>
        <p:spPr>
          <a:xfrm>
            <a:off x="8351621" y="5050249"/>
            <a:ext cx="106792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KAFKA LISTENER (9092)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8F986D8-5BEA-CEF0-F2BF-7FFBCC867726}"/>
              </a:ext>
            </a:extLst>
          </p:cNvPr>
          <p:cNvSpPr/>
          <p:nvPr/>
        </p:nvSpPr>
        <p:spPr>
          <a:xfrm>
            <a:off x="6973308" y="676978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adwhale-kafka-init</a:t>
            </a:r>
            <a:endParaRPr kumimoji="1" lang="ko-KR" altLang="en-US" sz="1000" dirty="0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E79E80FF-D0E4-DADB-1C86-825722BB95BC}"/>
              </a:ext>
            </a:extLst>
          </p:cNvPr>
          <p:cNvCxnSpPr>
            <a:cxnSpLocks/>
          </p:cNvCxnSpPr>
          <p:nvPr/>
        </p:nvCxnSpPr>
        <p:spPr>
          <a:xfrm>
            <a:off x="7546937" y="1033659"/>
            <a:ext cx="0" cy="403733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D1F745C1-66F3-62A9-1DD5-2DB7A7EA159A}"/>
              </a:ext>
            </a:extLst>
          </p:cNvPr>
          <p:cNvSpPr/>
          <p:nvPr/>
        </p:nvSpPr>
        <p:spPr>
          <a:xfrm>
            <a:off x="-2797233" y="727728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AF9A7EFD-2281-EA69-7924-85C5C71ACDAA}"/>
              </a:ext>
            </a:extLst>
          </p:cNvPr>
          <p:cNvSpPr/>
          <p:nvPr/>
        </p:nvSpPr>
        <p:spPr>
          <a:xfrm>
            <a:off x="-2797233" y="1266093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062C0983-676E-11AF-E3CF-51F0F0F680FA}"/>
              </a:ext>
            </a:extLst>
          </p:cNvPr>
          <p:cNvSpPr/>
          <p:nvPr/>
        </p:nvSpPr>
        <p:spPr>
          <a:xfrm>
            <a:off x="-2797233" y="1738573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52A07ABD-D0B1-9045-03B4-33E566428F91}"/>
              </a:ext>
            </a:extLst>
          </p:cNvPr>
          <p:cNvSpPr/>
          <p:nvPr/>
        </p:nvSpPr>
        <p:spPr>
          <a:xfrm>
            <a:off x="-2797233" y="3556617"/>
            <a:ext cx="233916" cy="25518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14C11FB5-4C5A-0F4F-284D-FBBC56316876}"/>
              </a:ext>
            </a:extLst>
          </p:cNvPr>
          <p:cNvCxnSpPr>
            <a:cxnSpLocks/>
            <a:stCxn id="54" idx="6"/>
            <a:endCxn id="8" idx="1"/>
          </p:cNvCxnSpPr>
          <p:nvPr/>
        </p:nvCxnSpPr>
        <p:spPr>
          <a:xfrm>
            <a:off x="-2563317" y="3684208"/>
            <a:ext cx="2001042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타원 55">
            <a:extLst>
              <a:ext uri="{FF2B5EF4-FFF2-40B4-BE49-F238E27FC236}">
                <a16:creationId xmlns:a16="http://schemas.microsoft.com/office/drawing/2014/main" id="{5943D088-425D-9606-EC2F-761F8A289520}"/>
              </a:ext>
            </a:extLst>
          </p:cNvPr>
          <p:cNvSpPr/>
          <p:nvPr/>
        </p:nvSpPr>
        <p:spPr>
          <a:xfrm>
            <a:off x="-2797233" y="6629263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88B8EF6-84A1-13CD-C1C4-D454266B4060}"/>
              </a:ext>
            </a:extLst>
          </p:cNvPr>
          <p:cNvSpPr/>
          <p:nvPr/>
        </p:nvSpPr>
        <p:spPr>
          <a:xfrm>
            <a:off x="-570498" y="4560161"/>
            <a:ext cx="71422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광고노출</a:t>
            </a: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BE439071-837D-7756-2B65-80D390DF1A02}"/>
              </a:ext>
            </a:extLst>
          </p:cNvPr>
          <p:cNvCxnSpPr>
            <a:cxnSpLocks/>
            <a:stCxn id="9" idx="2"/>
            <a:endCxn id="58" idx="0"/>
          </p:cNvCxnSpPr>
          <p:nvPr/>
        </p:nvCxnSpPr>
        <p:spPr>
          <a:xfrm>
            <a:off x="-213387" y="4390466"/>
            <a:ext cx="0" cy="16969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1847C0F-5AE0-C06D-5915-CB2D9AE06DB6}"/>
              </a:ext>
            </a:extLst>
          </p:cNvPr>
          <p:cNvSpPr/>
          <p:nvPr/>
        </p:nvSpPr>
        <p:spPr>
          <a:xfrm>
            <a:off x="-563852" y="5095182"/>
            <a:ext cx="71422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광고클릭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F7B563AB-372A-81F5-CD11-60F2F503A01E}"/>
              </a:ext>
            </a:extLst>
          </p:cNvPr>
          <p:cNvSpPr/>
          <p:nvPr/>
        </p:nvSpPr>
        <p:spPr>
          <a:xfrm>
            <a:off x="-2797233" y="5146136"/>
            <a:ext cx="233916" cy="25518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CA0A9310-9DA3-DF0F-FE46-1350924AB691}"/>
              </a:ext>
            </a:extLst>
          </p:cNvPr>
          <p:cNvCxnSpPr>
            <a:cxnSpLocks/>
            <a:stCxn id="61" idx="6"/>
            <a:endCxn id="60" idx="1"/>
          </p:cNvCxnSpPr>
          <p:nvPr/>
        </p:nvCxnSpPr>
        <p:spPr>
          <a:xfrm flipV="1">
            <a:off x="-2563317" y="5273523"/>
            <a:ext cx="1999465" cy="20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EB9F65F-7E78-0980-11B5-133EAB3C7D3C}"/>
              </a:ext>
            </a:extLst>
          </p:cNvPr>
          <p:cNvSpPr txBox="1"/>
          <p:nvPr/>
        </p:nvSpPr>
        <p:spPr>
          <a:xfrm>
            <a:off x="-3718131" y="997413"/>
            <a:ext cx="20553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1.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Kafka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docker </a:t>
            </a:r>
            <a:r>
              <a:rPr kumimoji="1" lang="ko-KR" altLang="en-US" sz="1000" dirty="0">
                <a:solidFill>
                  <a:srgbClr val="0070C0"/>
                </a:solidFill>
              </a:rPr>
              <a:t>기동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9092)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4F98EB-6C75-98E3-18DF-1C8C19220B80}"/>
              </a:ext>
            </a:extLst>
          </p:cNvPr>
          <p:cNvSpPr txBox="1"/>
          <p:nvPr/>
        </p:nvSpPr>
        <p:spPr>
          <a:xfrm>
            <a:off x="-3593898" y="1517080"/>
            <a:ext cx="18069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2.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ad-log-consumer </a:t>
            </a:r>
            <a:r>
              <a:rPr kumimoji="1" lang="ko-KR" altLang="en-US" sz="1000" dirty="0">
                <a:solidFill>
                  <a:srgbClr val="0070C0"/>
                </a:solidFill>
              </a:rPr>
              <a:t>앱 기동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AF8DE6-284A-C3A6-4038-F5ECC53D1E49}"/>
              </a:ext>
            </a:extLst>
          </p:cNvPr>
          <p:cNvSpPr txBox="1"/>
          <p:nvPr/>
        </p:nvSpPr>
        <p:spPr>
          <a:xfrm>
            <a:off x="-3679659" y="2011287"/>
            <a:ext cx="19784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3.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ad-</a:t>
            </a:r>
            <a:r>
              <a:rPr kumimoji="1" lang="en-US" altLang="ko-KR" sz="1000" dirty="0" err="1">
                <a:solidFill>
                  <a:srgbClr val="0070C0"/>
                </a:solidFill>
              </a:rPr>
              <a:t>api</a:t>
            </a:r>
            <a:r>
              <a:rPr kumimoji="1" lang="en-US" altLang="ko-KR" sz="1000" dirty="0">
                <a:solidFill>
                  <a:srgbClr val="0070C0"/>
                </a:solidFill>
              </a:rPr>
              <a:t> </a:t>
            </a:r>
            <a:r>
              <a:rPr kumimoji="1" lang="ko-KR" altLang="en-US" sz="1000" dirty="0">
                <a:solidFill>
                  <a:srgbClr val="0070C0"/>
                </a:solidFill>
              </a:rPr>
              <a:t>서버 기동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8081)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E7CB6E-EA74-0074-A288-7C9A5A0568B4}"/>
              </a:ext>
            </a:extLst>
          </p:cNvPr>
          <p:cNvSpPr txBox="1"/>
          <p:nvPr/>
        </p:nvSpPr>
        <p:spPr>
          <a:xfrm>
            <a:off x="-3262077" y="3823814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accent2"/>
                </a:solidFill>
              </a:rPr>
              <a:t>7.</a:t>
            </a:r>
            <a:r>
              <a:rPr kumimoji="1" lang="ko-KR" altLang="en-US" sz="1000" dirty="0">
                <a:solidFill>
                  <a:schemeClr val="accent2"/>
                </a:solidFill>
              </a:rPr>
              <a:t> 광고화면 진입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0601CD8-5851-E404-C405-678877FD6936}"/>
              </a:ext>
            </a:extLst>
          </p:cNvPr>
          <p:cNvSpPr txBox="1"/>
          <p:nvPr/>
        </p:nvSpPr>
        <p:spPr>
          <a:xfrm>
            <a:off x="-3262077" y="5400771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accent2"/>
                </a:solidFill>
              </a:rPr>
              <a:t>8.</a:t>
            </a:r>
            <a:r>
              <a:rPr kumimoji="1" lang="ko-KR" altLang="en-US" sz="1000" dirty="0">
                <a:solidFill>
                  <a:schemeClr val="accent2"/>
                </a:solidFill>
              </a:rPr>
              <a:t> 광고화면 클릭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16367E3-D0C8-81A3-C1AE-77744A900CA4}"/>
              </a:ext>
            </a:extLst>
          </p:cNvPr>
          <p:cNvSpPr txBox="1"/>
          <p:nvPr/>
        </p:nvSpPr>
        <p:spPr>
          <a:xfrm>
            <a:off x="-3597104" y="6889852"/>
            <a:ext cx="18133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6.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Kafka </a:t>
            </a:r>
            <a:r>
              <a:rPr kumimoji="1" lang="en-US" altLang="ko-KR" sz="1000" dirty="0" err="1">
                <a:solidFill>
                  <a:srgbClr val="0070C0"/>
                </a:solidFill>
              </a:rPr>
              <a:t>ui</a:t>
            </a:r>
            <a:r>
              <a:rPr kumimoji="1" lang="en-US" altLang="ko-KR" sz="1000" dirty="0">
                <a:solidFill>
                  <a:srgbClr val="0070C0"/>
                </a:solidFill>
              </a:rPr>
              <a:t> </a:t>
            </a:r>
            <a:r>
              <a:rPr kumimoji="1" lang="ko-KR" altLang="en-US" sz="1000" dirty="0">
                <a:solidFill>
                  <a:srgbClr val="0070C0"/>
                </a:solidFill>
              </a:rPr>
              <a:t>접속 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8989)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1AB1AED3-D2FE-06D5-A1F2-49D8FB66E94E}"/>
              </a:ext>
            </a:extLst>
          </p:cNvPr>
          <p:cNvSpPr/>
          <p:nvPr/>
        </p:nvSpPr>
        <p:spPr>
          <a:xfrm>
            <a:off x="7020965" y="-2894472"/>
            <a:ext cx="1128772" cy="6889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 err="1">
                <a:solidFill>
                  <a:sysClr val="windowText" lastClr="000000"/>
                </a:solidFill>
              </a:rPr>
              <a:t>Settings.gradle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70" name="꺾인 연결선[E] 69">
            <a:extLst>
              <a:ext uri="{FF2B5EF4-FFF2-40B4-BE49-F238E27FC236}">
                <a16:creationId xmlns:a16="http://schemas.microsoft.com/office/drawing/2014/main" id="{027D5BB4-3172-B98B-EB78-55946524AAEA}"/>
              </a:ext>
            </a:extLst>
          </p:cNvPr>
          <p:cNvCxnSpPr>
            <a:cxnSpLocks/>
            <a:stCxn id="69" idx="2"/>
            <a:endCxn id="18" idx="0"/>
          </p:cNvCxnSpPr>
          <p:nvPr/>
        </p:nvCxnSpPr>
        <p:spPr>
          <a:xfrm rot="5400000">
            <a:off x="5991770" y="-2762671"/>
            <a:ext cx="1036423" cy="2150740"/>
          </a:xfrm>
          <a:prstGeom prst="bentConnector3">
            <a:avLst>
              <a:gd name="adj1" fmla="val 49036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꺾인 연결선[E] 70">
            <a:extLst>
              <a:ext uri="{FF2B5EF4-FFF2-40B4-BE49-F238E27FC236}">
                <a16:creationId xmlns:a16="http://schemas.microsoft.com/office/drawing/2014/main" id="{7747B153-D930-86FA-F29A-73D7317520C6}"/>
              </a:ext>
            </a:extLst>
          </p:cNvPr>
          <p:cNvCxnSpPr>
            <a:cxnSpLocks/>
            <a:stCxn id="69" idx="2"/>
            <a:endCxn id="33" idx="0"/>
          </p:cNvCxnSpPr>
          <p:nvPr/>
        </p:nvCxnSpPr>
        <p:spPr>
          <a:xfrm rot="16200000" flipH="1">
            <a:off x="8926409" y="-3546571"/>
            <a:ext cx="1036422" cy="371853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A8FEBDB2-FF22-17E5-7C93-B233479522E4}"/>
              </a:ext>
            </a:extLst>
          </p:cNvPr>
          <p:cNvCxnSpPr>
            <a:cxnSpLocks/>
            <a:stCxn id="69" idx="3"/>
            <a:endCxn id="11" idx="1"/>
          </p:cNvCxnSpPr>
          <p:nvPr/>
        </p:nvCxnSpPr>
        <p:spPr>
          <a:xfrm>
            <a:off x="8149737" y="-2549992"/>
            <a:ext cx="291773" cy="581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꺾인 연결선[E] 72">
            <a:extLst>
              <a:ext uri="{FF2B5EF4-FFF2-40B4-BE49-F238E27FC236}">
                <a16:creationId xmlns:a16="http://schemas.microsoft.com/office/drawing/2014/main" id="{34F07A30-C234-75F4-0FCF-842F8A954A9B}"/>
              </a:ext>
            </a:extLst>
          </p:cNvPr>
          <p:cNvCxnSpPr>
            <a:cxnSpLocks/>
            <a:stCxn id="102" idx="2"/>
            <a:endCxn id="15" idx="0"/>
          </p:cNvCxnSpPr>
          <p:nvPr/>
        </p:nvCxnSpPr>
        <p:spPr>
          <a:xfrm rot="16200000" flipH="1">
            <a:off x="5876519" y="-2905081"/>
            <a:ext cx="1032415" cy="2439566"/>
          </a:xfrm>
          <a:prstGeom prst="bentConnector3">
            <a:avLst>
              <a:gd name="adj1" fmla="val 74313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1F2CA2D-5ABE-34A7-D3C0-FD4927559031}"/>
              </a:ext>
            </a:extLst>
          </p:cNvPr>
          <p:cNvSpPr/>
          <p:nvPr/>
        </p:nvSpPr>
        <p:spPr>
          <a:xfrm>
            <a:off x="9553904" y="6079640"/>
            <a:ext cx="1156624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KafkaErrorConfig</a:t>
            </a:r>
            <a:endParaRPr kumimoji="1" lang="en-US" altLang="ko-KR" sz="1000" dirty="0"/>
          </a:p>
          <a:p>
            <a:pPr algn="ctr"/>
            <a:r>
              <a:rPr kumimoji="1" lang="en-US" altLang="ko-KR" sz="1000" dirty="0"/>
              <a:t>(DLQ)</a:t>
            </a:r>
            <a:endParaRPr kumimoji="1" lang="ko-KR" altLang="en-US" sz="1000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72DFEB22-232A-0AFB-85C6-632405D821E9}"/>
              </a:ext>
            </a:extLst>
          </p:cNvPr>
          <p:cNvSpPr/>
          <p:nvPr/>
        </p:nvSpPr>
        <p:spPr>
          <a:xfrm>
            <a:off x="12202432" y="6580834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*-{topic</a:t>
            </a:r>
            <a:r>
              <a:rPr kumimoji="1" lang="ko-KR" altLang="en-US" sz="1000" dirty="0"/>
              <a:t>명</a:t>
            </a:r>
            <a:r>
              <a:rPr kumimoji="1" lang="en-US" altLang="ko-KR" sz="1000" dirty="0"/>
              <a:t>}.log</a:t>
            </a:r>
            <a:endParaRPr kumimoji="1" lang="ko-KR" altLang="en-US" sz="1000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58FBA885-35B7-F1AD-AB12-6EA8453A239F}"/>
              </a:ext>
            </a:extLst>
          </p:cNvPr>
          <p:cNvSpPr/>
          <p:nvPr/>
        </p:nvSpPr>
        <p:spPr>
          <a:xfrm>
            <a:off x="6979754" y="6079639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ad-request-dlq-0/*.log</a:t>
            </a:r>
            <a:endParaRPr kumimoji="1" lang="ko-KR" altLang="en-US" sz="1000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56B91713-34BA-B5B7-76A6-276DB398D672}"/>
              </a:ext>
            </a:extLst>
          </p:cNvPr>
          <p:cNvSpPr/>
          <p:nvPr/>
        </p:nvSpPr>
        <p:spPr>
          <a:xfrm>
            <a:off x="6979754" y="5584268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ad-request-0/*.log</a:t>
            </a:r>
            <a:endParaRPr kumimoji="1" lang="ko-KR" altLang="en-US" sz="1000" dirty="0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9E044F9F-BC60-CD6B-F8B4-7A634EC18B8F}"/>
              </a:ext>
            </a:extLst>
          </p:cNvPr>
          <p:cNvCxnSpPr>
            <a:cxnSpLocks/>
            <a:stCxn id="16" idx="2"/>
            <a:endCxn id="78" idx="0"/>
          </p:cNvCxnSpPr>
          <p:nvPr/>
        </p:nvCxnSpPr>
        <p:spPr>
          <a:xfrm>
            <a:off x="7628200" y="5427678"/>
            <a:ext cx="0" cy="156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0" name="꺾인 연결선[E] 79">
            <a:extLst>
              <a:ext uri="{FF2B5EF4-FFF2-40B4-BE49-F238E27FC236}">
                <a16:creationId xmlns:a16="http://schemas.microsoft.com/office/drawing/2014/main" id="{BA724B11-FC71-F57D-CFDD-0E72D7B3914C}"/>
              </a:ext>
            </a:extLst>
          </p:cNvPr>
          <p:cNvCxnSpPr>
            <a:cxnSpLocks/>
            <a:stCxn id="75" idx="3"/>
            <a:endCxn id="16" idx="0"/>
          </p:cNvCxnSpPr>
          <p:nvPr/>
        </p:nvCxnSpPr>
        <p:spPr>
          <a:xfrm flipH="1" flipV="1">
            <a:off x="7628200" y="5070997"/>
            <a:ext cx="3082328" cy="1186984"/>
          </a:xfrm>
          <a:prstGeom prst="bentConnector4">
            <a:avLst>
              <a:gd name="adj1" fmla="val -7416"/>
              <a:gd name="adj2" fmla="val 134331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1" name="꺾인 연결선[E] 80">
            <a:extLst>
              <a:ext uri="{FF2B5EF4-FFF2-40B4-BE49-F238E27FC236}">
                <a16:creationId xmlns:a16="http://schemas.microsoft.com/office/drawing/2014/main" id="{0EAA1631-431C-4C45-35B5-D6B640A11DE8}"/>
              </a:ext>
            </a:extLst>
          </p:cNvPr>
          <p:cNvCxnSpPr>
            <a:cxnSpLocks/>
          </p:cNvCxnSpPr>
          <p:nvPr/>
        </p:nvCxnSpPr>
        <p:spPr>
          <a:xfrm>
            <a:off x="8276646" y="5299216"/>
            <a:ext cx="12700" cy="1008642"/>
          </a:xfrm>
          <a:prstGeom prst="bentConnector3">
            <a:avLst>
              <a:gd name="adj1" fmla="val 883638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2" name="꺾인 연결선[E] 81">
            <a:extLst>
              <a:ext uri="{FF2B5EF4-FFF2-40B4-BE49-F238E27FC236}">
                <a16:creationId xmlns:a16="http://schemas.microsoft.com/office/drawing/2014/main" id="{556A8BD0-6FF8-CBCE-AC13-FABF062C2D70}"/>
              </a:ext>
            </a:extLst>
          </p:cNvPr>
          <p:cNvCxnSpPr>
            <a:cxnSpLocks/>
          </p:cNvCxnSpPr>
          <p:nvPr/>
        </p:nvCxnSpPr>
        <p:spPr>
          <a:xfrm>
            <a:off x="8276646" y="6307858"/>
            <a:ext cx="12700" cy="498875"/>
          </a:xfrm>
          <a:prstGeom prst="bentConnector3">
            <a:avLst>
              <a:gd name="adj1" fmla="val 883638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3" name="꺾인 연결선[E] 82">
            <a:extLst>
              <a:ext uri="{FF2B5EF4-FFF2-40B4-BE49-F238E27FC236}">
                <a16:creationId xmlns:a16="http://schemas.microsoft.com/office/drawing/2014/main" id="{741B2B53-FC06-3072-BD43-A75E06B9F2EA}"/>
              </a:ext>
            </a:extLst>
          </p:cNvPr>
          <p:cNvCxnSpPr>
            <a:cxnSpLocks/>
            <a:stCxn id="78" idx="1"/>
            <a:endCxn id="17" idx="0"/>
          </p:cNvCxnSpPr>
          <p:nvPr/>
        </p:nvCxnSpPr>
        <p:spPr>
          <a:xfrm rot="10800000" flipH="1" flipV="1">
            <a:off x="6979754" y="5762608"/>
            <a:ext cx="648446" cy="815905"/>
          </a:xfrm>
          <a:prstGeom prst="bentConnector4">
            <a:avLst>
              <a:gd name="adj1" fmla="val -14743"/>
              <a:gd name="adj2" fmla="val 87419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4" name="꺾인 연결선[E] 83">
            <a:extLst>
              <a:ext uri="{FF2B5EF4-FFF2-40B4-BE49-F238E27FC236}">
                <a16:creationId xmlns:a16="http://schemas.microsoft.com/office/drawing/2014/main" id="{5B3D2A60-2DEF-0BC1-396B-7423A704371A}"/>
              </a:ext>
            </a:extLst>
          </p:cNvPr>
          <p:cNvCxnSpPr>
            <a:cxnSpLocks/>
            <a:stCxn id="35" idx="1"/>
            <a:endCxn id="38" idx="1"/>
          </p:cNvCxnSpPr>
          <p:nvPr/>
        </p:nvCxnSpPr>
        <p:spPr>
          <a:xfrm rot="10800000" flipV="1">
            <a:off x="9551984" y="5762609"/>
            <a:ext cx="12700" cy="99424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C927209-FF9A-56C3-6B30-FBE31DD69216}"/>
              </a:ext>
            </a:extLst>
          </p:cNvPr>
          <p:cNvSpPr/>
          <p:nvPr/>
        </p:nvSpPr>
        <p:spPr>
          <a:xfrm>
            <a:off x="6973308" y="5569686"/>
            <a:ext cx="832327" cy="86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500" b="1" dirty="0"/>
              <a:t>디폴트 보관기간</a:t>
            </a:r>
            <a:r>
              <a:rPr kumimoji="1" lang="en-US" altLang="ko-KR" sz="500" b="1" dirty="0"/>
              <a:t>:</a:t>
            </a:r>
            <a:r>
              <a:rPr kumimoji="1" lang="ko-KR" altLang="en-US" sz="500" b="1" dirty="0"/>
              <a:t> </a:t>
            </a:r>
            <a:r>
              <a:rPr kumimoji="1" lang="en-US" altLang="ko-KR" sz="500" b="1" dirty="0"/>
              <a:t>7</a:t>
            </a:r>
            <a:r>
              <a:rPr kumimoji="1" lang="ko-KR" altLang="en-US" sz="500" b="1" dirty="0"/>
              <a:t>일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BE050580-A7C5-AF5F-89E5-4E2C21865818}"/>
              </a:ext>
            </a:extLst>
          </p:cNvPr>
          <p:cNvSpPr/>
          <p:nvPr/>
        </p:nvSpPr>
        <p:spPr>
          <a:xfrm>
            <a:off x="6973308" y="6062481"/>
            <a:ext cx="832327" cy="8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500" b="1" dirty="0"/>
              <a:t>디폴트 보관기간</a:t>
            </a:r>
            <a:r>
              <a:rPr kumimoji="1" lang="en-US" altLang="ko-KR" sz="500" b="1" dirty="0"/>
              <a:t>:</a:t>
            </a:r>
            <a:r>
              <a:rPr kumimoji="1" lang="ko-KR" altLang="en-US" sz="500" b="1" dirty="0"/>
              <a:t> </a:t>
            </a:r>
            <a:r>
              <a:rPr kumimoji="1" lang="en-US" altLang="ko-KR" sz="500" b="1" dirty="0"/>
              <a:t>7</a:t>
            </a:r>
            <a:r>
              <a:rPr kumimoji="1" lang="ko-KR" altLang="en-US" sz="500" b="1" dirty="0"/>
              <a:t>일</a:t>
            </a:r>
          </a:p>
        </p:txBody>
      </p:sp>
      <p:sp>
        <p:nvSpPr>
          <p:cNvPr id="88" name="번개[L] 87">
            <a:extLst>
              <a:ext uri="{FF2B5EF4-FFF2-40B4-BE49-F238E27FC236}">
                <a16:creationId xmlns:a16="http://schemas.microsoft.com/office/drawing/2014/main" id="{09352FD6-196F-CDDE-3FAB-AFADFF31D44C}"/>
              </a:ext>
            </a:extLst>
          </p:cNvPr>
          <p:cNvSpPr/>
          <p:nvPr/>
        </p:nvSpPr>
        <p:spPr>
          <a:xfrm>
            <a:off x="6670273" y="308605"/>
            <a:ext cx="442543" cy="390649"/>
          </a:xfrm>
          <a:prstGeom prst="lightningBol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9" name="번개[L] 88">
            <a:extLst>
              <a:ext uri="{FF2B5EF4-FFF2-40B4-BE49-F238E27FC236}">
                <a16:creationId xmlns:a16="http://schemas.microsoft.com/office/drawing/2014/main" id="{1E9669B9-065D-C173-5F2E-2A4C3F57D806}"/>
              </a:ext>
            </a:extLst>
          </p:cNvPr>
          <p:cNvSpPr/>
          <p:nvPr/>
        </p:nvSpPr>
        <p:spPr>
          <a:xfrm>
            <a:off x="8867957" y="910711"/>
            <a:ext cx="442543" cy="390649"/>
          </a:xfrm>
          <a:prstGeom prst="lightningBol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0" name="모서리가 둥근 사각형 설명선[R] 89">
            <a:extLst>
              <a:ext uri="{FF2B5EF4-FFF2-40B4-BE49-F238E27FC236}">
                <a16:creationId xmlns:a16="http://schemas.microsoft.com/office/drawing/2014/main" id="{3D8C2054-5889-0849-72E7-B904F188C011}"/>
              </a:ext>
            </a:extLst>
          </p:cNvPr>
          <p:cNvSpPr/>
          <p:nvPr/>
        </p:nvSpPr>
        <p:spPr>
          <a:xfrm>
            <a:off x="6215286" y="4863457"/>
            <a:ext cx="631082" cy="161654"/>
          </a:xfrm>
          <a:prstGeom prst="wedgeRoundRectCallout">
            <a:avLst>
              <a:gd name="adj1" fmla="val -12484"/>
              <a:gd name="adj2" fmla="val 98496"/>
              <a:gd name="adj3" fmla="val 16667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600" dirty="0" err="1">
                <a:solidFill>
                  <a:schemeClr val="tx1"/>
                </a:solidFill>
              </a:rPr>
              <a:t>버퍼큐사용</a:t>
            </a:r>
            <a:endParaRPr kumimoji="1"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91" name="모서리가 둥근 사각형 설명선[R] 90">
            <a:extLst>
              <a:ext uri="{FF2B5EF4-FFF2-40B4-BE49-F238E27FC236}">
                <a16:creationId xmlns:a16="http://schemas.microsoft.com/office/drawing/2014/main" id="{FB8823BC-32B3-A356-37BA-E0782296028B}"/>
              </a:ext>
            </a:extLst>
          </p:cNvPr>
          <p:cNvSpPr/>
          <p:nvPr/>
        </p:nvSpPr>
        <p:spPr>
          <a:xfrm>
            <a:off x="8606574" y="4814959"/>
            <a:ext cx="631082" cy="161654"/>
          </a:xfrm>
          <a:prstGeom prst="wedgeRoundRectCallout">
            <a:avLst>
              <a:gd name="adj1" fmla="val -12484"/>
              <a:gd name="adj2" fmla="val 98496"/>
              <a:gd name="adj3" fmla="val 16667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>
                <a:solidFill>
                  <a:schemeClr val="tx1"/>
                </a:solidFill>
              </a:rPr>
              <a:t>polling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A119940D-C03D-1349-FA59-61EF327D27C3}"/>
              </a:ext>
            </a:extLst>
          </p:cNvPr>
          <p:cNvSpPr/>
          <p:nvPr/>
        </p:nvSpPr>
        <p:spPr>
          <a:xfrm>
            <a:off x="4422757" y="5777579"/>
            <a:ext cx="2023708" cy="3388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(n</a:t>
            </a:r>
            <a:r>
              <a:rPr kumimoji="1" lang="ko-KR" altLang="en-US" sz="1000" dirty="0">
                <a:solidFill>
                  <a:sysClr val="windowText" lastClr="000000"/>
                </a:solidFill>
              </a:rPr>
              <a:t>대 구성 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Port:8082)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6AE6DDF-9364-D023-BAB1-6AE9DE23E983}"/>
              </a:ext>
            </a:extLst>
          </p:cNvPr>
          <p:cNvSpPr/>
          <p:nvPr/>
        </p:nvSpPr>
        <p:spPr>
          <a:xfrm>
            <a:off x="4422757" y="6226508"/>
            <a:ext cx="2023708" cy="3388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 (n</a:t>
            </a:r>
            <a:r>
              <a:rPr kumimoji="1" lang="ko-KR" altLang="en-US" sz="1000" dirty="0">
                <a:solidFill>
                  <a:sysClr val="windowText" lastClr="000000"/>
                </a:solidFill>
              </a:rPr>
              <a:t>대 구성 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Port:8083)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50F016C-A24C-403A-AF98-880F036CCFA5}"/>
              </a:ext>
            </a:extLst>
          </p:cNvPr>
          <p:cNvSpPr txBox="1"/>
          <p:nvPr/>
        </p:nvSpPr>
        <p:spPr>
          <a:xfrm>
            <a:off x="5306531" y="6497896"/>
            <a:ext cx="2135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/>
              <a:t>.</a:t>
            </a:r>
          </a:p>
          <a:p>
            <a:r>
              <a:rPr kumimoji="1" lang="en-US" altLang="ko-KR" sz="1000" dirty="0"/>
              <a:t>.</a:t>
            </a:r>
          </a:p>
          <a:p>
            <a:r>
              <a:rPr kumimoji="1" lang="en-US" altLang="ko-KR" sz="1000" dirty="0"/>
              <a:t>.</a:t>
            </a:r>
          </a:p>
        </p:txBody>
      </p:sp>
      <p:sp>
        <p:nvSpPr>
          <p:cNvPr id="99" name="모서리가 둥근 사각형 설명선[R] 98">
            <a:extLst>
              <a:ext uri="{FF2B5EF4-FFF2-40B4-BE49-F238E27FC236}">
                <a16:creationId xmlns:a16="http://schemas.microsoft.com/office/drawing/2014/main" id="{B8AC7AFE-4718-8738-737B-713710B3F9FC}"/>
              </a:ext>
            </a:extLst>
          </p:cNvPr>
          <p:cNvSpPr/>
          <p:nvPr/>
        </p:nvSpPr>
        <p:spPr>
          <a:xfrm>
            <a:off x="10804538" y="98825"/>
            <a:ext cx="2694786" cy="663949"/>
          </a:xfrm>
          <a:prstGeom prst="wedgeRoundRectCallout">
            <a:avLst>
              <a:gd name="adj1" fmla="val -21596"/>
              <a:gd name="adj2" fmla="val 139301"/>
              <a:gd name="adj3" fmla="val 16667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ad-log-consumer </a:t>
            </a:r>
            <a:r>
              <a:rPr kumimoji="1" lang="ko-KR" altLang="en-US" sz="600" dirty="0">
                <a:solidFill>
                  <a:srgbClr val="FF0000"/>
                </a:solidFill>
              </a:rPr>
              <a:t>장애대응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v1/ad/request : 200(</a:t>
            </a:r>
            <a:r>
              <a:rPr kumimoji="1" lang="ko-KR" altLang="en-US" sz="600" dirty="0">
                <a:solidFill>
                  <a:srgbClr val="FF0000"/>
                </a:solidFill>
              </a:rPr>
              <a:t>비동기처리</a:t>
            </a:r>
            <a:r>
              <a:rPr kumimoji="1" lang="en-US" altLang="ko-KR" sz="600" dirty="0">
                <a:solidFill>
                  <a:srgbClr val="FF0000"/>
                </a:solidFill>
              </a:rPr>
              <a:t>)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v1/ad/request : 204(No Fill,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adId</a:t>
            </a:r>
            <a:r>
              <a:rPr kumimoji="1" lang="en-US" altLang="ko-KR" sz="600" dirty="0">
                <a:solidFill>
                  <a:srgbClr val="FF0000"/>
                </a:solidFill>
              </a:rPr>
              <a:t>=null)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v1/ad/impression, click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503(</a:t>
            </a:r>
            <a:r>
              <a:rPr kumimoji="1" lang="ko-KR" altLang="en-US" sz="600" dirty="0">
                <a:solidFill>
                  <a:srgbClr val="FF0000"/>
                </a:solidFill>
              </a:rPr>
              <a:t>동기처리</a:t>
            </a:r>
            <a:r>
              <a:rPr kumimoji="1" lang="en-US" altLang="ko-KR" sz="600" dirty="0">
                <a:solidFill>
                  <a:srgbClr val="FF0000"/>
                </a:solidFill>
              </a:rPr>
              <a:t>).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eventId</a:t>
            </a:r>
            <a:r>
              <a:rPr kumimoji="1" lang="ko-KR" altLang="en-US" sz="600" dirty="0">
                <a:solidFill>
                  <a:srgbClr val="FF0000"/>
                </a:solidFill>
              </a:rPr>
              <a:t>로 중복처리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1)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Docker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kafka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에</a:t>
            </a:r>
            <a:r>
              <a:rPr kumimoji="1" lang="ko-KR" altLang="en-US" sz="600" dirty="0">
                <a:solidFill>
                  <a:srgbClr val="FF0000"/>
                </a:solidFill>
              </a:rPr>
              <a:t> 메시지 쌓이고 </a:t>
            </a:r>
            <a:r>
              <a:rPr kumimoji="1" lang="en-US" altLang="ko-KR" sz="600" dirty="0">
                <a:solidFill>
                  <a:srgbClr val="FF0000"/>
                </a:solidFill>
              </a:rPr>
              <a:t>&gt;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ad-log-consumer </a:t>
            </a:r>
            <a:r>
              <a:rPr kumimoji="1" lang="ko-KR" altLang="en-US" sz="600" dirty="0">
                <a:solidFill>
                  <a:srgbClr val="FF0000"/>
                </a:solidFill>
              </a:rPr>
              <a:t>가 켜지면 마지막 기록된 </a:t>
            </a:r>
            <a:r>
              <a:rPr kumimoji="1" lang="en-US" altLang="ko-KR" sz="600" dirty="0">
                <a:solidFill>
                  <a:srgbClr val="FF0000"/>
                </a:solidFill>
              </a:rPr>
              <a:t>offset 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부터</a:t>
            </a:r>
            <a:r>
              <a:rPr kumimoji="1" lang="ko-KR" altLang="en-US" sz="600" dirty="0">
                <a:solidFill>
                  <a:srgbClr val="FF0000"/>
                </a:solidFill>
              </a:rPr>
              <a:t> 밀린 메시지를 전부 처리</a:t>
            </a:r>
            <a:endParaRPr kumimoji="1" lang="en-US" altLang="ko-KR" sz="600" dirty="0">
              <a:solidFill>
                <a:srgbClr val="FF0000"/>
              </a:solidFill>
            </a:endParaRPr>
          </a:p>
        </p:txBody>
      </p:sp>
      <p:sp>
        <p:nvSpPr>
          <p:cNvPr id="100" name="모서리가 둥근 사각형 설명선[R] 99">
            <a:extLst>
              <a:ext uri="{FF2B5EF4-FFF2-40B4-BE49-F238E27FC236}">
                <a16:creationId xmlns:a16="http://schemas.microsoft.com/office/drawing/2014/main" id="{822D974D-077F-CA12-45AE-FBD9DCF4242E}"/>
              </a:ext>
            </a:extLst>
          </p:cNvPr>
          <p:cNvSpPr/>
          <p:nvPr/>
        </p:nvSpPr>
        <p:spPr>
          <a:xfrm>
            <a:off x="7112816" y="-103725"/>
            <a:ext cx="3408571" cy="780702"/>
          </a:xfrm>
          <a:prstGeom prst="wedgeRoundRectCallout">
            <a:avLst>
              <a:gd name="adj1" fmla="val -38134"/>
              <a:gd name="adj2" fmla="val 61200"/>
              <a:gd name="adj3" fmla="val 16667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Docker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kafka</a:t>
            </a:r>
            <a:r>
              <a:rPr kumimoji="1" lang="en-US" altLang="ko-KR" sz="600" dirty="0">
                <a:solidFill>
                  <a:srgbClr val="FF0000"/>
                </a:solidFill>
              </a:rPr>
              <a:t> </a:t>
            </a:r>
            <a:r>
              <a:rPr kumimoji="1" lang="ko-KR" altLang="en-US" sz="600" dirty="0">
                <a:solidFill>
                  <a:srgbClr val="FF0000"/>
                </a:solidFill>
              </a:rPr>
              <a:t>장애대응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v1/ad/request : 200(</a:t>
            </a:r>
            <a:r>
              <a:rPr kumimoji="1" lang="ko-KR" altLang="en-US" sz="600" dirty="0">
                <a:solidFill>
                  <a:srgbClr val="FF0000"/>
                </a:solidFill>
              </a:rPr>
              <a:t>비동기처리</a:t>
            </a:r>
            <a:r>
              <a:rPr kumimoji="1" lang="en-US" altLang="ko-KR" sz="600" dirty="0">
                <a:solidFill>
                  <a:srgbClr val="FF0000"/>
                </a:solidFill>
              </a:rPr>
              <a:t>)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v1/ad/request : 204(No Fill,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adId</a:t>
            </a:r>
            <a:r>
              <a:rPr kumimoji="1" lang="en-US" altLang="ko-KR" sz="600" dirty="0">
                <a:solidFill>
                  <a:srgbClr val="FF0000"/>
                </a:solidFill>
              </a:rPr>
              <a:t>=null)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v1/ad/impression, click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503(</a:t>
            </a:r>
            <a:r>
              <a:rPr kumimoji="1" lang="ko-KR" altLang="en-US" sz="600" dirty="0">
                <a:solidFill>
                  <a:srgbClr val="FF0000"/>
                </a:solidFill>
              </a:rPr>
              <a:t>동기처리</a:t>
            </a:r>
            <a:r>
              <a:rPr kumimoji="1" lang="en-US" altLang="ko-KR" sz="600" dirty="0">
                <a:solidFill>
                  <a:srgbClr val="FF0000"/>
                </a:solidFill>
              </a:rPr>
              <a:t>).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eventId</a:t>
            </a:r>
            <a:r>
              <a:rPr kumimoji="1" lang="ko-KR" altLang="en-US" sz="600" dirty="0">
                <a:solidFill>
                  <a:srgbClr val="FF0000"/>
                </a:solidFill>
              </a:rPr>
              <a:t>로 중복처리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Kafka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여러대</a:t>
            </a:r>
            <a:r>
              <a:rPr kumimoji="1" lang="ko-KR" altLang="en-US" sz="600" dirty="0">
                <a:solidFill>
                  <a:srgbClr val="FF0000"/>
                </a:solidFill>
              </a:rPr>
              <a:t> 두기</a:t>
            </a:r>
            <a:r>
              <a:rPr kumimoji="1" lang="en-US" altLang="ko-KR" sz="600" dirty="0">
                <a:solidFill>
                  <a:srgbClr val="FF0000"/>
                </a:solidFill>
              </a:rPr>
              <a:t>(</a:t>
            </a:r>
            <a:r>
              <a:rPr kumimoji="1" lang="ko-KR" altLang="en-US" sz="600" dirty="0">
                <a:solidFill>
                  <a:srgbClr val="FF0000"/>
                </a:solidFill>
              </a:rPr>
              <a:t>추후예정</a:t>
            </a:r>
            <a:r>
              <a:rPr kumimoji="1" lang="en-US" altLang="ko-KR" sz="600" dirty="0">
                <a:solidFill>
                  <a:srgbClr val="FF0000"/>
                </a:solidFill>
              </a:rPr>
              <a:t>)</a:t>
            </a:r>
          </a:p>
          <a:p>
            <a:pPr algn="ctr"/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1)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ad-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api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에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kafka</a:t>
            </a:r>
            <a:r>
              <a:rPr kumimoji="1" lang="ko-KR" altLang="en-US" sz="600" dirty="0">
                <a:solidFill>
                  <a:srgbClr val="FF0000"/>
                </a:solidFill>
              </a:rPr>
              <a:t>가 붙어있는 상태에서 잠깐 죽는 경우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2</a:t>
            </a:r>
            <a:r>
              <a:rPr kumimoji="1" lang="ko-KR" altLang="en-US" sz="600" dirty="0">
                <a:solidFill>
                  <a:srgbClr val="FF0000"/>
                </a:solidFill>
              </a:rPr>
              <a:t>분 안에 돌아오면 유실</a:t>
            </a:r>
            <a:r>
              <a:rPr kumimoji="1" lang="en-US" altLang="ko-KR" sz="600" dirty="0">
                <a:solidFill>
                  <a:srgbClr val="FF0000"/>
                </a:solidFill>
              </a:rPr>
              <a:t>x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2) Kafka</a:t>
            </a:r>
            <a:r>
              <a:rPr kumimoji="1" lang="ko-KR" altLang="en-US" sz="600" dirty="0">
                <a:solidFill>
                  <a:srgbClr val="FF0000"/>
                </a:solidFill>
              </a:rPr>
              <a:t>가 죽은 상태에서 </a:t>
            </a:r>
            <a:r>
              <a:rPr kumimoji="1" lang="en-US" altLang="ko-KR" sz="600" dirty="0">
                <a:solidFill>
                  <a:srgbClr val="FF0000"/>
                </a:solidFill>
              </a:rPr>
              <a:t>ad-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api</a:t>
            </a:r>
            <a:r>
              <a:rPr kumimoji="1" lang="ko-KR" altLang="en-US" sz="600" dirty="0">
                <a:solidFill>
                  <a:srgbClr val="FF0000"/>
                </a:solidFill>
              </a:rPr>
              <a:t> 켠 경우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max.block.ms</a:t>
            </a:r>
            <a:r>
              <a:rPr kumimoji="1" lang="ko-KR" altLang="en-US" sz="600" dirty="0">
                <a:solidFill>
                  <a:srgbClr val="FF0000"/>
                </a:solidFill>
              </a:rPr>
              <a:t>설정 </a:t>
            </a:r>
            <a:r>
              <a:rPr kumimoji="1" lang="en-US" altLang="ko-KR" sz="600" dirty="0">
                <a:solidFill>
                  <a:srgbClr val="FF0000"/>
                </a:solidFill>
              </a:rPr>
              <a:t>3</a:t>
            </a:r>
            <a:r>
              <a:rPr kumimoji="1" lang="ko-KR" altLang="en-US" sz="600" dirty="0">
                <a:solidFill>
                  <a:srgbClr val="FF0000"/>
                </a:solidFill>
              </a:rPr>
              <a:t>초씩 느려지고 이벤트 유실됨</a:t>
            </a:r>
            <a:r>
              <a:rPr kumimoji="1" lang="en-US" altLang="ko-KR" sz="600" dirty="0">
                <a:solidFill>
                  <a:srgbClr val="FF0000"/>
                </a:solidFill>
              </a:rPr>
              <a:t>.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endParaRPr kumimoji="1" lang="en-US" altLang="ko-KR" sz="600" dirty="0">
              <a:solidFill>
                <a:srgbClr val="FF0000"/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D512A6D5-1566-231D-B59C-1AFCBC36F233}"/>
              </a:ext>
            </a:extLst>
          </p:cNvPr>
          <p:cNvSpPr/>
          <p:nvPr/>
        </p:nvSpPr>
        <p:spPr>
          <a:xfrm>
            <a:off x="4422757" y="-2894474"/>
            <a:ext cx="1494255" cy="28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Nginx/ad-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api.conf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1FFA802-C00C-1B09-1ADC-31808CA48EB2}"/>
              </a:ext>
            </a:extLst>
          </p:cNvPr>
          <p:cNvSpPr/>
          <p:nvPr/>
        </p:nvSpPr>
        <p:spPr>
          <a:xfrm>
            <a:off x="4425815" y="-2489505"/>
            <a:ext cx="1494255" cy="28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Docker-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compose.yml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FAF4FA7F-E1F3-C29F-8908-B544A1558307}"/>
              </a:ext>
            </a:extLst>
          </p:cNvPr>
          <p:cNvSpPr/>
          <p:nvPr/>
        </p:nvSpPr>
        <p:spPr>
          <a:xfrm>
            <a:off x="1691288" y="-1170126"/>
            <a:ext cx="1732582" cy="938417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docker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36116BAA-626E-04AF-4FB7-683795857488}"/>
              </a:ext>
            </a:extLst>
          </p:cNvPr>
          <p:cNvSpPr/>
          <p:nvPr/>
        </p:nvSpPr>
        <p:spPr>
          <a:xfrm>
            <a:off x="1924937" y="3502669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adwhale-lb</a:t>
            </a:r>
            <a:r>
              <a:rPr kumimoji="1" lang="en-US" altLang="ko-KR" sz="1000" dirty="0"/>
              <a:t>(nginx)</a:t>
            </a:r>
            <a:endParaRPr kumimoji="1" lang="ko-KR" altLang="en-US" sz="10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433CA67-E1CA-B8BE-B58C-CA82536336DD}"/>
              </a:ext>
            </a:extLst>
          </p:cNvPr>
          <p:cNvCxnSpPr>
            <a:cxnSpLocks/>
            <a:stCxn id="21" idx="1"/>
            <a:endCxn id="9" idx="3"/>
          </p:cNvCxnSpPr>
          <p:nvPr/>
        </p:nvCxnSpPr>
        <p:spPr>
          <a:xfrm flipH="1">
            <a:off x="143724" y="4212126"/>
            <a:ext cx="46718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7384170-6781-CFFA-68D2-A955F22246B8}"/>
              </a:ext>
            </a:extLst>
          </p:cNvPr>
          <p:cNvSpPr txBox="1"/>
          <p:nvPr/>
        </p:nvSpPr>
        <p:spPr>
          <a:xfrm>
            <a:off x="136963" y="3479479"/>
            <a:ext cx="179247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[POST] Http://localhost:8080/v1/ad/request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306A1C64-193B-F694-6E0B-83B93ACB7C9F}"/>
              </a:ext>
            </a:extLst>
          </p:cNvPr>
          <p:cNvCxnSpPr>
            <a:cxnSpLocks/>
            <a:stCxn id="48" idx="6"/>
            <a:endCxn id="46" idx="1"/>
          </p:cNvCxnSpPr>
          <p:nvPr/>
        </p:nvCxnSpPr>
        <p:spPr>
          <a:xfrm>
            <a:off x="-2563317" y="855319"/>
            <a:ext cx="953662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1DF071BC-CCBB-C857-D0BC-AA1C9C8C6D81}"/>
              </a:ext>
            </a:extLst>
          </p:cNvPr>
          <p:cNvCxnSpPr>
            <a:cxnSpLocks/>
            <a:stCxn id="49" idx="6"/>
            <a:endCxn id="36" idx="1"/>
          </p:cNvCxnSpPr>
          <p:nvPr/>
        </p:nvCxnSpPr>
        <p:spPr>
          <a:xfrm>
            <a:off x="-2563317" y="1393684"/>
            <a:ext cx="11906583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97623CF6-C157-DFDA-8D7A-81BA6D02673E}"/>
              </a:ext>
            </a:extLst>
          </p:cNvPr>
          <p:cNvCxnSpPr>
            <a:cxnSpLocks/>
            <a:stCxn id="50" idx="6"/>
            <a:endCxn id="23" idx="1"/>
          </p:cNvCxnSpPr>
          <p:nvPr/>
        </p:nvCxnSpPr>
        <p:spPr>
          <a:xfrm>
            <a:off x="-2563317" y="1866164"/>
            <a:ext cx="7378925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9E491207-EC1C-DBF7-A0D8-6DF220B2C9A2}"/>
              </a:ext>
            </a:extLst>
          </p:cNvPr>
          <p:cNvSpPr txBox="1"/>
          <p:nvPr/>
        </p:nvSpPr>
        <p:spPr>
          <a:xfrm>
            <a:off x="2173887" y="4228407"/>
            <a:ext cx="7457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requestId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adId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placementUid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creativeUrl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- </a:t>
            </a:r>
            <a:r>
              <a:rPr kumimoji="1" lang="en-US" altLang="ko-KR" sz="600" b="1" dirty="0" err="1">
                <a:solidFill>
                  <a:schemeClr val="accent2"/>
                </a:solidFill>
              </a:rPr>
              <a:t>landingUrl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73C6E2E4-D0E9-7283-061C-51A3CB90A3BA}"/>
              </a:ext>
            </a:extLst>
          </p:cNvPr>
          <p:cNvCxnSpPr>
            <a:cxnSpLocks/>
            <a:stCxn id="8" idx="3"/>
            <a:endCxn id="127" idx="1"/>
          </p:cNvCxnSpPr>
          <p:nvPr/>
        </p:nvCxnSpPr>
        <p:spPr>
          <a:xfrm flipV="1">
            <a:off x="151947" y="3681010"/>
            <a:ext cx="1772990" cy="3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F2C61BE0-37D0-9ACD-DFA8-45F8430AACAC}"/>
              </a:ext>
            </a:extLst>
          </p:cNvPr>
          <p:cNvCxnSpPr>
            <a:cxnSpLocks/>
            <a:stCxn id="127" idx="3"/>
            <a:endCxn id="20" idx="1"/>
          </p:cNvCxnSpPr>
          <p:nvPr/>
        </p:nvCxnSpPr>
        <p:spPr>
          <a:xfrm>
            <a:off x="3221829" y="3681010"/>
            <a:ext cx="1593779" cy="473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꺾인 연결선[E] 102">
            <a:extLst>
              <a:ext uri="{FF2B5EF4-FFF2-40B4-BE49-F238E27FC236}">
                <a16:creationId xmlns:a16="http://schemas.microsoft.com/office/drawing/2014/main" id="{30E96FF1-0079-5CF2-0675-45B7C4A257F3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21829" y="-2819924"/>
            <a:ext cx="1200928" cy="6431484"/>
          </a:xfrm>
          <a:prstGeom prst="bentConnector3">
            <a:avLst>
              <a:gd name="adj1" fmla="val 73131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번개[L] 86">
            <a:extLst>
              <a:ext uri="{FF2B5EF4-FFF2-40B4-BE49-F238E27FC236}">
                <a16:creationId xmlns:a16="http://schemas.microsoft.com/office/drawing/2014/main" id="{0C027D47-F753-26F5-D05B-BF7CD6046EDF}"/>
              </a:ext>
            </a:extLst>
          </p:cNvPr>
          <p:cNvSpPr/>
          <p:nvPr/>
        </p:nvSpPr>
        <p:spPr>
          <a:xfrm>
            <a:off x="1842093" y="3204328"/>
            <a:ext cx="442543" cy="390649"/>
          </a:xfrm>
          <a:prstGeom prst="lightningBol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8" name="모서리가 둥근 사각형 설명선[R] 97">
            <a:extLst>
              <a:ext uri="{FF2B5EF4-FFF2-40B4-BE49-F238E27FC236}">
                <a16:creationId xmlns:a16="http://schemas.microsoft.com/office/drawing/2014/main" id="{D399A7D1-A79F-E7D7-63AC-90510A0CEFFC}"/>
              </a:ext>
            </a:extLst>
          </p:cNvPr>
          <p:cNvSpPr/>
          <p:nvPr/>
        </p:nvSpPr>
        <p:spPr>
          <a:xfrm>
            <a:off x="383686" y="2782956"/>
            <a:ext cx="2067971" cy="388601"/>
          </a:xfrm>
          <a:prstGeom prst="wedgeRoundRectCallout">
            <a:avLst>
              <a:gd name="adj1" fmla="val 24679"/>
              <a:gd name="adj2" fmla="val 76140"/>
              <a:gd name="adj3" fmla="val 16667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Ad-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api</a:t>
            </a:r>
            <a:r>
              <a:rPr kumimoji="1" lang="en-US" altLang="ko-KR" sz="600" dirty="0">
                <a:solidFill>
                  <a:srgbClr val="FF0000"/>
                </a:solidFill>
              </a:rPr>
              <a:t> </a:t>
            </a:r>
            <a:r>
              <a:rPr kumimoji="1" lang="ko-KR" altLang="en-US" sz="600" dirty="0">
                <a:solidFill>
                  <a:srgbClr val="FF0000"/>
                </a:solidFill>
              </a:rPr>
              <a:t>서버 장애대응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응답</a:t>
            </a:r>
            <a:r>
              <a:rPr kumimoji="1" lang="en-US" altLang="ko-KR" sz="600" dirty="0">
                <a:solidFill>
                  <a:srgbClr val="FF0000"/>
                </a:solidFill>
              </a:rPr>
              <a:t>x,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kafka</a:t>
            </a:r>
            <a:r>
              <a:rPr kumimoji="1" lang="ko-KR" altLang="en-US" sz="600" dirty="0">
                <a:solidFill>
                  <a:srgbClr val="FF0000"/>
                </a:solidFill>
              </a:rPr>
              <a:t>메시지</a:t>
            </a:r>
            <a:r>
              <a:rPr kumimoji="1" lang="en-US" altLang="ko-KR" sz="600" dirty="0">
                <a:solidFill>
                  <a:srgbClr val="FF0000"/>
                </a:solidFill>
              </a:rPr>
              <a:t>x</a:t>
            </a:r>
            <a:r>
              <a:rPr kumimoji="1" lang="ko-KR" altLang="en-US" sz="600" dirty="0">
                <a:solidFill>
                  <a:srgbClr val="FF0000"/>
                </a:solidFill>
              </a:rPr>
              <a:t> 일 경우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로드밸런서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nginx </a:t>
            </a:r>
            <a:r>
              <a:rPr kumimoji="1" lang="ko-KR" altLang="en-US" sz="600" dirty="0">
                <a:solidFill>
                  <a:srgbClr val="FF0000"/>
                </a:solidFill>
              </a:rPr>
              <a:t>처리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v1/ad/request : 503</a:t>
            </a: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 v1/ad/impression, click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: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503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D39C901C-D715-69BF-D517-8C0BD9CBFC96}"/>
              </a:ext>
            </a:extLst>
          </p:cNvPr>
          <p:cNvSpPr/>
          <p:nvPr/>
        </p:nvSpPr>
        <p:spPr>
          <a:xfrm>
            <a:off x="1925188" y="2307721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adwhale-lb</a:t>
            </a:r>
            <a:r>
              <a:rPr kumimoji="1" lang="en-US" altLang="ko-KR" sz="1000" dirty="0"/>
              <a:t>(nginx)</a:t>
            </a:r>
            <a:endParaRPr kumimoji="1" lang="ko-KR" altLang="en-US" sz="1000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4DC58751-E0BA-651F-8664-2292CA8E7667}"/>
              </a:ext>
            </a:extLst>
          </p:cNvPr>
          <p:cNvSpPr/>
          <p:nvPr/>
        </p:nvSpPr>
        <p:spPr>
          <a:xfrm>
            <a:off x="-2797233" y="2354222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4E07D2B-CFE0-F83B-E931-363F531B977F}"/>
              </a:ext>
            </a:extLst>
          </p:cNvPr>
          <p:cNvSpPr txBox="1"/>
          <p:nvPr/>
        </p:nvSpPr>
        <p:spPr>
          <a:xfrm>
            <a:off x="-3729352" y="2626936"/>
            <a:ext cx="20778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4.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Loadbalancer </a:t>
            </a:r>
            <a:r>
              <a:rPr kumimoji="1" lang="ko-KR" altLang="en-US" sz="1000" dirty="0">
                <a:solidFill>
                  <a:srgbClr val="0070C0"/>
                </a:solidFill>
              </a:rPr>
              <a:t>기동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8080)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AA33F134-43D3-26BC-FF59-89E3B241008C}"/>
              </a:ext>
            </a:extLst>
          </p:cNvPr>
          <p:cNvCxnSpPr>
            <a:cxnSpLocks/>
            <a:stCxn id="138" idx="6"/>
            <a:endCxn id="136" idx="1"/>
          </p:cNvCxnSpPr>
          <p:nvPr/>
        </p:nvCxnSpPr>
        <p:spPr>
          <a:xfrm>
            <a:off x="-2563317" y="2481813"/>
            <a:ext cx="4488505" cy="424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5707001-DFFB-CAE3-79F2-CEF9115E379D}"/>
              </a:ext>
            </a:extLst>
          </p:cNvPr>
          <p:cNvSpPr txBox="1"/>
          <p:nvPr/>
        </p:nvSpPr>
        <p:spPr>
          <a:xfrm>
            <a:off x="2285592" y="4019486"/>
            <a:ext cx="5357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JSON</a:t>
            </a:r>
            <a:r>
              <a:rPr kumimoji="1" lang="ko-KR" altLang="en-US" sz="600" b="1" dirty="0">
                <a:solidFill>
                  <a:schemeClr val="accent2"/>
                </a:solidFill>
              </a:rPr>
              <a:t>객체</a:t>
            </a:r>
          </a:p>
        </p:txBody>
      </p: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0E6CFFAE-973E-9569-CB78-C8727C573B9C}"/>
              </a:ext>
            </a:extLst>
          </p:cNvPr>
          <p:cNvCxnSpPr>
            <a:stCxn id="136" idx="2"/>
            <a:endCxn id="127" idx="0"/>
          </p:cNvCxnSpPr>
          <p:nvPr/>
        </p:nvCxnSpPr>
        <p:spPr>
          <a:xfrm flipH="1">
            <a:off x="2573383" y="2664402"/>
            <a:ext cx="251" cy="83826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타원 151">
            <a:extLst>
              <a:ext uri="{FF2B5EF4-FFF2-40B4-BE49-F238E27FC236}">
                <a16:creationId xmlns:a16="http://schemas.microsoft.com/office/drawing/2014/main" id="{B1FF154E-9D71-1810-F73A-6407A2C536D5}"/>
              </a:ext>
            </a:extLst>
          </p:cNvPr>
          <p:cNvSpPr/>
          <p:nvPr/>
        </p:nvSpPr>
        <p:spPr>
          <a:xfrm>
            <a:off x="-2797233" y="5824556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5B558F95-0BAE-D4B4-98E8-A99FAE8E4031}"/>
              </a:ext>
            </a:extLst>
          </p:cNvPr>
          <p:cNvSpPr txBox="1"/>
          <p:nvPr/>
        </p:nvSpPr>
        <p:spPr>
          <a:xfrm>
            <a:off x="-3679659" y="6097270"/>
            <a:ext cx="19784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3.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ad-</a:t>
            </a:r>
            <a:r>
              <a:rPr kumimoji="1" lang="en-US" altLang="ko-KR" sz="1000" dirty="0" err="1">
                <a:solidFill>
                  <a:srgbClr val="0070C0"/>
                </a:solidFill>
              </a:rPr>
              <a:t>api</a:t>
            </a:r>
            <a:r>
              <a:rPr kumimoji="1" lang="en-US" altLang="ko-KR" sz="1000" dirty="0">
                <a:solidFill>
                  <a:srgbClr val="0070C0"/>
                </a:solidFill>
              </a:rPr>
              <a:t> </a:t>
            </a:r>
            <a:r>
              <a:rPr kumimoji="1" lang="ko-KR" altLang="en-US" sz="1000" dirty="0">
                <a:solidFill>
                  <a:srgbClr val="0070C0"/>
                </a:solidFill>
              </a:rPr>
              <a:t>서버 기동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8082)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661FE5AA-D439-A782-3613-E1364450AC6A}"/>
              </a:ext>
            </a:extLst>
          </p:cNvPr>
          <p:cNvCxnSpPr>
            <a:cxnSpLocks/>
            <a:stCxn id="152" idx="6"/>
            <a:endCxn id="93" idx="1"/>
          </p:cNvCxnSpPr>
          <p:nvPr/>
        </p:nvCxnSpPr>
        <p:spPr>
          <a:xfrm flipV="1">
            <a:off x="-2563317" y="5947004"/>
            <a:ext cx="6986074" cy="514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CAA685A3-2CD3-E85D-4C7B-58C9E01AC7C8}"/>
              </a:ext>
            </a:extLst>
          </p:cNvPr>
          <p:cNvCxnSpPr>
            <a:cxnSpLocks/>
            <a:stCxn id="56" idx="6"/>
            <a:endCxn id="17" idx="1"/>
          </p:cNvCxnSpPr>
          <p:nvPr/>
        </p:nvCxnSpPr>
        <p:spPr>
          <a:xfrm>
            <a:off x="-2563317" y="6756854"/>
            <a:ext cx="9543071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모서리가 둥근 사각형 설명선[R] 95">
            <a:extLst>
              <a:ext uri="{FF2B5EF4-FFF2-40B4-BE49-F238E27FC236}">
                <a16:creationId xmlns:a16="http://schemas.microsoft.com/office/drawing/2014/main" id="{B800B486-18FB-F619-6BA3-206AF8AB844E}"/>
              </a:ext>
            </a:extLst>
          </p:cNvPr>
          <p:cNvSpPr/>
          <p:nvPr/>
        </p:nvSpPr>
        <p:spPr>
          <a:xfrm>
            <a:off x="3594589" y="3363748"/>
            <a:ext cx="761673" cy="184666"/>
          </a:xfrm>
          <a:prstGeom prst="wedgeRoundRectCallout">
            <a:avLst>
              <a:gd name="adj1" fmla="val -12484"/>
              <a:gd name="adj2" fmla="val 98496"/>
              <a:gd name="adj3" fmla="val 16667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600" dirty="0" err="1">
                <a:solidFill>
                  <a:schemeClr val="tx1"/>
                </a:solidFill>
              </a:rPr>
              <a:t>라운드로빈사용</a:t>
            </a:r>
            <a:endParaRPr kumimoji="1" lang="en-US" altLang="ko-KR" sz="600" dirty="0">
              <a:solidFill>
                <a:schemeClr val="tx1"/>
              </a:solidFill>
            </a:endParaRPr>
          </a:p>
        </p:txBody>
      </p:sp>
      <p:cxnSp>
        <p:nvCxnSpPr>
          <p:cNvPr id="164" name="꺾인 연결선[E] 163">
            <a:extLst>
              <a:ext uri="{FF2B5EF4-FFF2-40B4-BE49-F238E27FC236}">
                <a16:creationId xmlns:a16="http://schemas.microsoft.com/office/drawing/2014/main" id="{4FAAB374-85A8-31C3-3B38-357CCB5149E5}"/>
              </a:ext>
            </a:extLst>
          </p:cNvPr>
          <p:cNvCxnSpPr>
            <a:cxnSpLocks/>
            <a:stCxn id="102" idx="2"/>
            <a:endCxn id="126" idx="0"/>
          </p:cNvCxnSpPr>
          <p:nvPr/>
        </p:nvCxnSpPr>
        <p:spPr>
          <a:xfrm rot="5400000">
            <a:off x="3349572" y="-2993498"/>
            <a:ext cx="1031379" cy="2615364"/>
          </a:xfrm>
          <a:prstGeom prst="bentConnector3">
            <a:avLst>
              <a:gd name="adj1" fmla="val 7433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1B3CBDCC-7946-01EC-B50F-8A67F3D579AD}"/>
              </a:ext>
            </a:extLst>
          </p:cNvPr>
          <p:cNvSpPr/>
          <p:nvPr/>
        </p:nvSpPr>
        <p:spPr>
          <a:xfrm>
            <a:off x="17346177" y="-1170125"/>
            <a:ext cx="2020910" cy="93706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docker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879843F6-4E0A-2FB2-A5FC-3AC999C4BF1F}"/>
              </a:ext>
            </a:extLst>
          </p:cNvPr>
          <p:cNvSpPr/>
          <p:nvPr/>
        </p:nvSpPr>
        <p:spPr>
          <a:xfrm>
            <a:off x="17701090" y="-853883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adwhale-mysql</a:t>
            </a:r>
            <a:endParaRPr kumimoji="1" lang="ko-KR" altLang="en-US" sz="1000" dirty="0"/>
          </a:p>
        </p:txBody>
      </p:sp>
      <p:sp>
        <p:nvSpPr>
          <p:cNvPr id="170" name="원통[C] 169">
            <a:extLst>
              <a:ext uri="{FF2B5EF4-FFF2-40B4-BE49-F238E27FC236}">
                <a16:creationId xmlns:a16="http://schemas.microsoft.com/office/drawing/2014/main" id="{DEE6172E-9492-065B-6125-5C9A39ADB676}"/>
              </a:ext>
            </a:extLst>
          </p:cNvPr>
          <p:cNvSpPr/>
          <p:nvPr/>
        </p:nvSpPr>
        <p:spPr>
          <a:xfrm>
            <a:off x="17491010" y="1321238"/>
            <a:ext cx="1717051" cy="5257275"/>
          </a:xfrm>
          <a:prstGeom prst="can">
            <a:avLst>
              <a:gd name="adj" fmla="val 8527"/>
            </a:avLst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adwhale</a:t>
            </a:r>
            <a:r>
              <a:rPr kumimoji="1" lang="en-US" altLang="ko-KR" sz="1000" dirty="0">
                <a:solidFill>
                  <a:sysClr val="windowText" lastClr="000000"/>
                </a:solidFill>
              </a:rPr>
              <a:t>-db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67944B18-981B-686A-7FA5-30495FD9F206}"/>
              </a:ext>
            </a:extLst>
          </p:cNvPr>
          <p:cNvSpPr/>
          <p:nvPr/>
        </p:nvSpPr>
        <p:spPr>
          <a:xfrm>
            <a:off x="-2797233" y="-800905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A14AB4B9-D0E9-E6F0-BC5A-85304E73D6B4}"/>
              </a:ext>
            </a:extLst>
          </p:cNvPr>
          <p:cNvSpPr txBox="1"/>
          <p:nvPr/>
        </p:nvSpPr>
        <p:spPr>
          <a:xfrm>
            <a:off x="-3765420" y="-531220"/>
            <a:ext cx="21499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5.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MySQL docker </a:t>
            </a:r>
            <a:r>
              <a:rPr kumimoji="1" lang="ko-KR" altLang="en-US" sz="1000" dirty="0">
                <a:solidFill>
                  <a:srgbClr val="0070C0"/>
                </a:solidFill>
              </a:rPr>
              <a:t>기동</a:t>
            </a:r>
            <a:r>
              <a:rPr kumimoji="1" lang="en-US" altLang="ko-KR" sz="1000" dirty="0">
                <a:solidFill>
                  <a:srgbClr val="0070C0"/>
                </a:solidFill>
              </a:rPr>
              <a:t>(Port: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3306)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D5196453-575F-44D3-0E82-276CCD363691}"/>
              </a:ext>
            </a:extLst>
          </p:cNvPr>
          <p:cNvCxnSpPr>
            <a:cxnSpLocks/>
            <a:stCxn id="169" idx="2"/>
            <a:endCxn id="170" idx="1"/>
          </p:cNvCxnSpPr>
          <p:nvPr/>
        </p:nvCxnSpPr>
        <p:spPr>
          <a:xfrm>
            <a:off x="18349536" y="-497202"/>
            <a:ext cx="0" cy="1818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5FA088B1-824A-C5BF-2F3A-2F76995F6C38}"/>
              </a:ext>
            </a:extLst>
          </p:cNvPr>
          <p:cNvSpPr/>
          <p:nvPr/>
        </p:nvSpPr>
        <p:spPr>
          <a:xfrm>
            <a:off x="10399754" y="3561303"/>
            <a:ext cx="1443683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AdEventRepository</a:t>
            </a:r>
            <a:endParaRPr kumimoji="1" lang="ko-KR" altLang="en-US" sz="1000" dirty="0"/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AFDDB702-E36A-DABD-4BC3-5B91C72202EC}"/>
              </a:ext>
            </a:extLst>
          </p:cNvPr>
          <p:cNvSpPr/>
          <p:nvPr/>
        </p:nvSpPr>
        <p:spPr>
          <a:xfrm>
            <a:off x="10388526" y="3000583"/>
            <a:ext cx="1469228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spring-boot-starter-</a:t>
            </a:r>
            <a:r>
              <a:rPr kumimoji="1" lang="en-US" altLang="ko-KR" sz="800" dirty="0" err="1">
                <a:solidFill>
                  <a:sysClr val="windowText" lastClr="000000"/>
                </a:solidFill>
              </a:rPr>
              <a:t>jdbc</a:t>
            </a:r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259F804-0A9B-70E7-4A2D-2793401E6F9A}"/>
              </a:ext>
            </a:extLst>
          </p:cNvPr>
          <p:cNvSpPr txBox="1"/>
          <p:nvPr/>
        </p:nvSpPr>
        <p:spPr>
          <a:xfrm>
            <a:off x="8499503" y="4059244"/>
            <a:ext cx="92685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DB LISTENER (3306)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9719296F-9578-1316-B1D9-7BEF494418FD}"/>
              </a:ext>
            </a:extLst>
          </p:cNvPr>
          <p:cNvSpPr/>
          <p:nvPr/>
        </p:nvSpPr>
        <p:spPr>
          <a:xfrm>
            <a:off x="10403954" y="4081251"/>
            <a:ext cx="1443683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AdEventDbConsumer</a:t>
            </a:r>
            <a:endParaRPr kumimoji="1" lang="ko-KR" altLang="en-US" sz="1000" dirty="0"/>
          </a:p>
        </p:txBody>
      </p: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D18BA4BD-40F4-C338-E9DB-1D85DB4B6904}"/>
              </a:ext>
            </a:extLst>
          </p:cNvPr>
          <p:cNvCxnSpPr>
            <a:cxnSpLocks/>
            <a:stCxn id="222" idx="0"/>
            <a:endCxn id="204" idx="2"/>
          </p:cNvCxnSpPr>
          <p:nvPr/>
        </p:nvCxnSpPr>
        <p:spPr>
          <a:xfrm flipH="1" flipV="1">
            <a:off x="11121596" y="3917984"/>
            <a:ext cx="4200" cy="163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3" name="꺾인 연결선[E] 232">
            <a:extLst>
              <a:ext uri="{FF2B5EF4-FFF2-40B4-BE49-F238E27FC236}">
                <a16:creationId xmlns:a16="http://schemas.microsoft.com/office/drawing/2014/main" id="{8C351DC5-02D2-A138-D480-215B580881EB}"/>
              </a:ext>
            </a:extLst>
          </p:cNvPr>
          <p:cNvCxnSpPr>
            <a:cxnSpLocks/>
            <a:stCxn id="16" idx="3"/>
            <a:endCxn id="222" idx="1"/>
          </p:cNvCxnSpPr>
          <p:nvPr/>
        </p:nvCxnSpPr>
        <p:spPr>
          <a:xfrm flipV="1">
            <a:off x="8276646" y="4259592"/>
            <a:ext cx="2127308" cy="989746"/>
          </a:xfrm>
          <a:prstGeom prst="bentConnector3">
            <a:avLst>
              <a:gd name="adj1" fmla="val 3746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2A6FC3BE-8EC1-3162-730F-C42B7E96924B}"/>
              </a:ext>
            </a:extLst>
          </p:cNvPr>
          <p:cNvCxnSpPr>
            <a:cxnSpLocks/>
          </p:cNvCxnSpPr>
          <p:nvPr/>
        </p:nvCxnSpPr>
        <p:spPr>
          <a:xfrm>
            <a:off x="9921578" y="1572025"/>
            <a:ext cx="0" cy="351242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직선 화살표 연결선 243">
            <a:extLst>
              <a:ext uri="{FF2B5EF4-FFF2-40B4-BE49-F238E27FC236}">
                <a16:creationId xmlns:a16="http://schemas.microsoft.com/office/drawing/2014/main" id="{FA7C231C-688D-D2BA-3514-691784427910}"/>
              </a:ext>
            </a:extLst>
          </p:cNvPr>
          <p:cNvCxnSpPr>
            <a:cxnSpLocks/>
            <a:stCxn id="204" idx="0"/>
            <a:endCxn id="205" idx="2"/>
          </p:cNvCxnSpPr>
          <p:nvPr/>
        </p:nvCxnSpPr>
        <p:spPr>
          <a:xfrm flipV="1">
            <a:off x="11121596" y="3373584"/>
            <a:ext cx="1544" cy="187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F9C33E94-D2BC-0189-37CE-3845324A585A}"/>
              </a:ext>
            </a:extLst>
          </p:cNvPr>
          <p:cNvCxnSpPr>
            <a:cxnSpLocks/>
            <a:endCxn id="205" idx="0"/>
          </p:cNvCxnSpPr>
          <p:nvPr/>
        </p:nvCxnSpPr>
        <p:spPr>
          <a:xfrm>
            <a:off x="11123140" y="1572025"/>
            <a:ext cx="0" cy="142855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64" name="표 263">
            <a:extLst>
              <a:ext uri="{FF2B5EF4-FFF2-40B4-BE49-F238E27FC236}">
                <a16:creationId xmlns:a16="http://schemas.microsoft.com/office/drawing/2014/main" id="{81347A30-3A5C-97A9-ACC8-0587E97B1089}"/>
              </a:ext>
            </a:extLst>
          </p:cNvPr>
          <p:cNvGraphicFramePr>
            <a:graphicFrameLocks noGrp="1"/>
          </p:cNvGraphicFramePr>
          <p:nvPr/>
        </p:nvGraphicFramePr>
        <p:xfrm>
          <a:off x="17608402" y="2258833"/>
          <a:ext cx="1457960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6040337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51222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489118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203276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620463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818293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29149594"/>
                    </a:ext>
                  </a:extLst>
                </a:gridCol>
              </a:tblGrid>
              <a:tr h="1790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706128"/>
                  </a:ext>
                </a:extLst>
              </a:tr>
              <a:tr h="1790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470320"/>
                  </a:ext>
                </a:extLst>
              </a:tr>
            </a:tbl>
          </a:graphicData>
        </a:graphic>
      </p:graphicFrame>
      <p:graphicFrame>
        <p:nvGraphicFramePr>
          <p:cNvPr id="265" name="표 264">
            <a:extLst>
              <a:ext uri="{FF2B5EF4-FFF2-40B4-BE49-F238E27FC236}">
                <a16:creationId xmlns:a16="http://schemas.microsoft.com/office/drawing/2014/main" id="{55E4C2CE-0A72-1FED-F3DD-EEFDA0A5CFE2}"/>
              </a:ext>
            </a:extLst>
          </p:cNvPr>
          <p:cNvGraphicFramePr>
            <a:graphicFrameLocks noGrp="1"/>
          </p:cNvGraphicFramePr>
          <p:nvPr/>
        </p:nvGraphicFramePr>
        <p:xfrm>
          <a:off x="17608402" y="3716201"/>
          <a:ext cx="1457960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6040337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51222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489118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203276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620463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818293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29149594"/>
                    </a:ext>
                  </a:extLst>
                </a:gridCol>
              </a:tblGrid>
              <a:tr h="1790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706128"/>
                  </a:ext>
                </a:extLst>
              </a:tr>
              <a:tr h="1790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470320"/>
                  </a:ext>
                </a:extLst>
              </a:tr>
            </a:tbl>
          </a:graphicData>
        </a:graphic>
      </p:graphicFrame>
      <p:sp>
        <p:nvSpPr>
          <p:cNvPr id="266" name="TextBox 265">
            <a:extLst>
              <a:ext uri="{FF2B5EF4-FFF2-40B4-BE49-F238E27FC236}">
                <a16:creationId xmlns:a16="http://schemas.microsoft.com/office/drawing/2014/main" id="{681F2FD6-F97D-7231-3489-F69F03AD445D}"/>
              </a:ext>
            </a:extLst>
          </p:cNvPr>
          <p:cNvSpPr txBox="1"/>
          <p:nvPr/>
        </p:nvSpPr>
        <p:spPr>
          <a:xfrm>
            <a:off x="17982201" y="2011287"/>
            <a:ext cx="7264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ad_event</a:t>
            </a:r>
            <a:endParaRPr kumimoji="1" lang="ko-KR" altLang="en-US" sz="1000" b="1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AEABA4CE-8B6F-D0EA-FB2E-5D0BE06B7CAF}"/>
              </a:ext>
            </a:extLst>
          </p:cNvPr>
          <p:cNvSpPr txBox="1"/>
          <p:nvPr/>
        </p:nvSpPr>
        <p:spPr>
          <a:xfrm>
            <a:off x="17785031" y="3461262"/>
            <a:ext cx="11208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ad_stats_hourly</a:t>
            </a:r>
            <a:endParaRPr kumimoji="1" lang="ko-KR" altLang="en-US" sz="1000" b="1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BCE74DA7-C216-0CFD-4B7B-2982DEFD3680}"/>
              </a:ext>
            </a:extLst>
          </p:cNvPr>
          <p:cNvSpPr txBox="1"/>
          <p:nvPr/>
        </p:nvSpPr>
        <p:spPr>
          <a:xfrm>
            <a:off x="8424135" y="5270226"/>
            <a:ext cx="94288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ad-log-writer (9092)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4A99D3D0-F7A8-35F3-1629-8B3F459A3364}"/>
              </a:ext>
            </a:extLst>
          </p:cNvPr>
          <p:cNvSpPr txBox="1"/>
          <p:nvPr/>
        </p:nvSpPr>
        <p:spPr>
          <a:xfrm>
            <a:off x="8512563" y="4278255"/>
            <a:ext cx="90922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ad-db-writer (3306)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270" name="번개[L] 269">
            <a:extLst>
              <a:ext uri="{FF2B5EF4-FFF2-40B4-BE49-F238E27FC236}">
                <a16:creationId xmlns:a16="http://schemas.microsoft.com/office/drawing/2014/main" id="{6AFB2D0B-FB4C-15BB-5385-4ECF61450E24}"/>
              </a:ext>
            </a:extLst>
          </p:cNvPr>
          <p:cNvSpPr/>
          <p:nvPr/>
        </p:nvSpPr>
        <p:spPr>
          <a:xfrm>
            <a:off x="10179542" y="2608447"/>
            <a:ext cx="442543" cy="390649"/>
          </a:xfrm>
          <a:prstGeom prst="lightningBol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71" name="모서리가 둥근 사각형 설명선[R] 270">
            <a:extLst>
              <a:ext uri="{FF2B5EF4-FFF2-40B4-BE49-F238E27FC236}">
                <a16:creationId xmlns:a16="http://schemas.microsoft.com/office/drawing/2014/main" id="{D8077C4B-3689-7EF4-F9C0-351DF48EE312}"/>
              </a:ext>
            </a:extLst>
          </p:cNvPr>
          <p:cNvSpPr/>
          <p:nvPr/>
        </p:nvSpPr>
        <p:spPr>
          <a:xfrm>
            <a:off x="11345030" y="2288872"/>
            <a:ext cx="1714804" cy="319575"/>
          </a:xfrm>
          <a:prstGeom prst="wedgeRoundRectCallout">
            <a:avLst>
              <a:gd name="adj1" fmla="val -43072"/>
              <a:gd name="adj2" fmla="val 185824"/>
              <a:gd name="adj3" fmla="val 16667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 err="1">
                <a:solidFill>
                  <a:srgbClr val="FF0000"/>
                </a:solidFill>
              </a:rPr>
              <a:t>Adwhale</a:t>
            </a:r>
            <a:r>
              <a:rPr kumimoji="1" lang="en-US" altLang="ko-KR" sz="600" dirty="0">
                <a:solidFill>
                  <a:srgbClr val="FF0000"/>
                </a:solidFill>
              </a:rPr>
              <a:t>-db </a:t>
            </a:r>
            <a:r>
              <a:rPr kumimoji="1" lang="ko-KR" altLang="en-US" sz="600" dirty="0">
                <a:solidFill>
                  <a:srgbClr val="FF0000"/>
                </a:solidFill>
              </a:rPr>
              <a:t>장애대응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실패 시 </a:t>
            </a:r>
            <a:r>
              <a:rPr kumimoji="1" lang="en-US" altLang="ko-KR" sz="600" dirty="0">
                <a:solidFill>
                  <a:srgbClr val="FF0000"/>
                </a:solidFill>
              </a:rPr>
              <a:t>DB</a:t>
            </a:r>
            <a:r>
              <a:rPr kumimoji="1" lang="ko-KR" altLang="en-US" sz="600" dirty="0">
                <a:solidFill>
                  <a:srgbClr val="FF0000"/>
                </a:solidFill>
              </a:rPr>
              <a:t>가 살아날 때까지 계속 재시도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(1</a:t>
            </a:r>
            <a:r>
              <a:rPr kumimoji="1" lang="ko-KR" altLang="en-US" sz="600" dirty="0">
                <a:solidFill>
                  <a:srgbClr val="FF0000"/>
                </a:solidFill>
              </a:rPr>
              <a:t>초 </a:t>
            </a:r>
            <a:r>
              <a:rPr kumimoji="1" lang="en-US" altLang="ko-KR" sz="600" dirty="0">
                <a:solidFill>
                  <a:srgbClr val="FF0000"/>
                </a:solidFill>
              </a:rPr>
              <a:t>&gt;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2</a:t>
            </a:r>
            <a:r>
              <a:rPr kumimoji="1" lang="ko-KR" altLang="en-US" sz="600" dirty="0">
                <a:solidFill>
                  <a:srgbClr val="FF0000"/>
                </a:solidFill>
              </a:rPr>
              <a:t>초 </a:t>
            </a:r>
            <a:r>
              <a:rPr kumimoji="1" lang="en-US" altLang="ko-KR" sz="600" dirty="0">
                <a:solidFill>
                  <a:srgbClr val="FF0000"/>
                </a:solidFill>
              </a:rPr>
              <a:t>&gt;.4</a:t>
            </a:r>
            <a:r>
              <a:rPr kumimoji="1" lang="ko-KR" altLang="en-US" sz="600" dirty="0">
                <a:solidFill>
                  <a:srgbClr val="FF0000"/>
                </a:solidFill>
              </a:rPr>
              <a:t>초 </a:t>
            </a:r>
            <a:r>
              <a:rPr kumimoji="1" lang="en-US" altLang="ko-KR" sz="600" dirty="0">
                <a:solidFill>
                  <a:srgbClr val="FF0000"/>
                </a:solidFill>
              </a:rPr>
              <a:t>&gt;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…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&gt;</a:t>
            </a:r>
            <a:r>
              <a:rPr kumimoji="1" lang="ko-KR" altLang="en-US" sz="600" dirty="0">
                <a:solidFill>
                  <a:srgbClr val="FF0000"/>
                </a:solidFill>
              </a:rPr>
              <a:t> 최대 </a:t>
            </a:r>
            <a:r>
              <a:rPr kumimoji="1" lang="en-US" altLang="ko-KR" sz="600" dirty="0">
                <a:solidFill>
                  <a:srgbClr val="FF0000"/>
                </a:solidFill>
              </a:rPr>
              <a:t>30</a:t>
            </a:r>
            <a:r>
              <a:rPr kumimoji="1" lang="ko-KR" altLang="en-US" sz="600" dirty="0">
                <a:solidFill>
                  <a:srgbClr val="FF0000"/>
                </a:solidFill>
              </a:rPr>
              <a:t>초 간격</a:t>
            </a:r>
            <a:r>
              <a:rPr kumimoji="1" lang="en-US" altLang="ko-KR" sz="6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D192CFB5-2D1E-3D4F-BAEA-15B730FB7365}"/>
              </a:ext>
            </a:extLst>
          </p:cNvPr>
          <p:cNvSpPr/>
          <p:nvPr/>
        </p:nvSpPr>
        <p:spPr>
          <a:xfrm>
            <a:off x="14096071" y="-1169091"/>
            <a:ext cx="2826118" cy="93696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ad-batch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190" name="직선 화살표 연결선 189">
            <a:extLst>
              <a:ext uri="{FF2B5EF4-FFF2-40B4-BE49-F238E27FC236}">
                <a16:creationId xmlns:a16="http://schemas.microsoft.com/office/drawing/2014/main" id="{1B7819BD-DADD-532F-E03B-8F1A1D2C43E8}"/>
              </a:ext>
            </a:extLst>
          </p:cNvPr>
          <p:cNvCxnSpPr>
            <a:cxnSpLocks/>
            <a:stCxn id="188" idx="6"/>
            <a:endCxn id="169" idx="1"/>
          </p:cNvCxnSpPr>
          <p:nvPr/>
        </p:nvCxnSpPr>
        <p:spPr>
          <a:xfrm flipV="1">
            <a:off x="-2563317" y="-675542"/>
            <a:ext cx="20264407" cy="222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5" name="꺾인 연결선[E] 274">
            <a:extLst>
              <a:ext uri="{FF2B5EF4-FFF2-40B4-BE49-F238E27FC236}">
                <a16:creationId xmlns:a16="http://schemas.microsoft.com/office/drawing/2014/main" id="{D85ED841-FFF9-0A99-C0FD-92A0C24C1AA2}"/>
              </a:ext>
            </a:extLst>
          </p:cNvPr>
          <p:cNvCxnSpPr>
            <a:cxnSpLocks/>
            <a:stCxn id="102" idx="2"/>
            <a:endCxn id="168" idx="0"/>
          </p:cNvCxnSpPr>
          <p:nvPr/>
        </p:nvCxnSpPr>
        <p:spPr>
          <a:xfrm rot="16200000" flipH="1">
            <a:off x="11249097" y="-8277660"/>
            <a:ext cx="1031380" cy="13183689"/>
          </a:xfrm>
          <a:prstGeom prst="bentConnector3">
            <a:avLst>
              <a:gd name="adj1" fmla="val 7433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1" name="꺾인 연결선[E] 280">
            <a:extLst>
              <a:ext uri="{FF2B5EF4-FFF2-40B4-BE49-F238E27FC236}">
                <a16:creationId xmlns:a16="http://schemas.microsoft.com/office/drawing/2014/main" id="{CE577CA0-EDA6-0AE9-EEDF-A9B134BDA5CC}"/>
              </a:ext>
            </a:extLst>
          </p:cNvPr>
          <p:cNvCxnSpPr>
            <a:cxnSpLocks/>
            <a:stCxn id="69" idx="2"/>
            <a:endCxn id="272" idx="0"/>
          </p:cNvCxnSpPr>
          <p:nvPr/>
        </p:nvCxnSpPr>
        <p:spPr>
          <a:xfrm rot="16200000" flipH="1">
            <a:off x="11029030" y="-5649192"/>
            <a:ext cx="1036421" cy="792377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5" name="직사각형 284">
            <a:extLst>
              <a:ext uri="{FF2B5EF4-FFF2-40B4-BE49-F238E27FC236}">
                <a16:creationId xmlns:a16="http://schemas.microsoft.com/office/drawing/2014/main" id="{87FEA9B1-EE8C-59DE-AEB2-C98F0DC71A2D}"/>
              </a:ext>
            </a:extLst>
          </p:cNvPr>
          <p:cNvSpPr/>
          <p:nvPr/>
        </p:nvSpPr>
        <p:spPr>
          <a:xfrm>
            <a:off x="14292438" y="-356681"/>
            <a:ext cx="2386683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AdBatchApplication</a:t>
            </a:r>
            <a:endParaRPr kumimoji="1" lang="ko-KR" altLang="en-US" sz="1000" dirty="0"/>
          </a:p>
        </p:txBody>
      </p:sp>
      <p:sp>
        <p:nvSpPr>
          <p:cNvPr id="286" name="타원 285">
            <a:extLst>
              <a:ext uri="{FF2B5EF4-FFF2-40B4-BE49-F238E27FC236}">
                <a16:creationId xmlns:a16="http://schemas.microsoft.com/office/drawing/2014/main" id="{2E1356FB-4E81-5DC8-E09B-EAC2C01C944D}"/>
              </a:ext>
            </a:extLst>
          </p:cNvPr>
          <p:cNvSpPr/>
          <p:nvPr/>
        </p:nvSpPr>
        <p:spPr>
          <a:xfrm>
            <a:off x="-2797233" y="-267581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95D56894-1669-1EB2-3988-9B8161997ECC}"/>
              </a:ext>
            </a:extLst>
          </p:cNvPr>
          <p:cNvSpPr txBox="1"/>
          <p:nvPr/>
        </p:nvSpPr>
        <p:spPr>
          <a:xfrm>
            <a:off x="-3352647" y="2104"/>
            <a:ext cx="13244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6.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ad-batch </a:t>
            </a:r>
            <a:r>
              <a:rPr kumimoji="1" lang="ko-KR" altLang="en-US" sz="1000" dirty="0">
                <a:solidFill>
                  <a:srgbClr val="0070C0"/>
                </a:solidFill>
              </a:rPr>
              <a:t>앱 기동</a:t>
            </a:r>
          </a:p>
        </p:txBody>
      </p:sp>
      <p:cxnSp>
        <p:nvCxnSpPr>
          <p:cNvPr id="288" name="직선 화살표 연결선 287">
            <a:extLst>
              <a:ext uri="{FF2B5EF4-FFF2-40B4-BE49-F238E27FC236}">
                <a16:creationId xmlns:a16="http://schemas.microsoft.com/office/drawing/2014/main" id="{2453C5AD-5FEF-9FEA-D60C-27DD88E900FB}"/>
              </a:ext>
            </a:extLst>
          </p:cNvPr>
          <p:cNvCxnSpPr>
            <a:cxnSpLocks/>
            <a:stCxn id="286" idx="6"/>
            <a:endCxn id="285" idx="1"/>
          </p:cNvCxnSpPr>
          <p:nvPr/>
        </p:nvCxnSpPr>
        <p:spPr>
          <a:xfrm flipV="1">
            <a:off x="-2563317" y="-178340"/>
            <a:ext cx="16855755" cy="383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2" name="직사각형 291">
            <a:extLst>
              <a:ext uri="{FF2B5EF4-FFF2-40B4-BE49-F238E27FC236}">
                <a16:creationId xmlns:a16="http://schemas.microsoft.com/office/drawing/2014/main" id="{64255837-1DC5-BBD8-7EE9-9F2F9F6CF8C8}"/>
              </a:ext>
            </a:extLst>
          </p:cNvPr>
          <p:cNvSpPr/>
          <p:nvPr/>
        </p:nvSpPr>
        <p:spPr>
          <a:xfrm>
            <a:off x="15541191" y="1488301"/>
            <a:ext cx="1114780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spring-boot-starter-</a:t>
            </a:r>
            <a:r>
              <a:rPr kumimoji="1" lang="en-US" altLang="ko-KR" sz="800" dirty="0" err="1">
                <a:solidFill>
                  <a:sysClr val="windowText" lastClr="000000"/>
                </a:solidFill>
              </a:rPr>
              <a:t>jdbc</a:t>
            </a:r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293" name="직사각형 292">
            <a:extLst>
              <a:ext uri="{FF2B5EF4-FFF2-40B4-BE49-F238E27FC236}">
                <a16:creationId xmlns:a16="http://schemas.microsoft.com/office/drawing/2014/main" id="{D8E3DCE0-F2A9-743A-88AE-0AAD085F36CB}"/>
              </a:ext>
            </a:extLst>
          </p:cNvPr>
          <p:cNvSpPr/>
          <p:nvPr/>
        </p:nvSpPr>
        <p:spPr>
          <a:xfrm>
            <a:off x="14316203" y="1488301"/>
            <a:ext cx="1089703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</a:t>
            </a:r>
          </a:p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297" name="직사각형 296">
            <a:extLst>
              <a:ext uri="{FF2B5EF4-FFF2-40B4-BE49-F238E27FC236}">
                <a16:creationId xmlns:a16="http://schemas.microsoft.com/office/drawing/2014/main" id="{752FEA19-6230-9EF6-7613-A78A116611DB}"/>
              </a:ext>
            </a:extLst>
          </p:cNvPr>
          <p:cNvSpPr/>
          <p:nvPr/>
        </p:nvSpPr>
        <p:spPr>
          <a:xfrm>
            <a:off x="14688273" y="2363569"/>
            <a:ext cx="1574157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HourlyStatsJob</a:t>
            </a:r>
            <a:endParaRPr kumimoji="1" lang="ko-KR" altLang="en-US" sz="1000" dirty="0"/>
          </a:p>
        </p:txBody>
      </p:sp>
      <p:cxnSp>
        <p:nvCxnSpPr>
          <p:cNvPr id="302" name="직선 화살표 연결선 301">
            <a:extLst>
              <a:ext uri="{FF2B5EF4-FFF2-40B4-BE49-F238E27FC236}">
                <a16:creationId xmlns:a16="http://schemas.microsoft.com/office/drawing/2014/main" id="{F64776AF-CC09-4A72-4E7D-0D41C50F649C}"/>
              </a:ext>
            </a:extLst>
          </p:cNvPr>
          <p:cNvCxnSpPr>
            <a:cxnSpLocks/>
            <a:endCxn id="293" idx="0"/>
          </p:cNvCxnSpPr>
          <p:nvPr/>
        </p:nvCxnSpPr>
        <p:spPr>
          <a:xfrm>
            <a:off x="14861055" y="0"/>
            <a:ext cx="0" cy="148830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직선 화살표 연결선 305">
            <a:extLst>
              <a:ext uri="{FF2B5EF4-FFF2-40B4-BE49-F238E27FC236}">
                <a16:creationId xmlns:a16="http://schemas.microsoft.com/office/drawing/2014/main" id="{CFD17662-0786-4B1D-2F6E-71E7CDB20C22}"/>
              </a:ext>
            </a:extLst>
          </p:cNvPr>
          <p:cNvCxnSpPr>
            <a:cxnSpLocks/>
            <a:endCxn id="292" idx="0"/>
          </p:cNvCxnSpPr>
          <p:nvPr/>
        </p:nvCxnSpPr>
        <p:spPr>
          <a:xfrm>
            <a:off x="16098581" y="0"/>
            <a:ext cx="0" cy="148830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구부러진 연결선[U] 310">
            <a:extLst>
              <a:ext uri="{FF2B5EF4-FFF2-40B4-BE49-F238E27FC236}">
                <a16:creationId xmlns:a16="http://schemas.microsoft.com/office/drawing/2014/main" id="{B370DF59-DC41-E4DB-55B1-209BCC0B9899}"/>
              </a:ext>
            </a:extLst>
          </p:cNvPr>
          <p:cNvCxnSpPr>
            <a:stCxn id="297" idx="0"/>
            <a:endCxn id="297" idx="2"/>
          </p:cNvCxnSpPr>
          <p:nvPr/>
        </p:nvCxnSpPr>
        <p:spPr>
          <a:xfrm rot="16200000" flipH="1">
            <a:off x="15297011" y="2541909"/>
            <a:ext cx="356681" cy="12700"/>
          </a:xfrm>
          <a:prstGeom prst="curvedConnector5">
            <a:avLst>
              <a:gd name="adj1" fmla="val -64091"/>
              <a:gd name="adj2" fmla="val 7997472"/>
              <a:gd name="adj3" fmla="val 164091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F50BD241-26C7-325F-587D-CFBD8D4153A0}"/>
              </a:ext>
            </a:extLst>
          </p:cNvPr>
          <p:cNvCxnSpPr>
            <a:cxnSpLocks/>
            <a:endCxn id="293" idx="2"/>
          </p:cNvCxnSpPr>
          <p:nvPr/>
        </p:nvCxnSpPr>
        <p:spPr>
          <a:xfrm flipV="1">
            <a:off x="14861055" y="1861302"/>
            <a:ext cx="0" cy="488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6" name="직선 화살표 연결선 315">
            <a:extLst>
              <a:ext uri="{FF2B5EF4-FFF2-40B4-BE49-F238E27FC236}">
                <a16:creationId xmlns:a16="http://schemas.microsoft.com/office/drawing/2014/main" id="{61ACF673-7668-4CF6-F576-E9D0878659AA}"/>
              </a:ext>
            </a:extLst>
          </p:cNvPr>
          <p:cNvCxnSpPr>
            <a:cxnSpLocks/>
            <a:endCxn id="292" idx="2"/>
          </p:cNvCxnSpPr>
          <p:nvPr/>
        </p:nvCxnSpPr>
        <p:spPr>
          <a:xfrm flipV="1">
            <a:off x="16098581" y="1861302"/>
            <a:ext cx="0" cy="488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1" name="직선 화살표 연결선 320">
            <a:extLst>
              <a:ext uri="{FF2B5EF4-FFF2-40B4-BE49-F238E27FC236}">
                <a16:creationId xmlns:a16="http://schemas.microsoft.com/office/drawing/2014/main" id="{DD625620-B7CE-C064-2075-FDDAB15EBF51}"/>
              </a:ext>
            </a:extLst>
          </p:cNvPr>
          <p:cNvCxnSpPr>
            <a:cxnSpLocks/>
            <a:stCxn id="292" idx="3"/>
          </p:cNvCxnSpPr>
          <p:nvPr/>
        </p:nvCxnSpPr>
        <p:spPr>
          <a:xfrm>
            <a:off x="16655971" y="1674802"/>
            <a:ext cx="8333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0" name="TextBox 329">
            <a:extLst>
              <a:ext uri="{FF2B5EF4-FFF2-40B4-BE49-F238E27FC236}">
                <a16:creationId xmlns:a16="http://schemas.microsoft.com/office/drawing/2014/main" id="{8CD60A4E-984A-F60F-CD3D-E9866069DBD7}"/>
              </a:ext>
            </a:extLst>
          </p:cNvPr>
          <p:cNvSpPr txBox="1"/>
          <p:nvPr/>
        </p:nvSpPr>
        <p:spPr>
          <a:xfrm>
            <a:off x="16794608" y="1479692"/>
            <a:ext cx="53251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DB CRUD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B8571AF5-792E-BC51-7597-C59377145FEF}"/>
              </a:ext>
            </a:extLst>
          </p:cNvPr>
          <p:cNvSpPr txBox="1"/>
          <p:nvPr/>
        </p:nvSpPr>
        <p:spPr>
          <a:xfrm>
            <a:off x="16102056" y="1966680"/>
            <a:ext cx="822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600" b="1" dirty="0">
                <a:solidFill>
                  <a:schemeClr val="accent2"/>
                </a:solidFill>
              </a:rPr>
              <a:t>앱 시작 </a:t>
            </a:r>
            <a:r>
              <a:rPr kumimoji="1" lang="en-US" altLang="ko-KR" sz="600" b="1" dirty="0">
                <a:solidFill>
                  <a:schemeClr val="accent2"/>
                </a:solidFill>
              </a:rPr>
              <a:t>5</a:t>
            </a:r>
            <a:r>
              <a:rPr kumimoji="1" lang="ko-KR" altLang="en-US" sz="600" b="1" dirty="0">
                <a:solidFill>
                  <a:schemeClr val="accent2"/>
                </a:solidFill>
              </a:rPr>
              <a:t>초 뒤</a:t>
            </a:r>
            <a:endParaRPr kumimoji="1" lang="en-US" altLang="ko-KR" sz="600" b="1" dirty="0">
              <a:solidFill>
                <a:schemeClr val="accent2"/>
              </a:solidFill>
            </a:endParaRPr>
          </a:p>
          <a:p>
            <a:r>
              <a:rPr kumimoji="1" lang="en-US" altLang="ko-KR" sz="600" b="1" dirty="0">
                <a:solidFill>
                  <a:schemeClr val="accent2"/>
                </a:solidFill>
              </a:rPr>
              <a:t>5</a:t>
            </a:r>
            <a:r>
              <a:rPr kumimoji="1" lang="ko-KR" altLang="en-US" sz="600" b="1" dirty="0">
                <a:solidFill>
                  <a:schemeClr val="accent2"/>
                </a:solidFill>
              </a:rPr>
              <a:t>분 마다 배치실행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AF85C3DF-E7CF-564A-CD0F-4253AF4283B7}"/>
              </a:ext>
            </a:extLst>
          </p:cNvPr>
          <p:cNvSpPr txBox="1"/>
          <p:nvPr/>
        </p:nvSpPr>
        <p:spPr>
          <a:xfrm>
            <a:off x="16541892" y="1687824"/>
            <a:ext cx="10727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UPDATE ad_stats_hourly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4710C25-5832-00DB-BB57-BD6C26F32B60}"/>
              </a:ext>
            </a:extLst>
          </p:cNvPr>
          <p:cNvSpPr txBox="1"/>
          <p:nvPr/>
        </p:nvSpPr>
        <p:spPr>
          <a:xfrm>
            <a:off x="14373566" y="2989286"/>
            <a:ext cx="53251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DB CRUD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0788781D-3D3A-4A32-E3F2-25CE6B1E95F7}"/>
              </a:ext>
            </a:extLst>
          </p:cNvPr>
          <p:cNvSpPr txBox="1"/>
          <p:nvPr/>
        </p:nvSpPr>
        <p:spPr>
          <a:xfrm>
            <a:off x="14235539" y="3198034"/>
            <a:ext cx="79861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b="1" dirty="0">
                <a:solidFill>
                  <a:schemeClr val="accent2"/>
                </a:solidFill>
              </a:rPr>
              <a:t>INSERT ad_event</a:t>
            </a:r>
            <a:endParaRPr kumimoji="1" lang="ko-KR" altLang="en-US" sz="600" b="1" dirty="0">
              <a:solidFill>
                <a:schemeClr val="accent2"/>
              </a:solidFill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6C0A2AC4-9DAD-35F7-E7C1-905195C2D20A}"/>
              </a:ext>
            </a:extLst>
          </p:cNvPr>
          <p:cNvSpPr txBox="1"/>
          <p:nvPr/>
        </p:nvSpPr>
        <p:spPr>
          <a:xfrm>
            <a:off x="-3913251" y="-2900941"/>
            <a:ext cx="2770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버전</a:t>
            </a:r>
            <a:r>
              <a:rPr kumimoji="1" lang="en-US" altLang="ko-KR" dirty="0"/>
              <a:t>4:</a:t>
            </a:r>
          </a:p>
          <a:p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ad-dashboard-</a:t>
            </a:r>
            <a:r>
              <a:rPr kumimoji="1" lang="en-US" altLang="ko-KR" dirty="0" err="1"/>
              <a:t>api</a:t>
            </a:r>
            <a:r>
              <a:rPr kumimoji="1" lang="en-US" altLang="ko-KR" dirty="0"/>
              <a:t> </a:t>
            </a:r>
            <a:r>
              <a:rPr kumimoji="1" lang="ko-KR" altLang="en-US" dirty="0"/>
              <a:t>추가</a:t>
            </a:r>
            <a:endParaRPr kumimoji="1" lang="en-US" altLang="ko-KR" dirty="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36D3AB7D-C83F-2F4F-D59F-1BA11442128A}"/>
              </a:ext>
            </a:extLst>
          </p:cNvPr>
          <p:cNvCxnSpPr>
            <a:cxnSpLocks/>
          </p:cNvCxnSpPr>
          <p:nvPr/>
        </p:nvCxnSpPr>
        <p:spPr>
          <a:xfrm flipV="1">
            <a:off x="11857754" y="3183114"/>
            <a:ext cx="5633256" cy="3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B113EC7F-380D-19AD-DC80-8B0C9EF00667}"/>
              </a:ext>
            </a:extLst>
          </p:cNvPr>
          <p:cNvGraphicFramePr>
            <a:graphicFrameLocks noGrp="1"/>
          </p:cNvGraphicFramePr>
          <p:nvPr/>
        </p:nvGraphicFramePr>
        <p:xfrm>
          <a:off x="17581634" y="5234915"/>
          <a:ext cx="1457960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6040337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51222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489118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203276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620463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818293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29149594"/>
                    </a:ext>
                  </a:extLst>
                </a:gridCol>
              </a:tblGrid>
              <a:tr h="1790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706128"/>
                  </a:ext>
                </a:extLst>
              </a:tr>
              <a:tr h="1790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470320"/>
                  </a:ext>
                </a:extLst>
              </a:tr>
            </a:tbl>
          </a:graphicData>
        </a:graphic>
      </p:graphicFrame>
      <p:sp>
        <p:nvSpPr>
          <p:cNvPr id="95" name="TextBox 94">
            <a:extLst>
              <a:ext uri="{FF2B5EF4-FFF2-40B4-BE49-F238E27FC236}">
                <a16:creationId xmlns:a16="http://schemas.microsoft.com/office/drawing/2014/main" id="{61F0593E-A4AE-91AB-4B8F-87639EE8BCA4}"/>
              </a:ext>
            </a:extLst>
          </p:cNvPr>
          <p:cNvSpPr txBox="1"/>
          <p:nvPr/>
        </p:nvSpPr>
        <p:spPr>
          <a:xfrm>
            <a:off x="17542176" y="4979976"/>
            <a:ext cx="16065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 err="1"/>
              <a:t>placement_stats_hourly</a:t>
            </a:r>
            <a:endParaRPr kumimoji="1" lang="ko-KR" altLang="en-US" sz="1000" b="1" dirty="0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0228A400-9A1D-6427-4E62-8600238AB023}"/>
              </a:ext>
            </a:extLst>
          </p:cNvPr>
          <p:cNvSpPr/>
          <p:nvPr/>
        </p:nvSpPr>
        <p:spPr>
          <a:xfrm>
            <a:off x="19864636" y="-1169091"/>
            <a:ext cx="2826118" cy="93696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ad-db-migration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B33D272E-3C6E-2C3D-326F-0BBACDB5A07A}"/>
              </a:ext>
            </a:extLst>
          </p:cNvPr>
          <p:cNvSpPr/>
          <p:nvPr/>
        </p:nvSpPr>
        <p:spPr>
          <a:xfrm>
            <a:off x="20466122" y="7474405"/>
            <a:ext cx="1571946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DbMigrationApplication</a:t>
            </a:r>
            <a:endParaRPr kumimoji="1" lang="ko-KR" altLang="en-US" sz="1000" dirty="0"/>
          </a:p>
        </p:txBody>
      </p:sp>
      <p:cxnSp>
        <p:nvCxnSpPr>
          <p:cNvPr id="107" name="꺾인 연결선[E] 106">
            <a:extLst>
              <a:ext uri="{FF2B5EF4-FFF2-40B4-BE49-F238E27FC236}">
                <a16:creationId xmlns:a16="http://schemas.microsoft.com/office/drawing/2014/main" id="{6BE1E2AC-9DFE-CCDB-7B30-C78D69895B33}"/>
              </a:ext>
            </a:extLst>
          </p:cNvPr>
          <p:cNvCxnSpPr>
            <a:cxnSpLocks/>
            <a:stCxn id="69" idx="2"/>
            <a:endCxn id="105" idx="0"/>
          </p:cNvCxnSpPr>
          <p:nvPr/>
        </p:nvCxnSpPr>
        <p:spPr>
          <a:xfrm rot="16200000" flipH="1">
            <a:off x="13913313" y="-8533474"/>
            <a:ext cx="1036421" cy="1369234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타원 116">
            <a:extLst>
              <a:ext uri="{FF2B5EF4-FFF2-40B4-BE49-F238E27FC236}">
                <a16:creationId xmlns:a16="http://schemas.microsoft.com/office/drawing/2014/main" id="{C9B465F0-0CAC-4438-F678-7404F520DAAF}"/>
              </a:ext>
            </a:extLst>
          </p:cNvPr>
          <p:cNvSpPr/>
          <p:nvPr/>
        </p:nvSpPr>
        <p:spPr>
          <a:xfrm>
            <a:off x="-2810929" y="7483015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564A50C-B271-48BD-54AE-6A55B22E2E89}"/>
              </a:ext>
            </a:extLst>
          </p:cNvPr>
          <p:cNvSpPr txBox="1"/>
          <p:nvPr/>
        </p:nvSpPr>
        <p:spPr>
          <a:xfrm>
            <a:off x="-3610800" y="7743604"/>
            <a:ext cx="20842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9.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DB </a:t>
            </a:r>
            <a:r>
              <a:rPr kumimoji="1" lang="ko-KR" altLang="en-US" sz="1000" dirty="0">
                <a:solidFill>
                  <a:srgbClr val="0070C0"/>
                </a:solidFill>
              </a:rPr>
              <a:t>스키마 </a:t>
            </a:r>
            <a:r>
              <a:rPr kumimoji="1" lang="ko-KR" altLang="en-US" sz="1000" dirty="0" err="1">
                <a:solidFill>
                  <a:srgbClr val="0070C0"/>
                </a:solidFill>
              </a:rPr>
              <a:t>수정시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Flyway</a:t>
            </a:r>
            <a:r>
              <a:rPr kumimoji="1" lang="ko-KR" altLang="en-US" sz="1000" dirty="0">
                <a:solidFill>
                  <a:srgbClr val="0070C0"/>
                </a:solidFill>
              </a:rPr>
              <a:t> 실행</a:t>
            </a:r>
          </a:p>
        </p:txBody>
      </p: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57F73F01-10B5-FE6A-494A-C50F6FA9632D}"/>
              </a:ext>
            </a:extLst>
          </p:cNvPr>
          <p:cNvCxnSpPr>
            <a:cxnSpLocks/>
            <a:stCxn id="117" idx="6"/>
            <a:endCxn id="106" idx="1"/>
          </p:cNvCxnSpPr>
          <p:nvPr/>
        </p:nvCxnSpPr>
        <p:spPr>
          <a:xfrm>
            <a:off x="-2577013" y="7610606"/>
            <a:ext cx="23043135" cy="4214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7F5B6519-0907-55FC-FBAA-6FCE6F0C93B6}"/>
              </a:ext>
            </a:extLst>
          </p:cNvPr>
          <p:cNvSpPr/>
          <p:nvPr/>
        </p:nvSpPr>
        <p:spPr>
          <a:xfrm>
            <a:off x="20523166" y="3654330"/>
            <a:ext cx="1469228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spring-boot-starter-</a:t>
            </a:r>
            <a:r>
              <a:rPr kumimoji="1" lang="en-US" altLang="ko-KR" sz="800" dirty="0" err="1">
                <a:solidFill>
                  <a:sysClr val="windowText" lastClr="000000"/>
                </a:solidFill>
              </a:rPr>
              <a:t>jdbc</a:t>
            </a:r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65FFB540-CD13-752E-3C80-A5299ED5619F}"/>
              </a:ext>
            </a:extLst>
          </p:cNvPr>
          <p:cNvSpPr/>
          <p:nvPr/>
        </p:nvSpPr>
        <p:spPr>
          <a:xfrm>
            <a:off x="20521945" y="6619128"/>
            <a:ext cx="1469228" cy="373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Flyway-</a:t>
            </a:r>
            <a:r>
              <a:rPr kumimoji="1" lang="en-US" altLang="ko-KR" sz="800" dirty="0" err="1">
                <a:solidFill>
                  <a:sysClr val="windowText" lastClr="000000"/>
                </a:solidFill>
              </a:rPr>
              <a:t>mysql</a:t>
            </a:r>
            <a:endParaRPr kumimoji="1" lang="en-US" altLang="ko-KR" sz="800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800" dirty="0">
                <a:solidFill>
                  <a:sysClr val="windowText" lastClr="000000"/>
                </a:solidFill>
              </a:rPr>
              <a:t>(dependency)</a:t>
            </a:r>
            <a:endParaRPr kumimoji="1" lang="ko-KR" alt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4F2F651A-A642-1E84-7AF1-28C142C68E3D}"/>
              </a:ext>
            </a:extLst>
          </p:cNvPr>
          <p:cNvCxnSpPr>
            <a:cxnSpLocks/>
            <a:stCxn id="106" idx="0"/>
            <a:endCxn id="128" idx="2"/>
          </p:cNvCxnSpPr>
          <p:nvPr/>
        </p:nvCxnSpPr>
        <p:spPr>
          <a:xfrm flipV="1">
            <a:off x="21252095" y="6992129"/>
            <a:ext cx="4464" cy="48227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647BFD0E-16F4-1CE6-438C-14C332652A5C}"/>
              </a:ext>
            </a:extLst>
          </p:cNvPr>
          <p:cNvCxnSpPr>
            <a:cxnSpLocks/>
            <a:stCxn id="125" idx="1"/>
          </p:cNvCxnSpPr>
          <p:nvPr/>
        </p:nvCxnSpPr>
        <p:spPr>
          <a:xfrm flipH="1">
            <a:off x="19222947" y="3840831"/>
            <a:ext cx="1300219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한쪽 모서리가 잘린 사각형 164">
            <a:extLst>
              <a:ext uri="{FF2B5EF4-FFF2-40B4-BE49-F238E27FC236}">
                <a16:creationId xmlns:a16="http://schemas.microsoft.com/office/drawing/2014/main" id="{4274EBB6-E63E-4DEA-022E-AC540D52BC9B}"/>
              </a:ext>
            </a:extLst>
          </p:cNvPr>
          <p:cNvSpPr/>
          <p:nvPr/>
        </p:nvSpPr>
        <p:spPr>
          <a:xfrm>
            <a:off x="20057807" y="4502692"/>
            <a:ext cx="2389205" cy="1628578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db/migration folder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1" name="한쪽 모서리가 잘린 사각형 160">
            <a:extLst>
              <a:ext uri="{FF2B5EF4-FFF2-40B4-BE49-F238E27FC236}">
                <a16:creationId xmlns:a16="http://schemas.microsoft.com/office/drawing/2014/main" id="{D40A9424-0545-592C-7DE4-044E2896A680}"/>
              </a:ext>
            </a:extLst>
          </p:cNvPr>
          <p:cNvSpPr/>
          <p:nvPr/>
        </p:nvSpPr>
        <p:spPr>
          <a:xfrm>
            <a:off x="20261583" y="4929476"/>
            <a:ext cx="1972637" cy="421729"/>
          </a:xfrm>
          <a:prstGeom prst="snip1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V1__init.sql</a:t>
            </a:r>
            <a:endParaRPr kumimoji="1" lang="ko-KR" altLang="en-US" sz="1000" dirty="0"/>
          </a:p>
        </p:txBody>
      </p:sp>
      <p:sp>
        <p:nvSpPr>
          <p:cNvPr id="163" name="한쪽 모서리가 잘린 사각형 162">
            <a:extLst>
              <a:ext uri="{FF2B5EF4-FFF2-40B4-BE49-F238E27FC236}">
                <a16:creationId xmlns:a16="http://schemas.microsoft.com/office/drawing/2014/main" id="{AE1C3E15-7266-7C1A-4D41-1C284C7A3FA0}"/>
              </a:ext>
            </a:extLst>
          </p:cNvPr>
          <p:cNvSpPr/>
          <p:nvPr/>
        </p:nvSpPr>
        <p:spPr>
          <a:xfrm>
            <a:off x="20271857" y="5519222"/>
            <a:ext cx="1972637" cy="421729"/>
          </a:xfrm>
          <a:prstGeom prst="snip1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V2__add_placement_stats.sql</a:t>
            </a:r>
            <a:endParaRPr kumimoji="1" lang="ko-KR" altLang="en-US" sz="1000" dirty="0"/>
          </a:p>
        </p:txBody>
      </p: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CA78B897-9F77-E831-8637-D3748D42FDC1}"/>
              </a:ext>
            </a:extLst>
          </p:cNvPr>
          <p:cNvCxnSpPr>
            <a:cxnSpLocks/>
            <a:stCxn id="128" idx="0"/>
            <a:endCxn id="165" idx="1"/>
          </p:cNvCxnSpPr>
          <p:nvPr/>
        </p:nvCxnSpPr>
        <p:spPr>
          <a:xfrm flipH="1" flipV="1">
            <a:off x="21252410" y="6131270"/>
            <a:ext cx="4149" cy="48785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43B09F2C-D04A-08FC-AF8A-FED7611F801D}"/>
              </a:ext>
            </a:extLst>
          </p:cNvPr>
          <p:cNvCxnSpPr>
            <a:cxnSpLocks/>
            <a:stCxn id="165" idx="3"/>
            <a:endCxn id="125" idx="2"/>
          </p:cNvCxnSpPr>
          <p:nvPr/>
        </p:nvCxnSpPr>
        <p:spPr>
          <a:xfrm flipV="1">
            <a:off x="21252410" y="4027331"/>
            <a:ext cx="5370" cy="47536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타원 179">
            <a:extLst>
              <a:ext uri="{FF2B5EF4-FFF2-40B4-BE49-F238E27FC236}">
                <a16:creationId xmlns:a16="http://schemas.microsoft.com/office/drawing/2014/main" id="{360CDCCD-B15E-ADC3-074C-3CBE50EE4F02}"/>
              </a:ext>
            </a:extLst>
          </p:cNvPr>
          <p:cNvSpPr/>
          <p:nvPr/>
        </p:nvSpPr>
        <p:spPr>
          <a:xfrm>
            <a:off x="-2816877" y="8578903"/>
            <a:ext cx="233916" cy="25518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00C91A3-8B87-10A4-D4C1-16E2F3C4E0C8}"/>
              </a:ext>
            </a:extLst>
          </p:cNvPr>
          <p:cNvSpPr txBox="1"/>
          <p:nvPr/>
        </p:nvSpPr>
        <p:spPr>
          <a:xfrm>
            <a:off x="-4004205" y="8839492"/>
            <a:ext cx="25827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70C0"/>
                </a:solidFill>
              </a:rPr>
              <a:t>10.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</a:rPr>
              <a:t>DB</a:t>
            </a:r>
            <a:r>
              <a:rPr kumimoji="1" lang="ko-KR" altLang="en-US" sz="1000" dirty="0">
                <a:solidFill>
                  <a:srgbClr val="0070C0"/>
                </a:solidFill>
              </a:rPr>
              <a:t> 조회 클라이언트 툴</a:t>
            </a:r>
            <a:r>
              <a:rPr kumimoji="1" lang="en-US" altLang="ko-KR" sz="1000" dirty="0">
                <a:solidFill>
                  <a:srgbClr val="0070C0"/>
                </a:solidFill>
              </a:rPr>
              <a:t>:</a:t>
            </a:r>
            <a:r>
              <a:rPr kumimoji="1" lang="ko-KR" altLang="en-US" sz="1000" dirty="0">
                <a:solidFill>
                  <a:srgbClr val="0070C0"/>
                </a:solidFill>
              </a:rPr>
              <a:t> </a:t>
            </a:r>
            <a:r>
              <a:rPr kumimoji="1" lang="en-US" altLang="ko-KR" sz="1000" dirty="0" err="1">
                <a:solidFill>
                  <a:srgbClr val="0070C0"/>
                </a:solidFill>
              </a:rPr>
              <a:t>DBeaver</a:t>
            </a:r>
            <a:r>
              <a:rPr kumimoji="1" lang="en-US" altLang="ko-KR" sz="1000" dirty="0">
                <a:solidFill>
                  <a:srgbClr val="0070C0"/>
                </a:solidFill>
              </a:rPr>
              <a:t> </a:t>
            </a:r>
            <a:r>
              <a:rPr kumimoji="1" lang="ko-KR" altLang="en-US" sz="1000" dirty="0">
                <a:solidFill>
                  <a:srgbClr val="0070C0"/>
                </a:solidFill>
              </a:rPr>
              <a:t>사용</a:t>
            </a:r>
          </a:p>
        </p:txBody>
      </p:sp>
      <p:sp>
        <p:nvSpPr>
          <p:cNvPr id="183" name="번개[L] 182">
            <a:extLst>
              <a:ext uri="{FF2B5EF4-FFF2-40B4-BE49-F238E27FC236}">
                <a16:creationId xmlns:a16="http://schemas.microsoft.com/office/drawing/2014/main" id="{43E8E443-9987-D015-70F2-DA4CE14E3EDD}"/>
              </a:ext>
            </a:extLst>
          </p:cNvPr>
          <p:cNvSpPr/>
          <p:nvPr/>
        </p:nvSpPr>
        <p:spPr>
          <a:xfrm>
            <a:off x="21573683" y="7136073"/>
            <a:ext cx="442543" cy="390649"/>
          </a:xfrm>
          <a:prstGeom prst="lightningBol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49B0327F-53D1-2476-43D4-4CA8F59AE85B}"/>
              </a:ext>
            </a:extLst>
          </p:cNvPr>
          <p:cNvSpPr/>
          <p:nvPr/>
        </p:nvSpPr>
        <p:spPr>
          <a:xfrm>
            <a:off x="17701090" y="8505371"/>
            <a:ext cx="1296892" cy="3566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 err="1"/>
              <a:t>DBeaver</a:t>
            </a:r>
            <a:r>
              <a:rPr kumimoji="1" lang="en-US" altLang="ko-KR" sz="1000" dirty="0"/>
              <a:t> Community</a:t>
            </a:r>
            <a:endParaRPr kumimoji="1" lang="ko-KR" altLang="en-US" sz="1000" dirty="0"/>
          </a:p>
        </p:txBody>
      </p: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A879B954-EDF1-3860-E774-29F04DF8FBF4}"/>
              </a:ext>
            </a:extLst>
          </p:cNvPr>
          <p:cNvCxnSpPr>
            <a:cxnSpLocks/>
            <a:stCxn id="184" idx="0"/>
            <a:endCxn id="170" idx="3"/>
          </p:cNvCxnSpPr>
          <p:nvPr/>
        </p:nvCxnSpPr>
        <p:spPr>
          <a:xfrm flipV="1">
            <a:off x="18349536" y="6578513"/>
            <a:ext cx="0" cy="192685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A0CF6D0E-2511-0CB7-3E09-00D3FC1F81B1}"/>
              </a:ext>
            </a:extLst>
          </p:cNvPr>
          <p:cNvCxnSpPr>
            <a:cxnSpLocks/>
            <a:stCxn id="180" idx="6"/>
            <a:endCxn id="184" idx="1"/>
          </p:cNvCxnSpPr>
          <p:nvPr/>
        </p:nvCxnSpPr>
        <p:spPr>
          <a:xfrm flipV="1">
            <a:off x="-2582961" y="8683712"/>
            <a:ext cx="20284051" cy="2278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F483A3-6350-24CB-BF9A-C3606D3EE991}"/>
              </a:ext>
            </a:extLst>
          </p:cNvPr>
          <p:cNvSpPr/>
          <p:nvPr/>
        </p:nvSpPr>
        <p:spPr>
          <a:xfrm>
            <a:off x="23090319" y="-1161834"/>
            <a:ext cx="2826118" cy="93696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dirty="0">
                <a:solidFill>
                  <a:sysClr val="windowText" lastClr="000000"/>
                </a:solidFill>
              </a:rPr>
              <a:t>ad-dashboard-</a:t>
            </a:r>
            <a:r>
              <a:rPr kumimoji="1" lang="en-US" altLang="ko-KR" sz="1000" dirty="0" err="1">
                <a:solidFill>
                  <a:sysClr val="windowText" lastClr="000000"/>
                </a:solidFill>
              </a:rPr>
              <a:t>api</a:t>
            </a:r>
            <a:endParaRPr kumimoji="1"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82" name="모서리가 둥근 사각형 설명선[R] 181">
            <a:extLst>
              <a:ext uri="{FF2B5EF4-FFF2-40B4-BE49-F238E27FC236}">
                <a16:creationId xmlns:a16="http://schemas.microsoft.com/office/drawing/2014/main" id="{5A202B39-7821-CD00-ADB6-733AD9E563A3}"/>
              </a:ext>
            </a:extLst>
          </p:cNvPr>
          <p:cNvSpPr/>
          <p:nvPr/>
        </p:nvSpPr>
        <p:spPr>
          <a:xfrm>
            <a:off x="22085111" y="6907874"/>
            <a:ext cx="3140093" cy="597115"/>
          </a:xfrm>
          <a:prstGeom prst="wedgeRoundRectCallout">
            <a:avLst>
              <a:gd name="adj1" fmla="val -57472"/>
              <a:gd name="adj2" fmla="val 21056"/>
              <a:gd name="adj3" fmla="val 16667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ad-db-migration </a:t>
            </a:r>
            <a:r>
              <a:rPr kumimoji="1" lang="ko-KR" altLang="en-US" sz="600" dirty="0">
                <a:solidFill>
                  <a:srgbClr val="FF0000"/>
                </a:solidFill>
              </a:rPr>
              <a:t>장애대응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간단한 추가</a:t>
            </a:r>
            <a:r>
              <a:rPr kumimoji="1" lang="en-US" altLang="ko-KR" sz="600" dirty="0">
                <a:solidFill>
                  <a:srgbClr val="FF0000"/>
                </a:solidFill>
              </a:rPr>
              <a:t>/</a:t>
            </a:r>
            <a:r>
              <a:rPr kumimoji="1" lang="ko-KR" altLang="en-US" sz="600" dirty="0">
                <a:solidFill>
                  <a:srgbClr val="FF0000"/>
                </a:solidFill>
              </a:rPr>
              <a:t>변경은 </a:t>
            </a:r>
            <a:r>
              <a:rPr kumimoji="1" lang="en-US" altLang="ko-KR" sz="600" dirty="0">
                <a:solidFill>
                  <a:srgbClr val="FF0000"/>
                </a:solidFill>
              </a:rPr>
              <a:t>Flyway</a:t>
            </a:r>
            <a:r>
              <a:rPr kumimoji="1" lang="ko-KR" altLang="en-US" sz="600" dirty="0">
                <a:solidFill>
                  <a:srgbClr val="FF0000"/>
                </a:solidFill>
              </a:rPr>
              <a:t> 나 </a:t>
            </a:r>
            <a:r>
              <a:rPr kumimoji="1" lang="en-US" altLang="ko-KR" sz="600" dirty="0">
                <a:solidFill>
                  <a:srgbClr val="FF0000"/>
                </a:solidFill>
              </a:rPr>
              <a:t>MySQL ALGORITHM=INSTANT </a:t>
            </a:r>
            <a:r>
              <a:rPr kumimoji="1" lang="ko-KR" altLang="en-US" sz="600" dirty="0">
                <a:solidFill>
                  <a:srgbClr val="FF0000"/>
                </a:solidFill>
              </a:rPr>
              <a:t>로 커버 가능하지만 나중에 큰 테이블의 구조를 바꿀 때는 잠금 위험이 있음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-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gh-ost</a:t>
            </a:r>
            <a:r>
              <a:rPr kumimoji="1" lang="en-US" altLang="ko-KR" sz="600" dirty="0">
                <a:solidFill>
                  <a:srgbClr val="FF0000"/>
                </a:solidFill>
              </a:rPr>
              <a:t> </a:t>
            </a:r>
            <a:r>
              <a:rPr kumimoji="1" lang="ko-KR" altLang="en-US" sz="600" dirty="0">
                <a:solidFill>
                  <a:srgbClr val="FF0000"/>
                </a:solidFill>
              </a:rPr>
              <a:t>나 </a:t>
            </a:r>
            <a:r>
              <a:rPr kumimoji="1" lang="en-US" altLang="ko-KR" sz="600" dirty="0" err="1">
                <a:solidFill>
                  <a:srgbClr val="FF0000"/>
                </a:solidFill>
              </a:rPr>
              <a:t>Percona</a:t>
            </a:r>
            <a:r>
              <a:rPr kumimoji="1" lang="ko-KR" altLang="en-US" sz="600" dirty="0" err="1">
                <a:solidFill>
                  <a:srgbClr val="FF0000"/>
                </a:solidFill>
              </a:rPr>
              <a:t>를</a:t>
            </a:r>
            <a:r>
              <a:rPr kumimoji="1" lang="ko-KR" altLang="en-US" sz="600" dirty="0">
                <a:solidFill>
                  <a:srgbClr val="FF0000"/>
                </a:solidFill>
              </a:rPr>
              <a:t> </a:t>
            </a:r>
            <a:r>
              <a:rPr kumimoji="1" lang="en-US" altLang="ko-KR" sz="600" dirty="0">
                <a:solidFill>
                  <a:srgbClr val="FF0000"/>
                </a:solidFill>
              </a:rPr>
              <a:t>Flyway </a:t>
            </a:r>
            <a:r>
              <a:rPr kumimoji="1" lang="ko-KR" altLang="en-US" sz="600" dirty="0">
                <a:solidFill>
                  <a:srgbClr val="FF0000"/>
                </a:solidFill>
              </a:rPr>
              <a:t>밖에서 사용하고</a:t>
            </a:r>
            <a:r>
              <a:rPr kumimoji="1" lang="en-US" altLang="ko-KR" sz="600" dirty="0">
                <a:solidFill>
                  <a:srgbClr val="FF0000"/>
                </a:solidFill>
              </a:rPr>
              <a:t>,</a:t>
            </a:r>
            <a:r>
              <a:rPr kumimoji="1" lang="ko-KR" altLang="en-US" sz="600" dirty="0">
                <a:solidFill>
                  <a:srgbClr val="FF0000"/>
                </a:solidFill>
              </a:rPr>
              <a:t> 레코드들은 한번에 채우지 말고</a:t>
            </a:r>
            <a:endParaRPr kumimoji="1" lang="en-US" altLang="ko-KR" sz="6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600" dirty="0">
                <a:solidFill>
                  <a:srgbClr val="FF0000"/>
                </a:solidFill>
              </a:rPr>
              <a:t>PK</a:t>
            </a:r>
            <a:r>
              <a:rPr kumimoji="1" lang="ko-KR" altLang="en-US" sz="600" dirty="0">
                <a:solidFill>
                  <a:srgbClr val="FF0000"/>
                </a:solidFill>
              </a:rPr>
              <a:t> 범위로 나눠서 조금씩 커밋하는 배치로 한다</a:t>
            </a:r>
            <a:r>
              <a:rPr kumimoji="1" lang="en-US" altLang="ko-KR" sz="6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0356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032ED-B67A-7DDA-4391-38F612EAB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2AE06-F2FF-B0E4-2054-3586B355B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76074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2609</TotalTime>
  <Words>2192</Words>
  <Application>Microsoft Macintosh PowerPoint</Application>
  <PresentationFormat>와이드스크린</PresentationFormat>
  <Paragraphs>476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JUNHO JEONG</dc:creator>
  <cp:lastModifiedBy>JUNHO JEONG</cp:lastModifiedBy>
  <cp:revision>12</cp:revision>
  <dcterms:created xsi:type="dcterms:W3CDTF">2026-10-05T06:21:11Z</dcterms:created>
  <dcterms:modified xsi:type="dcterms:W3CDTF">2026-10-12T05:14:06Z</dcterms:modified>
</cp:coreProperties>
</file>