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0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24"/>
    <p:restoredTop sz="94604"/>
  </p:normalViewPr>
  <p:slideViewPr>
    <p:cSldViewPr snapToGrid="0">
      <p:cViewPr>
        <p:scale>
          <a:sx n="171" d="100"/>
          <a:sy n="171" d="100"/>
        </p:scale>
        <p:origin x="272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DA11D8-9FBF-BE45-8A5C-83720B617A33}" type="datetimeFigureOut">
              <a:rPr kumimoji="1" lang="ko-KR" altLang="en-US" smtClean="0"/>
              <a:t>2026. 10. 6.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12E87C-EAF6-AF46-88AE-5EAB464FB61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70233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EBFAA-990A-1A34-7BAC-45627785F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3DE641-E857-E19B-E818-C4DFAFE11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D98FF0-CE26-B19E-CA5C-66D11109B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28A41C-7160-08C0-E373-A8936573C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12E87C-EAF6-AF46-88AE-5EAB464FB610}" type="slidenum">
              <a:rPr kumimoji="1" lang="ko-KR" altLang="en-US" smtClean="0"/>
              <a:t>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884186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EA4FF-6F54-74D2-F57B-C51F98C3D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C5202CD-7131-125F-FB6B-6A0658CD93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19579B-F2C6-3BA1-02C4-C482C1E9B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4F2FA2-D147-B5F3-4B62-BB6692CC1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D7624F-919F-3437-BDCB-78EA7D4D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94960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3CE2B9-DEF1-DE19-33B4-DAB9123FB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BCF97-A3C4-7827-6D8A-855B53B854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998C97-EA0C-3F0E-BB9D-29862B8C2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FCB9FB-40B1-3359-A6AF-0E5033A53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0FDF0E-14D7-CEC1-6FEB-898EEF344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27303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174959-23CD-3F59-7351-C60FE667A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8F275E-D14B-0F40-20E0-76090974C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39A50F-6874-0BC0-86FD-396EA6823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51AAF28-95C3-8F87-1D6B-99D8E7A4B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529926-C1E0-FC93-CB92-5B8DB61F9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17496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75495E-A641-2023-7899-F4322F559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44A2F3-416E-A4CA-E960-FA8826F55D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B53E08-C80D-C16C-4F0E-EF21CE9751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6905E8-70C6-A8B9-0018-EE6A7383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9FA6333-5BB9-41A2-1312-E82756309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0EA8071-070B-D957-791B-F507729E4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1946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27B045-C1D5-CCFC-D7FE-6DF529D42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15CA93-5550-8752-85EA-2641D05480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6ADBAEC-8726-50B2-7724-00530F6F09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CB7A2E3-8347-5770-A5AD-B80EA9FB62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8B826D5-58E8-A994-256C-94064B8C4F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386C18A-B4B1-C513-FD1F-BB2438D8C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BA221F6-7DBA-96AA-CA3D-4925CDBED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704120-15B5-D9C4-BBA8-1FD246CA7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351243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06EB2B-BA6F-B39B-BC1F-E5A0FE480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A40521C-9D2C-8559-0577-74173C18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CC1C21F-01D5-F4B1-66D8-1C592691F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DB41971-F0CF-55B1-9894-3F1D08228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7809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1E24CF1-2367-388E-1D1A-73543F03A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205CEEF-3DB1-3DFD-5B46-062E046F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D8326B-B2BC-C739-8C2C-E93CA4F06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07075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FF6803-D87C-988D-F672-41BEE73FB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F33964-669E-F95A-0CC6-981185D303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5486047-5FF2-1ED9-4895-8E3FC2F3A9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517F9C0-E4F7-FB98-8E50-1C2AB173A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998565-7E7C-7822-D825-4EFB5FA7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F5F822D-0068-58E9-FE73-D6F39A571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49503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53565E-8010-A124-8F06-1020A94B5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3720711-8A96-30E8-9550-605C0EA042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9B6D178-4B58-2961-E31A-160A9083C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5D2527-0777-AA11-D411-FCDA7D96D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39D660-44D8-A8DB-364D-3F3F6DDA1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DAA84F-3636-A4F1-826F-351FD12AE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33493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B6FB15-6363-C1B1-0EEE-30F12D6E3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16F1C7F-3F63-9D54-411C-C731F9634A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4192CC-89F4-94F6-6848-BE9D8257C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21079B-DBE9-91A6-423D-89987EF4C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E6503C-C5E6-8329-E88E-D6911F06A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34804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6DF40D-B3F7-9770-08A5-9675FD80E1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AC0941-4E78-56AE-5EC5-12200FB05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5E69A2-7170-F5AD-EE18-A2C702D48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1E34A2-05CE-CA64-DE3C-8E19BBDD3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B47011-5C3E-FB3C-91EF-E632983B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260006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1991E4-CE26-5548-514A-D2EF8B88C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5C12C-C004-8DB5-E472-7D8AB9437B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89FD62-2BC9-83D5-D62B-4383403B3C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530043-4A54-4B4D-A28D-5D80F74C5AE8}" type="datetimeFigureOut">
              <a:rPr kumimoji="1" lang="ko-KR" altLang="en-US" smtClean="0"/>
              <a:t>2026. 10. 5.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654AB2-0EF8-9612-4935-1503B96245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4DF44DF-7864-1381-5305-0A90252758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83D24-C834-EC41-A9A3-6D1CA581396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11081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22D5C-C64A-B400-553A-DB39B9F33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02FA2F0-C878-2C37-4ED1-DD3198747585}"/>
              </a:ext>
            </a:extLst>
          </p:cNvPr>
          <p:cNvSpPr/>
          <p:nvPr/>
        </p:nvSpPr>
        <p:spPr>
          <a:xfrm>
            <a:off x="1607065" y="7168"/>
            <a:ext cx="2253543" cy="682507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3</a:t>
            </a:r>
            <a:r>
              <a:rPr kumimoji="1" lang="en-US" altLang="ko-KR" sz="1000" baseline="30000" dirty="0">
                <a:solidFill>
                  <a:sysClr val="windowText" lastClr="000000"/>
                </a:solidFill>
              </a:rPr>
              <a:t>rd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party App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074865E-80E5-E54A-58A5-88F7C29116F6}"/>
              </a:ext>
            </a:extLst>
          </p:cNvPr>
          <p:cNvSpPr/>
          <p:nvPr/>
        </p:nvSpPr>
        <p:spPr>
          <a:xfrm>
            <a:off x="1852442" y="1130963"/>
            <a:ext cx="1743472" cy="56427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ko-KR" altLang="en-US" sz="1000" dirty="0">
                <a:solidFill>
                  <a:sysClr val="windowText" lastClr="000000"/>
                </a:solidFill>
              </a:rPr>
              <a:t>광고화면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22687AF-2272-8B78-048B-6889EDEEB6DD}"/>
              </a:ext>
            </a:extLst>
          </p:cNvPr>
          <p:cNvSpPr/>
          <p:nvPr/>
        </p:nvSpPr>
        <p:spPr>
          <a:xfrm>
            <a:off x="2144273" y="1359885"/>
            <a:ext cx="1198978" cy="39133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adwhale-sdk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F023171-2D14-24BD-4ADC-90CDD32FBC2D}"/>
              </a:ext>
            </a:extLst>
          </p:cNvPr>
          <p:cNvSpPr/>
          <p:nvPr/>
        </p:nvSpPr>
        <p:spPr>
          <a:xfrm>
            <a:off x="2366007" y="2872171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광고요청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467D5F-2BD2-6DE9-5F5E-328EA13EE4AD}"/>
              </a:ext>
            </a:extLst>
          </p:cNvPr>
          <p:cNvSpPr/>
          <p:nvPr/>
        </p:nvSpPr>
        <p:spPr>
          <a:xfrm>
            <a:off x="2357897" y="3755998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광고응답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097BF48-3EAD-50E3-7126-6474220D3A7C}"/>
              </a:ext>
            </a:extLst>
          </p:cNvPr>
          <p:cNvSpPr/>
          <p:nvPr/>
        </p:nvSpPr>
        <p:spPr>
          <a:xfrm>
            <a:off x="4217718" y="17716"/>
            <a:ext cx="7957655" cy="682507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adwhale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-ad-platform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714D2B8-7B3D-0CD7-DC5F-A86F461F0811}"/>
              </a:ext>
            </a:extLst>
          </p:cNvPr>
          <p:cNvSpPr/>
          <p:nvPr/>
        </p:nvSpPr>
        <p:spPr>
          <a:xfrm>
            <a:off x="8279464" y="253549"/>
            <a:ext cx="3658947" cy="6954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ad-common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60173DF-571B-EC59-377E-D853D377990A}"/>
              </a:ext>
            </a:extLst>
          </p:cNvPr>
          <p:cNvSpPr/>
          <p:nvPr/>
        </p:nvSpPr>
        <p:spPr>
          <a:xfrm>
            <a:off x="8355773" y="525477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AdRequestEvent</a:t>
            </a:r>
            <a:endParaRPr kumimoji="1" lang="ko-KR" altLang="en-US" sz="1000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4FC20EC-7A43-9FE9-31B1-B4FA731457A2}"/>
              </a:ext>
            </a:extLst>
          </p:cNvPr>
          <p:cNvSpPr/>
          <p:nvPr/>
        </p:nvSpPr>
        <p:spPr>
          <a:xfrm>
            <a:off x="10706781" y="514699"/>
            <a:ext cx="1146935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AdTrackingEvent</a:t>
            </a:r>
            <a:endParaRPr kumimoji="1" lang="ko-KR" altLang="en-US" sz="1000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3212B9C-006F-ECA1-205D-3DD641F4079B}"/>
              </a:ext>
            </a:extLst>
          </p:cNvPr>
          <p:cNvSpPr/>
          <p:nvPr/>
        </p:nvSpPr>
        <p:spPr>
          <a:xfrm>
            <a:off x="9587404" y="520994"/>
            <a:ext cx="1034681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AdTopicEnum</a:t>
            </a:r>
            <a:endParaRPr kumimoji="1" lang="ko-KR" altLang="en-US" sz="10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140E1D3-5087-E6B5-AA1E-6F69B0D67300}"/>
              </a:ext>
            </a:extLst>
          </p:cNvPr>
          <p:cNvSpPr/>
          <p:nvPr/>
        </p:nvSpPr>
        <p:spPr>
          <a:xfrm>
            <a:off x="6746218" y="1127002"/>
            <a:ext cx="1732582" cy="5646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8ECC8901-BCF1-FCA3-9A6B-8085327C9881}"/>
              </a:ext>
            </a:extLst>
          </p:cNvPr>
          <p:cNvSpPr/>
          <p:nvPr/>
        </p:nvSpPr>
        <p:spPr>
          <a:xfrm>
            <a:off x="6979754" y="4793210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</a:t>
            </a:r>
            <a:endParaRPr kumimoji="1" lang="ko-KR" altLang="en-US" sz="1000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25540D59-A10A-9E87-B55D-7B6621B99AE8}"/>
              </a:ext>
            </a:extLst>
          </p:cNvPr>
          <p:cNvSpPr/>
          <p:nvPr/>
        </p:nvSpPr>
        <p:spPr>
          <a:xfrm>
            <a:off x="6979754" y="6300727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adwhale-kafka-ui</a:t>
            </a:r>
            <a:endParaRPr kumimoji="1" lang="ko-KR" altLang="en-US" sz="1000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0A743D93-C8C5-4390-14C6-A5A8BBF3294E}"/>
              </a:ext>
            </a:extLst>
          </p:cNvPr>
          <p:cNvSpPr/>
          <p:nvPr/>
        </p:nvSpPr>
        <p:spPr>
          <a:xfrm>
            <a:off x="4422757" y="1127003"/>
            <a:ext cx="2023708" cy="424220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Port:8081)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1" name="원통[C] 10">
            <a:extLst>
              <a:ext uri="{FF2B5EF4-FFF2-40B4-BE49-F238E27FC236}">
                <a16:creationId xmlns:a16="http://schemas.microsoft.com/office/drawing/2014/main" id="{ECBCC3B1-F727-7040-CCF8-8B406BF3D23B}"/>
              </a:ext>
            </a:extLst>
          </p:cNvPr>
          <p:cNvSpPr/>
          <p:nvPr/>
        </p:nvSpPr>
        <p:spPr>
          <a:xfrm>
            <a:off x="4628169" y="1359885"/>
            <a:ext cx="1570244" cy="3913339"/>
          </a:xfrm>
          <a:prstGeom prst="can">
            <a:avLst>
              <a:gd name="adj" fmla="val 8809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</a:t>
            </a:r>
          </a:p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Server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C3DEF71-BD96-C6D4-2D89-9B2A01647A85}"/>
              </a:ext>
            </a:extLst>
          </p:cNvPr>
          <p:cNvSpPr/>
          <p:nvPr/>
        </p:nvSpPr>
        <p:spPr>
          <a:xfrm>
            <a:off x="4815608" y="3229620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AdController</a:t>
            </a:r>
            <a:endParaRPr kumimoji="1" lang="ko-KR" altLang="en-US" sz="10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1B22014-2D2E-514F-A180-6ABB706C0A74}"/>
              </a:ext>
            </a:extLst>
          </p:cNvPr>
          <p:cNvSpPr/>
          <p:nvPr/>
        </p:nvSpPr>
        <p:spPr>
          <a:xfrm>
            <a:off x="4815608" y="3755998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AdService</a:t>
            </a:r>
            <a:endParaRPr kumimoji="1" lang="ko-KR" altLang="en-US" sz="1000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B330FA9-D5E6-88BD-E4C8-668DC9158D01}"/>
              </a:ext>
            </a:extLst>
          </p:cNvPr>
          <p:cNvSpPr/>
          <p:nvPr/>
        </p:nvSpPr>
        <p:spPr>
          <a:xfrm>
            <a:off x="4815608" y="4282376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AdEventProducer</a:t>
            </a:r>
            <a:endParaRPr kumimoji="1" lang="ko-KR" altLang="en-US" sz="10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43C6061-CCD6-7BA0-E8AF-25A93C6D84E8}"/>
              </a:ext>
            </a:extLst>
          </p:cNvPr>
          <p:cNvSpPr/>
          <p:nvPr/>
        </p:nvSpPr>
        <p:spPr>
          <a:xfrm>
            <a:off x="4815608" y="2370731"/>
            <a:ext cx="1197556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AdApiApplication</a:t>
            </a:r>
            <a:endParaRPr kumimoji="1" lang="ko-KR" altLang="en-US" sz="1000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2E9C2B30-0E9E-0B35-8891-E35AC6F79F28}"/>
              </a:ext>
            </a:extLst>
          </p:cNvPr>
          <p:cNvCxnSpPr>
            <a:stCxn id="18" idx="2"/>
            <a:endCxn id="15" idx="0"/>
          </p:cNvCxnSpPr>
          <p:nvPr/>
        </p:nvCxnSpPr>
        <p:spPr>
          <a:xfrm>
            <a:off x="5414386" y="2727412"/>
            <a:ext cx="0" cy="502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86399682-A35A-0FCE-CC1C-407F4EBA0C86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5414386" y="3586301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AD5001B0-7D3B-7258-76CB-6CD32CF29556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5414386" y="4112679"/>
            <a:ext cx="0" cy="16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F82D5061-3EA6-45D9-411B-BF8740B99566}"/>
              </a:ext>
            </a:extLst>
          </p:cNvPr>
          <p:cNvCxnSpPr>
            <a:cxnSpLocks/>
            <a:stCxn id="16" idx="1"/>
            <a:endCxn id="8" idx="3"/>
          </p:cNvCxnSpPr>
          <p:nvPr/>
        </p:nvCxnSpPr>
        <p:spPr>
          <a:xfrm flipH="1">
            <a:off x="3072119" y="3934339"/>
            <a:ext cx="17434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0A0BD0C-692C-DD64-FFAD-0382A14A26B0}"/>
              </a:ext>
            </a:extLst>
          </p:cNvPr>
          <p:cNvSpPr txBox="1"/>
          <p:nvPr/>
        </p:nvSpPr>
        <p:spPr>
          <a:xfrm>
            <a:off x="3635145" y="2869371"/>
            <a:ext cx="179247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[POST] Http://localhost:8080/v1/ad/request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5B8A15-69BB-39CA-211C-3A803EBCA4F0}"/>
              </a:ext>
            </a:extLst>
          </p:cNvPr>
          <p:cNvSpPr txBox="1"/>
          <p:nvPr/>
        </p:nvSpPr>
        <p:spPr>
          <a:xfrm>
            <a:off x="3771875" y="3746230"/>
            <a:ext cx="5357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JSON</a:t>
            </a:r>
            <a:r>
              <a:rPr kumimoji="1" lang="ko-KR" altLang="en-US" sz="600" b="1" dirty="0">
                <a:solidFill>
                  <a:schemeClr val="accent2"/>
                </a:solidFill>
              </a:rPr>
              <a:t>객체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DB05BF5-390C-AC04-2988-431CBFC5838A}"/>
              </a:ext>
            </a:extLst>
          </p:cNvPr>
          <p:cNvCxnSpPr>
            <a:cxnSpLocks/>
            <a:endCxn id="67" idx="0"/>
          </p:cNvCxnSpPr>
          <p:nvPr/>
        </p:nvCxnSpPr>
        <p:spPr>
          <a:xfrm>
            <a:off x="5413291" y="4639057"/>
            <a:ext cx="1095" cy="1512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126C8784-A7D8-AB27-74A8-BCEFFA9DDDC8}"/>
              </a:ext>
            </a:extLst>
          </p:cNvPr>
          <p:cNvSpPr/>
          <p:nvPr/>
        </p:nvSpPr>
        <p:spPr>
          <a:xfrm>
            <a:off x="4815608" y="4790342"/>
            <a:ext cx="1197556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B5CCFD13-1B62-1593-1A70-C6FD858C716D}"/>
              </a:ext>
            </a:extLst>
          </p:cNvPr>
          <p:cNvCxnSpPr>
            <a:cxnSpLocks/>
            <a:stCxn id="67" idx="3"/>
            <a:endCxn id="56" idx="1"/>
          </p:cNvCxnSpPr>
          <p:nvPr/>
        </p:nvCxnSpPr>
        <p:spPr>
          <a:xfrm flipV="1">
            <a:off x="6013164" y="4971551"/>
            <a:ext cx="966590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0B49C19-D250-78C7-F800-8170C8B81521}"/>
              </a:ext>
            </a:extLst>
          </p:cNvPr>
          <p:cNvSpPr/>
          <p:nvPr/>
        </p:nvSpPr>
        <p:spPr>
          <a:xfrm>
            <a:off x="8776730" y="1127002"/>
            <a:ext cx="3157567" cy="5646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2" name="원통[C] 11">
            <a:extLst>
              <a:ext uri="{FF2B5EF4-FFF2-40B4-BE49-F238E27FC236}">
                <a16:creationId xmlns:a16="http://schemas.microsoft.com/office/drawing/2014/main" id="{B2CBCF5E-6614-8806-8182-00D0EEE4CF75}"/>
              </a:ext>
            </a:extLst>
          </p:cNvPr>
          <p:cNvSpPr/>
          <p:nvPr/>
        </p:nvSpPr>
        <p:spPr>
          <a:xfrm>
            <a:off x="9004167" y="1359885"/>
            <a:ext cx="1426977" cy="5348485"/>
          </a:xfrm>
          <a:prstGeom prst="can">
            <a:avLst>
              <a:gd name="adj" fmla="val 8527"/>
            </a:avLst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ad-log-consumer Kafka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7AD25AC-CB04-0095-784D-3B2CE6D4BC55}"/>
              </a:ext>
            </a:extLst>
          </p:cNvPr>
          <p:cNvSpPr/>
          <p:nvPr/>
        </p:nvSpPr>
        <p:spPr>
          <a:xfrm>
            <a:off x="9144485" y="5306481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</a:t>
            </a:r>
            <a:endParaRPr kumimoji="1" lang="ko-KR" altLang="en-US" sz="10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D39A11A-DF74-659F-423C-498E3E32013B}"/>
              </a:ext>
            </a:extLst>
          </p:cNvPr>
          <p:cNvSpPr/>
          <p:nvPr/>
        </p:nvSpPr>
        <p:spPr>
          <a:xfrm>
            <a:off x="9144486" y="1898251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AdLogConsumerApplication</a:t>
            </a:r>
            <a:endParaRPr kumimoji="1" lang="ko-KR" altLang="en-US" sz="1000" dirty="0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9550ECAA-105C-6765-CEBC-B46F0DA13082}"/>
              </a:ext>
            </a:extLst>
          </p:cNvPr>
          <p:cNvCxnSpPr>
            <a:cxnSpLocks/>
            <a:stCxn id="23" idx="2"/>
            <a:endCxn id="70" idx="0"/>
          </p:cNvCxnSpPr>
          <p:nvPr/>
        </p:nvCxnSpPr>
        <p:spPr>
          <a:xfrm flipH="1">
            <a:off x="9722797" y="2254932"/>
            <a:ext cx="1" cy="2535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2C697AC-317A-391D-1990-A71B157683D2}"/>
              </a:ext>
            </a:extLst>
          </p:cNvPr>
          <p:cNvSpPr/>
          <p:nvPr/>
        </p:nvSpPr>
        <p:spPr>
          <a:xfrm>
            <a:off x="9144485" y="6300727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AdLogFileWriter</a:t>
            </a:r>
            <a:endParaRPr kumimoji="1" lang="ko-KR" altLang="en-US" sz="1000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F56297CC-53FA-2525-D9BB-7203FA0DDE83}"/>
              </a:ext>
            </a:extLst>
          </p:cNvPr>
          <p:cNvCxnSpPr>
            <a:cxnSpLocks/>
            <a:stCxn id="22" idx="2"/>
            <a:endCxn id="132" idx="0"/>
          </p:cNvCxnSpPr>
          <p:nvPr/>
        </p:nvCxnSpPr>
        <p:spPr>
          <a:xfrm>
            <a:off x="9722797" y="5663162"/>
            <a:ext cx="1920" cy="1386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A13435BD-62E1-4E64-11F8-899BFD4FB1F4}"/>
              </a:ext>
            </a:extLst>
          </p:cNvPr>
          <p:cNvSpPr/>
          <p:nvPr/>
        </p:nvSpPr>
        <p:spPr>
          <a:xfrm>
            <a:off x="9134252" y="4790342"/>
            <a:ext cx="1177090" cy="3730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dirty="0">
                <a:solidFill>
                  <a:sysClr val="windowText" lastClr="000000"/>
                </a:solidFill>
              </a:rPr>
              <a:t>spring-boot-starter-</a:t>
            </a:r>
            <a:r>
              <a:rPr kumimoji="1" lang="en-US" altLang="ko-KR" sz="800" dirty="0" err="1">
                <a:solidFill>
                  <a:sysClr val="windowText" lastClr="000000"/>
                </a:solidFill>
              </a:rPr>
              <a:t>kafka</a:t>
            </a:r>
            <a:r>
              <a:rPr kumimoji="1" lang="en-US" altLang="ko-KR" sz="800" dirty="0">
                <a:solidFill>
                  <a:sysClr val="windowText" lastClr="000000"/>
                </a:solidFill>
              </a:rPr>
              <a:t>(dependency)</a:t>
            </a:r>
            <a:endParaRPr kumimoji="1"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80DFA524-7489-C0A1-94E1-B25C705326A6}"/>
              </a:ext>
            </a:extLst>
          </p:cNvPr>
          <p:cNvCxnSpPr>
            <a:cxnSpLocks/>
            <a:stCxn id="70" idx="2"/>
            <a:endCxn id="22" idx="0"/>
          </p:cNvCxnSpPr>
          <p:nvPr/>
        </p:nvCxnSpPr>
        <p:spPr>
          <a:xfrm>
            <a:off x="9722797" y="5163343"/>
            <a:ext cx="0" cy="143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12202A60-798B-7900-A00C-FCBE54848E9F}"/>
              </a:ext>
            </a:extLst>
          </p:cNvPr>
          <p:cNvCxnSpPr>
            <a:cxnSpLocks/>
            <a:stCxn id="56" idx="3"/>
            <a:endCxn id="70" idx="1"/>
          </p:cNvCxnSpPr>
          <p:nvPr/>
        </p:nvCxnSpPr>
        <p:spPr>
          <a:xfrm>
            <a:off x="8276646" y="4971551"/>
            <a:ext cx="857606" cy="5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92FEE07-55FA-970F-C72F-09B203347946}"/>
              </a:ext>
            </a:extLst>
          </p:cNvPr>
          <p:cNvCxnSpPr>
            <a:cxnSpLocks/>
            <a:stCxn id="25" idx="3"/>
            <a:endCxn id="28" idx="1"/>
          </p:cNvCxnSpPr>
          <p:nvPr/>
        </p:nvCxnSpPr>
        <p:spPr>
          <a:xfrm>
            <a:off x="10301109" y="6479068"/>
            <a:ext cx="211798" cy="2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8CFD409F-6930-3F1F-E177-CEEF42C77815}"/>
              </a:ext>
            </a:extLst>
          </p:cNvPr>
          <p:cNvSpPr txBox="1"/>
          <p:nvPr/>
        </p:nvSpPr>
        <p:spPr>
          <a:xfrm>
            <a:off x="5905965" y="4784122"/>
            <a:ext cx="1192955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SEND KAFKA EVENT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257EFA-4C56-5D11-26AE-883AFEED43F5}"/>
              </a:ext>
            </a:extLst>
          </p:cNvPr>
          <p:cNvSpPr txBox="1"/>
          <p:nvPr/>
        </p:nvSpPr>
        <p:spPr>
          <a:xfrm>
            <a:off x="8192597" y="4782401"/>
            <a:ext cx="106792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KAFKA LISTENER (9092)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5F84B25-8FB3-AE62-E50C-DDBBA00C80FF}"/>
              </a:ext>
            </a:extLst>
          </p:cNvPr>
          <p:cNvSpPr/>
          <p:nvPr/>
        </p:nvSpPr>
        <p:spPr>
          <a:xfrm>
            <a:off x="6973308" y="1359885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adwhale-kafka-init</a:t>
            </a:r>
            <a:endParaRPr kumimoji="1" lang="ko-KR" altLang="en-US" sz="1000" dirty="0"/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4C625F92-E8F0-A304-645A-75948EB6B4D5}"/>
              </a:ext>
            </a:extLst>
          </p:cNvPr>
          <p:cNvCxnSpPr>
            <a:cxnSpLocks/>
          </p:cNvCxnSpPr>
          <p:nvPr/>
        </p:nvCxnSpPr>
        <p:spPr>
          <a:xfrm>
            <a:off x="7546937" y="1716566"/>
            <a:ext cx="0" cy="30658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타원 73">
            <a:extLst>
              <a:ext uri="{FF2B5EF4-FFF2-40B4-BE49-F238E27FC236}">
                <a16:creationId xmlns:a16="http://schemas.microsoft.com/office/drawing/2014/main" id="{85A0CD39-6FA4-2A59-54F8-90AB30B6053F}"/>
              </a:ext>
            </a:extLst>
          </p:cNvPr>
          <p:cNvSpPr/>
          <p:nvPr/>
        </p:nvSpPr>
        <p:spPr>
          <a:xfrm>
            <a:off x="694547" y="1410635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6A03EB0-237B-E888-724D-6651641AB30C}"/>
              </a:ext>
            </a:extLst>
          </p:cNvPr>
          <p:cNvSpPr/>
          <p:nvPr/>
        </p:nvSpPr>
        <p:spPr>
          <a:xfrm>
            <a:off x="694547" y="1949000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037854B-8B3C-7732-8E0C-B7C4816E8C9C}"/>
              </a:ext>
            </a:extLst>
          </p:cNvPr>
          <p:cNvSpPr/>
          <p:nvPr/>
        </p:nvSpPr>
        <p:spPr>
          <a:xfrm>
            <a:off x="694547" y="2421480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DC8683B8-90CF-616A-5870-13A2C53206F7}"/>
              </a:ext>
            </a:extLst>
          </p:cNvPr>
          <p:cNvCxnSpPr>
            <a:cxnSpLocks/>
            <a:stCxn id="74" idx="6"/>
            <a:endCxn id="68" idx="1"/>
          </p:cNvCxnSpPr>
          <p:nvPr/>
        </p:nvCxnSpPr>
        <p:spPr>
          <a:xfrm>
            <a:off x="928463" y="1538226"/>
            <a:ext cx="604484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4B06D1AB-684F-BA19-5B4A-568CB8091EC7}"/>
              </a:ext>
            </a:extLst>
          </p:cNvPr>
          <p:cNvCxnSpPr>
            <a:cxnSpLocks/>
            <a:stCxn id="75" idx="6"/>
            <a:endCxn id="23" idx="1"/>
          </p:cNvCxnSpPr>
          <p:nvPr/>
        </p:nvCxnSpPr>
        <p:spPr>
          <a:xfrm>
            <a:off x="928463" y="2076591"/>
            <a:ext cx="8216023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3EBA30F7-F9F6-BB73-CB3C-6553F6C22CF9}"/>
              </a:ext>
            </a:extLst>
          </p:cNvPr>
          <p:cNvCxnSpPr>
            <a:cxnSpLocks/>
            <a:stCxn id="76" idx="6"/>
            <a:endCxn id="18" idx="1"/>
          </p:cNvCxnSpPr>
          <p:nvPr/>
        </p:nvCxnSpPr>
        <p:spPr>
          <a:xfrm>
            <a:off x="928463" y="2549071"/>
            <a:ext cx="3887145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타원 91">
            <a:extLst>
              <a:ext uri="{FF2B5EF4-FFF2-40B4-BE49-F238E27FC236}">
                <a16:creationId xmlns:a16="http://schemas.microsoft.com/office/drawing/2014/main" id="{F0C6756E-90CD-597C-0EA9-149D702906E4}"/>
              </a:ext>
            </a:extLst>
          </p:cNvPr>
          <p:cNvSpPr/>
          <p:nvPr/>
        </p:nvSpPr>
        <p:spPr>
          <a:xfrm>
            <a:off x="694547" y="2922921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770DD9A-C129-D9CD-A8C5-25A4456FD0FD}"/>
              </a:ext>
            </a:extLst>
          </p:cNvPr>
          <p:cNvCxnSpPr>
            <a:cxnSpLocks/>
            <a:stCxn id="92" idx="6"/>
            <a:endCxn id="7" idx="1"/>
          </p:cNvCxnSpPr>
          <p:nvPr/>
        </p:nvCxnSpPr>
        <p:spPr>
          <a:xfrm>
            <a:off x="928463" y="3050512"/>
            <a:ext cx="1437544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타원 96">
            <a:extLst>
              <a:ext uri="{FF2B5EF4-FFF2-40B4-BE49-F238E27FC236}">
                <a16:creationId xmlns:a16="http://schemas.microsoft.com/office/drawing/2014/main" id="{4C5B3210-80E4-4C06-74D2-980D5FF9B082}"/>
              </a:ext>
            </a:extLst>
          </p:cNvPr>
          <p:cNvSpPr/>
          <p:nvPr/>
        </p:nvSpPr>
        <p:spPr>
          <a:xfrm>
            <a:off x="694547" y="6351476"/>
            <a:ext cx="233916" cy="255181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089AA81D-5B52-8B09-5B0E-10D8678538E6}"/>
              </a:ext>
            </a:extLst>
          </p:cNvPr>
          <p:cNvCxnSpPr>
            <a:cxnSpLocks/>
            <a:stCxn id="97" idx="6"/>
            <a:endCxn id="58" idx="1"/>
          </p:cNvCxnSpPr>
          <p:nvPr/>
        </p:nvCxnSpPr>
        <p:spPr>
          <a:xfrm>
            <a:off x="928463" y="6479067"/>
            <a:ext cx="6051291" cy="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B1EAFE7C-77A3-AA8B-3E68-F3216C914CEA}"/>
              </a:ext>
            </a:extLst>
          </p:cNvPr>
          <p:cNvSpPr/>
          <p:nvPr/>
        </p:nvSpPr>
        <p:spPr>
          <a:xfrm>
            <a:off x="2357897" y="4282374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광고노출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6DC8B0BC-0FDF-DD2F-A9F6-1FCEEB85082E}"/>
              </a:ext>
            </a:extLst>
          </p:cNvPr>
          <p:cNvCxnSpPr>
            <a:cxnSpLocks/>
            <a:stCxn id="8" idx="2"/>
            <a:endCxn id="102" idx="0"/>
          </p:cNvCxnSpPr>
          <p:nvPr/>
        </p:nvCxnSpPr>
        <p:spPr>
          <a:xfrm>
            <a:off x="2715008" y="4112679"/>
            <a:ext cx="0" cy="16969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5AAEC9DF-33C0-B5DD-4C65-6373843178C7}"/>
              </a:ext>
            </a:extLst>
          </p:cNvPr>
          <p:cNvSpPr/>
          <p:nvPr/>
        </p:nvSpPr>
        <p:spPr>
          <a:xfrm>
            <a:off x="2364543" y="4817395"/>
            <a:ext cx="71422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00" dirty="0"/>
              <a:t>광고클릭</a:t>
            </a: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BA99CDB8-20C3-471A-B592-723B8434DA9C}"/>
              </a:ext>
            </a:extLst>
          </p:cNvPr>
          <p:cNvSpPr/>
          <p:nvPr/>
        </p:nvSpPr>
        <p:spPr>
          <a:xfrm>
            <a:off x="694547" y="4868349"/>
            <a:ext cx="233916" cy="255181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25898DC2-7CE0-F984-BBE3-01A7C515B98C}"/>
              </a:ext>
            </a:extLst>
          </p:cNvPr>
          <p:cNvCxnSpPr>
            <a:cxnSpLocks/>
            <a:stCxn id="108" idx="6"/>
            <a:endCxn id="107" idx="1"/>
          </p:cNvCxnSpPr>
          <p:nvPr/>
        </p:nvCxnSpPr>
        <p:spPr>
          <a:xfrm flipV="1">
            <a:off x="928463" y="4995736"/>
            <a:ext cx="1436080" cy="20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DC00F94C-8368-299B-B2D1-DFBDD3F4274E}"/>
              </a:ext>
            </a:extLst>
          </p:cNvPr>
          <p:cNvSpPr txBox="1"/>
          <p:nvPr/>
        </p:nvSpPr>
        <p:spPr>
          <a:xfrm>
            <a:off x="-44759" y="1680320"/>
            <a:ext cx="16177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1.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</a:t>
            </a:r>
            <a:r>
              <a:rPr kumimoji="1" lang="ko-KR" altLang="en-US" sz="1000" dirty="0">
                <a:solidFill>
                  <a:srgbClr val="0070C0"/>
                </a:solidFill>
              </a:rPr>
              <a:t>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9092)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0D3C74B-31C1-EF98-3C6F-E7F26E1489E7}"/>
              </a:ext>
            </a:extLst>
          </p:cNvPr>
          <p:cNvSpPr txBox="1"/>
          <p:nvPr/>
        </p:nvSpPr>
        <p:spPr>
          <a:xfrm>
            <a:off x="-43702" y="2199987"/>
            <a:ext cx="18069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2.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ad-log-consumer </a:t>
            </a:r>
            <a:r>
              <a:rPr kumimoji="1" lang="ko-KR" altLang="en-US" sz="1000" dirty="0">
                <a:solidFill>
                  <a:srgbClr val="0070C0"/>
                </a:solidFill>
              </a:rPr>
              <a:t>앱 기동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B89B790-3BDA-1D25-254F-A1922CD6A095}"/>
              </a:ext>
            </a:extLst>
          </p:cNvPr>
          <p:cNvSpPr txBox="1"/>
          <p:nvPr/>
        </p:nvSpPr>
        <p:spPr>
          <a:xfrm>
            <a:off x="-42213" y="2694194"/>
            <a:ext cx="1978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3.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ad-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api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서버 기동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8080)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BDEA7A5-64E7-E897-E1FB-7BD19DBC97A3}"/>
              </a:ext>
            </a:extLst>
          </p:cNvPr>
          <p:cNvSpPr txBox="1"/>
          <p:nvPr/>
        </p:nvSpPr>
        <p:spPr>
          <a:xfrm>
            <a:off x="313059" y="3190118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4.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진입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082A71D-B4DE-A826-A2CD-3C692E01569E}"/>
              </a:ext>
            </a:extLst>
          </p:cNvPr>
          <p:cNvSpPr txBox="1"/>
          <p:nvPr/>
        </p:nvSpPr>
        <p:spPr>
          <a:xfrm>
            <a:off x="313059" y="5122984"/>
            <a:ext cx="11432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chemeClr val="accent2"/>
                </a:solidFill>
              </a:rPr>
              <a:t>5.</a:t>
            </a:r>
            <a:r>
              <a:rPr kumimoji="1" lang="ko-KR" altLang="en-US" sz="1000" dirty="0">
                <a:solidFill>
                  <a:schemeClr val="accent2"/>
                </a:solidFill>
              </a:rPr>
              <a:t> 광고화면 클릭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774C100-BF3F-6700-9558-DCB1AE680598}"/>
              </a:ext>
            </a:extLst>
          </p:cNvPr>
          <p:cNvSpPr txBox="1"/>
          <p:nvPr/>
        </p:nvSpPr>
        <p:spPr>
          <a:xfrm>
            <a:off x="-45282" y="6612065"/>
            <a:ext cx="18133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>
                <a:solidFill>
                  <a:srgbClr val="0070C0"/>
                </a:solidFill>
              </a:rPr>
              <a:t>6.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Kafka </a:t>
            </a:r>
            <a:r>
              <a:rPr kumimoji="1" lang="en-US" altLang="ko-KR" sz="1000" dirty="0" err="1">
                <a:solidFill>
                  <a:srgbClr val="0070C0"/>
                </a:solidFill>
              </a:rPr>
              <a:t>ui</a:t>
            </a:r>
            <a:r>
              <a:rPr kumimoji="1" lang="en-US" altLang="ko-KR" sz="1000" dirty="0">
                <a:solidFill>
                  <a:srgbClr val="0070C0"/>
                </a:solidFill>
              </a:rPr>
              <a:t> </a:t>
            </a:r>
            <a:r>
              <a:rPr kumimoji="1" lang="ko-KR" altLang="en-US" sz="1000" dirty="0">
                <a:solidFill>
                  <a:srgbClr val="0070C0"/>
                </a:solidFill>
              </a:rPr>
              <a:t>접속 </a:t>
            </a:r>
            <a:r>
              <a:rPr kumimoji="1" lang="en-US" altLang="ko-KR" sz="1000" dirty="0">
                <a:solidFill>
                  <a:srgbClr val="0070C0"/>
                </a:solidFill>
              </a:rPr>
              <a:t>(Port:</a:t>
            </a:r>
            <a:r>
              <a:rPr kumimoji="1" lang="ko-KR" altLang="en-US" sz="1000" dirty="0">
                <a:solidFill>
                  <a:srgbClr val="0070C0"/>
                </a:solidFill>
              </a:rPr>
              <a:t> </a:t>
            </a:r>
            <a:r>
              <a:rPr kumimoji="1" lang="en-US" altLang="ko-KR" sz="1000" dirty="0">
                <a:solidFill>
                  <a:srgbClr val="0070C0"/>
                </a:solidFill>
              </a:rPr>
              <a:t>8989)</a:t>
            </a:r>
            <a:endParaRPr kumimoji="1" lang="ko-KR" altLang="en-US" sz="1000" dirty="0">
              <a:solidFill>
                <a:srgbClr val="0070C0"/>
              </a:solidFill>
            </a:endParaRPr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783DA7BB-2D55-9C50-5B4E-752101F95A2F}"/>
              </a:ext>
            </a:extLst>
          </p:cNvPr>
          <p:cNvSpPr/>
          <p:nvPr/>
        </p:nvSpPr>
        <p:spPr>
          <a:xfrm>
            <a:off x="7020965" y="260017"/>
            <a:ext cx="1128772" cy="68896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 err="1">
                <a:solidFill>
                  <a:sysClr val="windowText" lastClr="000000"/>
                </a:solidFill>
              </a:rPr>
              <a:t>Settings.gradle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22" name="꺾인 연결선[E] 121">
            <a:extLst>
              <a:ext uri="{FF2B5EF4-FFF2-40B4-BE49-F238E27FC236}">
                <a16:creationId xmlns:a16="http://schemas.microsoft.com/office/drawing/2014/main" id="{5003CA33-3704-390F-70EE-81040E54023C}"/>
              </a:ext>
            </a:extLst>
          </p:cNvPr>
          <p:cNvCxnSpPr>
            <a:cxnSpLocks/>
            <a:stCxn id="120" idx="2"/>
            <a:endCxn id="61" idx="0"/>
          </p:cNvCxnSpPr>
          <p:nvPr/>
        </p:nvCxnSpPr>
        <p:spPr>
          <a:xfrm rot="5400000">
            <a:off x="6420968" y="-37380"/>
            <a:ext cx="178026" cy="2150740"/>
          </a:xfrm>
          <a:prstGeom prst="bentConnector3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꺾인 연결선[E] 122">
            <a:extLst>
              <a:ext uri="{FF2B5EF4-FFF2-40B4-BE49-F238E27FC236}">
                <a16:creationId xmlns:a16="http://schemas.microsoft.com/office/drawing/2014/main" id="{3F0EB074-7D9C-AA47-1E49-61C02CBB3242}"/>
              </a:ext>
            </a:extLst>
          </p:cNvPr>
          <p:cNvCxnSpPr>
            <a:cxnSpLocks/>
            <a:stCxn id="120" idx="2"/>
            <a:endCxn id="62" idx="0"/>
          </p:cNvCxnSpPr>
          <p:nvPr/>
        </p:nvCxnSpPr>
        <p:spPr>
          <a:xfrm rot="16200000" flipH="1">
            <a:off x="8881420" y="-347093"/>
            <a:ext cx="178025" cy="2770163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1185221E-A66B-B19D-4D5A-F41EF96DDC42}"/>
              </a:ext>
            </a:extLst>
          </p:cNvPr>
          <p:cNvCxnSpPr>
            <a:cxnSpLocks/>
            <a:stCxn id="120" idx="3"/>
            <a:endCxn id="30" idx="1"/>
          </p:cNvCxnSpPr>
          <p:nvPr/>
        </p:nvCxnSpPr>
        <p:spPr>
          <a:xfrm flipV="1">
            <a:off x="8149737" y="601263"/>
            <a:ext cx="129727" cy="323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꺾인 연결선[E] 129">
            <a:extLst>
              <a:ext uri="{FF2B5EF4-FFF2-40B4-BE49-F238E27FC236}">
                <a16:creationId xmlns:a16="http://schemas.microsoft.com/office/drawing/2014/main" id="{038F9F55-74AC-2230-2BF1-F7303D9EFEF2}"/>
              </a:ext>
            </a:extLst>
          </p:cNvPr>
          <p:cNvCxnSpPr>
            <a:cxnSpLocks/>
            <a:stCxn id="106" idx="3"/>
            <a:endCxn id="52" idx="1"/>
          </p:cNvCxnSpPr>
          <p:nvPr/>
        </p:nvCxnSpPr>
        <p:spPr>
          <a:xfrm>
            <a:off x="5920070" y="808984"/>
            <a:ext cx="826148" cy="314140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C59878EF-4F8E-63E1-049D-71F87A39D816}"/>
              </a:ext>
            </a:extLst>
          </p:cNvPr>
          <p:cNvSpPr txBox="1"/>
          <p:nvPr/>
        </p:nvSpPr>
        <p:spPr>
          <a:xfrm>
            <a:off x="3657468" y="3937986"/>
            <a:ext cx="74571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requestId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adId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placementUid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creativeUrl</a:t>
            </a:r>
            <a:endParaRPr kumimoji="1" lang="en-US" altLang="ko-KR" sz="600" b="1" dirty="0">
              <a:solidFill>
                <a:schemeClr val="accent2"/>
              </a:solidFill>
            </a:endParaRPr>
          </a:p>
          <a:p>
            <a:r>
              <a:rPr kumimoji="1" lang="en-US" altLang="ko-KR" sz="600" b="1" dirty="0">
                <a:solidFill>
                  <a:schemeClr val="accent2"/>
                </a:solidFill>
              </a:rPr>
              <a:t>- </a:t>
            </a:r>
            <a:r>
              <a:rPr kumimoji="1" lang="en-US" altLang="ko-KR" sz="600" b="1" dirty="0" err="1">
                <a:solidFill>
                  <a:schemeClr val="accent2"/>
                </a:solidFill>
              </a:rPr>
              <a:t>landingUrl</a:t>
            </a:r>
            <a:endParaRPr kumimoji="1" lang="ko-KR" altLang="en-US" sz="600" b="1" dirty="0">
              <a:solidFill>
                <a:schemeClr val="accent2"/>
              </a:solidFill>
            </a:endParaRP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C932101F-647F-0413-D112-ECFAC1E72E41}"/>
              </a:ext>
            </a:extLst>
          </p:cNvPr>
          <p:cNvSpPr/>
          <p:nvPr/>
        </p:nvSpPr>
        <p:spPr>
          <a:xfrm>
            <a:off x="9146405" y="5801853"/>
            <a:ext cx="1156624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KafkaErrorConfig</a:t>
            </a:r>
            <a:endParaRPr kumimoji="1" lang="en-US" altLang="ko-KR" sz="1000" dirty="0"/>
          </a:p>
          <a:p>
            <a:pPr algn="ctr"/>
            <a:r>
              <a:rPr kumimoji="1" lang="en-US" altLang="ko-KR" sz="1000" dirty="0"/>
              <a:t>(DLQ)</a:t>
            </a:r>
            <a:endParaRPr kumimoji="1" lang="ko-KR" altLang="en-US" sz="10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D1DECA1-2F5B-36DE-A28A-3551B9DF7BE1}"/>
              </a:ext>
            </a:extLst>
          </p:cNvPr>
          <p:cNvSpPr/>
          <p:nvPr/>
        </p:nvSpPr>
        <p:spPr>
          <a:xfrm>
            <a:off x="10512907" y="6303047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*-{topic</a:t>
            </a:r>
            <a:r>
              <a:rPr kumimoji="1" lang="ko-KR" altLang="en-US" sz="1000" dirty="0"/>
              <a:t>명</a:t>
            </a:r>
            <a:r>
              <a:rPr kumimoji="1" lang="en-US" altLang="ko-KR" sz="1000" dirty="0"/>
              <a:t>}.log</a:t>
            </a:r>
            <a:endParaRPr kumimoji="1" lang="ko-KR" altLang="en-US" sz="1000" dirty="0"/>
          </a:p>
        </p:txBody>
      </p:sp>
      <p:sp>
        <p:nvSpPr>
          <p:cNvPr id="142" name="직사각형 141">
            <a:extLst>
              <a:ext uri="{FF2B5EF4-FFF2-40B4-BE49-F238E27FC236}">
                <a16:creationId xmlns:a16="http://schemas.microsoft.com/office/drawing/2014/main" id="{C676B95D-B3C5-75AA-ACB8-E8107BB68565}"/>
              </a:ext>
            </a:extLst>
          </p:cNvPr>
          <p:cNvSpPr/>
          <p:nvPr/>
        </p:nvSpPr>
        <p:spPr>
          <a:xfrm>
            <a:off x="6979754" y="5801852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ad-request-dlq-0/*.log</a:t>
            </a:r>
            <a:endParaRPr kumimoji="1" lang="ko-KR" altLang="en-US" sz="1000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E25B59EC-8F3B-9796-6DCF-BF15EBB16A16}"/>
              </a:ext>
            </a:extLst>
          </p:cNvPr>
          <p:cNvSpPr/>
          <p:nvPr/>
        </p:nvSpPr>
        <p:spPr>
          <a:xfrm>
            <a:off x="6979754" y="5306481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/>
              <a:t>ad-request-0/*.log</a:t>
            </a:r>
            <a:endParaRPr kumimoji="1"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315D05E-CBA2-001B-419F-F7D190FAC3EF}"/>
              </a:ext>
            </a:extLst>
          </p:cNvPr>
          <p:cNvCxnSpPr>
            <a:cxnSpLocks/>
            <a:stCxn id="56" idx="2"/>
            <a:endCxn id="49" idx="0"/>
          </p:cNvCxnSpPr>
          <p:nvPr/>
        </p:nvCxnSpPr>
        <p:spPr>
          <a:xfrm>
            <a:off x="7628200" y="5149891"/>
            <a:ext cx="0" cy="15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5" name="꺾인 연결선[E] 94">
            <a:extLst>
              <a:ext uri="{FF2B5EF4-FFF2-40B4-BE49-F238E27FC236}">
                <a16:creationId xmlns:a16="http://schemas.microsoft.com/office/drawing/2014/main" id="{A49192F2-1769-6902-0647-06B88D580DAC}"/>
              </a:ext>
            </a:extLst>
          </p:cNvPr>
          <p:cNvCxnSpPr>
            <a:cxnSpLocks/>
            <a:stCxn id="132" idx="3"/>
            <a:endCxn id="56" idx="0"/>
          </p:cNvCxnSpPr>
          <p:nvPr/>
        </p:nvCxnSpPr>
        <p:spPr>
          <a:xfrm flipH="1" flipV="1">
            <a:off x="7628200" y="4793210"/>
            <a:ext cx="2674829" cy="1186984"/>
          </a:xfrm>
          <a:prstGeom prst="bentConnector4">
            <a:avLst>
              <a:gd name="adj1" fmla="val -8546"/>
              <a:gd name="adj2" fmla="val 119259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CA3412DF-BD23-7D75-AB04-6BBC97F64E39}"/>
              </a:ext>
            </a:extLst>
          </p:cNvPr>
          <p:cNvCxnSpPr>
            <a:cxnSpLocks/>
          </p:cNvCxnSpPr>
          <p:nvPr/>
        </p:nvCxnSpPr>
        <p:spPr>
          <a:xfrm>
            <a:off x="8276646" y="5021429"/>
            <a:ext cx="12700" cy="1008642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11" name="꺾인 연결선[E] 110">
            <a:extLst>
              <a:ext uri="{FF2B5EF4-FFF2-40B4-BE49-F238E27FC236}">
                <a16:creationId xmlns:a16="http://schemas.microsoft.com/office/drawing/2014/main" id="{D29D20EF-FABD-9CCA-327A-F907C06FF37D}"/>
              </a:ext>
            </a:extLst>
          </p:cNvPr>
          <p:cNvCxnSpPr>
            <a:cxnSpLocks/>
          </p:cNvCxnSpPr>
          <p:nvPr/>
        </p:nvCxnSpPr>
        <p:spPr>
          <a:xfrm>
            <a:off x="8276646" y="6030071"/>
            <a:ext cx="12700" cy="498875"/>
          </a:xfrm>
          <a:prstGeom prst="bentConnector3">
            <a:avLst>
              <a:gd name="adj1" fmla="val 883638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25" name="꺾인 연결선[E] 124">
            <a:extLst>
              <a:ext uri="{FF2B5EF4-FFF2-40B4-BE49-F238E27FC236}">
                <a16:creationId xmlns:a16="http://schemas.microsoft.com/office/drawing/2014/main" id="{D0F9DFE9-8571-D383-C9AA-BDF9B16D0768}"/>
              </a:ext>
            </a:extLst>
          </p:cNvPr>
          <p:cNvCxnSpPr>
            <a:cxnSpLocks/>
            <a:stCxn id="49" idx="1"/>
            <a:endCxn id="58" idx="0"/>
          </p:cNvCxnSpPr>
          <p:nvPr/>
        </p:nvCxnSpPr>
        <p:spPr>
          <a:xfrm rot="10800000" flipH="1" flipV="1">
            <a:off x="6979754" y="5484821"/>
            <a:ext cx="648446" cy="815905"/>
          </a:xfrm>
          <a:prstGeom prst="bentConnector4">
            <a:avLst>
              <a:gd name="adj1" fmla="val -14743"/>
              <a:gd name="adj2" fmla="val 87419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4" name="꺾인 연결선[E] 143">
            <a:extLst>
              <a:ext uri="{FF2B5EF4-FFF2-40B4-BE49-F238E27FC236}">
                <a16:creationId xmlns:a16="http://schemas.microsoft.com/office/drawing/2014/main" id="{F04C4414-8C8A-EA1F-8B23-682DF4C4594F}"/>
              </a:ext>
            </a:extLst>
          </p:cNvPr>
          <p:cNvCxnSpPr>
            <a:cxnSpLocks/>
            <a:stCxn id="22" idx="1"/>
            <a:endCxn id="25" idx="1"/>
          </p:cNvCxnSpPr>
          <p:nvPr/>
        </p:nvCxnSpPr>
        <p:spPr>
          <a:xfrm rot="10800000" flipV="1">
            <a:off x="9144485" y="5484822"/>
            <a:ext cx="12700" cy="994246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347C4A-4BE2-CA63-71A2-B63473C06A4A}"/>
              </a:ext>
            </a:extLst>
          </p:cNvPr>
          <p:cNvSpPr/>
          <p:nvPr/>
        </p:nvSpPr>
        <p:spPr>
          <a:xfrm>
            <a:off x="6973308" y="5291899"/>
            <a:ext cx="832327" cy="86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684B1A0-9416-3BEC-DB89-DB286DA2AA52}"/>
              </a:ext>
            </a:extLst>
          </p:cNvPr>
          <p:cNvSpPr/>
          <p:nvPr/>
        </p:nvSpPr>
        <p:spPr>
          <a:xfrm>
            <a:off x="6973308" y="5784694"/>
            <a:ext cx="832327" cy="8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500" b="1" dirty="0"/>
              <a:t>디폴트 보관기간</a:t>
            </a:r>
            <a:r>
              <a:rPr kumimoji="1" lang="en-US" altLang="ko-KR" sz="500" b="1" dirty="0"/>
              <a:t>:</a:t>
            </a:r>
            <a:r>
              <a:rPr kumimoji="1" lang="ko-KR" altLang="en-US" sz="500" b="1" dirty="0"/>
              <a:t> </a:t>
            </a:r>
            <a:r>
              <a:rPr kumimoji="1" lang="en-US" altLang="ko-KR" sz="500" b="1" dirty="0"/>
              <a:t>7</a:t>
            </a:r>
            <a:r>
              <a:rPr kumimoji="1" lang="ko-KR" altLang="en-US" sz="500" b="1" dirty="0"/>
              <a:t>일</a:t>
            </a:r>
          </a:p>
        </p:txBody>
      </p:sp>
      <p:sp>
        <p:nvSpPr>
          <p:cNvPr id="14" name="번개[L] 13">
            <a:extLst>
              <a:ext uri="{FF2B5EF4-FFF2-40B4-BE49-F238E27FC236}">
                <a16:creationId xmlns:a16="http://schemas.microsoft.com/office/drawing/2014/main" id="{078BDD29-DB00-B97E-BA0F-33835EB44F5D}"/>
              </a:ext>
            </a:extLst>
          </p:cNvPr>
          <p:cNvSpPr/>
          <p:nvPr/>
        </p:nvSpPr>
        <p:spPr>
          <a:xfrm>
            <a:off x="6586793" y="2515507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7" name="번개[L] 26">
            <a:extLst>
              <a:ext uri="{FF2B5EF4-FFF2-40B4-BE49-F238E27FC236}">
                <a16:creationId xmlns:a16="http://schemas.microsoft.com/office/drawing/2014/main" id="{B1BBF18E-2A70-A9DB-D527-8C00DB17AAFE}"/>
              </a:ext>
            </a:extLst>
          </p:cNvPr>
          <p:cNvSpPr/>
          <p:nvPr/>
        </p:nvSpPr>
        <p:spPr>
          <a:xfrm>
            <a:off x="6543436" y="1038867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29" name="번개[L] 28">
            <a:extLst>
              <a:ext uri="{FF2B5EF4-FFF2-40B4-BE49-F238E27FC236}">
                <a16:creationId xmlns:a16="http://schemas.microsoft.com/office/drawing/2014/main" id="{7E156799-E82B-3AE4-5C59-D43C96292B4B}"/>
              </a:ext>
            </a:extLst>
          </p:cNvPr>
          <p:cNvSpPr/>
          <p:nvPr/>
        </p:nvSpPr>
        <p:spPr>
          <a:xfrm>
            <a:off x="8669177" y="1593618"/>
            <a:ext cx="442543" cy="390649"/>
          </a:xfrm>
          <a:prstGeom prst="lightningBol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40" name="모서리가 둥근 사각형 설명선[R] 39">
            <a:extLst>
              <a:ext uri="{FF2B5EF4-FFF2-40B4-BE49-F238E27FC236}">
                <a16:creationId xmlns:a16="http://schemas.microsoft.com/office/drawing/2014/main" id="{BDE21B95-B64B-3929-6C17-46CCCFFE7212}"/>
              </a:ext>
            </a:extLst>
          </p:cNvPr>
          <p:cNvSpPr/>
          <p:nvPr/>
        </p:nvSpPr>
        <p:spPr>
          <a:xfrm>
            <a:off x="6215286" y="4585670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버퍼큐사용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41" name="모서리가 둥근 사각형 설명선[R] 40">
            <a:extLst>
              <a:ext uri="{FF2B5EF4-FFF2-40B4-BE49-F238E27FC236}">
                <a16:creationId xmlns:a16="http://schemas.microsoft.com/office/drawing/2014/main" id="{B6106EE0-8CE1-DAB7-CB27-69FB202EE5B2}"/>
              </a:ext>
            </a:extLst>
          </p:cNvPr>
          <p:cNvSpPr/>
          <p:nvPr/>
        </p:nvSpPr>
        <p:spPr>
          <a:xfrm>
            <a:off x="8447550" y="4604986"/>
            <a:ext cx="631082" cy="161654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chemeClr val="tx1"/>
                </a:solidFill>
              </a:rPr>
              <a:t>polling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943BDE7-BEE8-CBBD-294D-64EBDBED9A48}"/>
              </a:ext>
            </a:extLst>
          </p:cNvPr>
          <p:cNvSpPr/>
          <p:nvPr/>
        </p:nvSpPr>
        <p:spPr>
          <a:xfrm>
            <a:off x="6979754" y="2870009"/>
            <a:ext cx="1296892" cy="3566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dirty="0" err="1"/>
              <a:t>adwhale-lb</a:t>
            </a:r>
            <a:r>
              <a:rPr kumimoji="1" lang="en-US" altLang="ko-KR" sz="1000" dirty="0"/>
              <a:t>(nginx)</a:t>
            </a:r>
            <a:endParaRPr kumimoji="1" lang="ko-KR" altLang="en-US" sz="10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45BEE996-CB03-5469-EE52-2A660D11FC97}"/>
              </a:ext>
            </a:extLst>
          </p:cNvPr>
          <p:cNvSpPr/>
          <p:nvPr/>
        </p:nvSpPr>
        <p:spPr>
          <a:xfrm>
            <a:off x="4422757" y="5488221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Port:8082)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79A1D93-1F00-5016-2054-8E52E210ED3A}"/>
              </a:ext>
            </a:extLst>
          </p:cNvPr>
          <p:cNvSpPr/>
          <p:nvPr/>
        </p:nvSpPr>
        <p:spPr>
          <a:xfrm>
            <a:off x="4422757" y="5937150"/>
            <a:ext cx="2023708" cy="3388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 (n</a:t>
            </a:r>
            <a:r>
              <a:rPr kumimoji="1" lang="ko-KR" altLang="en-US" sz="1000" dirty="0">
                <a:solidFill>
                  <a:sysClr val="windowText" lastClr="000000"/>
                </a:solidFill>
              </a:rPr>
              <a:t>대 구성 </a:t>
            </a:r>
            <a:r>
              <a:rPr kumimoji="1" lang="en-US" altLang="ko-KR" sz="1000" dirty="0">
                <a:solidFill>
                  <a:sysClr val="windowText" lastClr="000000"/>
                </a:solidFill>
              </a:rPr>
              <a:t>Port:8083)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55" name="꺾인 연결선[E] 54">
            <a:extLst>
              <a:ext uri="{FF2B5EF4-FFF2-40B4-BE49-F238E27FC236}">
                <a16:creationId xmlns:a16="http://schemas.microsoft.com/office/drawing/2014/main" id="{9F4D6351-672A-650E-87A9-5C5AECAD1C22}"/>
              </a:ext>
            </a:extLst>
          </p:cNvPr>
          <p:cNvCxnSpPr>
            <a:cxnSpLocks/>
            <a:stCxn id="35" idx="2"/>
            <a:endCxn id="15" idx="3"/>
          </p:cNvCxnSpPr>
          <p:nvPr/>
        </p:nvCxnSpPr>
        <p:spPr>
          <a:xfrm rot="5400000">
            <a:off x="6730047" y="2509807"/>
            <a:ext cx="181271" cy="161503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0" name="모서리가 둥근 사각형 설명선[R] 59">
            <a:extLst>
              <a:ext uri="{FF2B5EF4-FFF2-40B4-BE49-F238E27FC236}">
                <a16:creationId xmlns:a16="http://schemas.microsoft.com/office/drawing/2014/main" id="{EA61BC35-95D7-964B-350E-8F7C465318CB}"/>
              </a:ext>
            </a:extLst>
          </p:cNvPr>
          <p:cNvSpPr/>
          <p:nvPr/>
        </p:nvSpPr>
        <p:spPr>
          <a:xfrm>
            <a:off x="6626868" y="3128562"/>
            <a:ext cx="761673" cy="184666"/>
          </a:xfrm>
          <a:prstGeom prst="wedgeRoundRectCallout">
            <a:avLst>
              <a:gd name="adj1" fmla="val -12484"/>
              <a:gd name="adj2" fmla="val 98496"/>
              <a:gd name="adj3" fmla="val 16667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600" dirty="0" err="1">
                <a:solidFill>
                  <a:schemeClr val="tx1"/>
                </a:solidFill>
              </a:rPr>
              <a:t>라운드로빈사용</a:t>
            </a:r>
            <a:endParaRPr kumimoji="1" lang="en-US" altLang="ko-KR" sz="600" dirty="0">
              <a:solidFill>
                <a:schemeClr val="tx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3AD197E-CBBA-A3AE-1D9F-D0CBEF56D43A}"/>
              </a:ext>
            </a:extLst>
          </p:cNvPr>
          <p:cNvSpPr txBox="1"/>
          <p:nvPr/>
        </p:nvSpPr>
        <p:spPr>
          <a:xfrm>
            <a:off x="5306531" y="6220113"/>
            <a:ext cx="2135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  <a:p>
            <a:r>
              <a:rPr kumimoji="1" lang="en-US" altLang="ko-KR" sz="1000" dirty="0"/>
              <a:t>.</a:t>
            </a:r>
          </a:p>
        </p:txBody>
      </p:sp>
      <p:sp>
        <p:nvSpPr>
          <p:cNvPr id="90" name="모서리가 둥근 사각형 설명선[R] 89">
            <a:extLst>
              <a:ext uri="{FF2B5EF4-FFF2-40B4-BE49-F238E27FC236}">
                <a16:creationId xmlns:a16="http://schemas.microsoft.com/office/drawing/2014/main" id="{14F598B4-CF93-F57F-9788-8F3D797F21B9}"/>
              </a:ext>
            </a:extLst>
          </p:cNvPr>
          <p:cNvSpPr/>
          <p:nvPr/>
        </p:nvSpPr>
        <p:spPr>
          <a:xfrm>
            <a:off x="6854433" y="3547375"/>
            <a:ext cx="2067971" cy="388601"/>
          </a:xfrm>
          <a:prstGeom prst="wedgeRoundRectCallout">
            <a:avLst>
              <a:gd name="adj1" fmla="val 6768"/>
              <a:gd name="adj2" fmla="val -141295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서버 장애대응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응답</a:t>
            </a:r>
            <a:r>
              <a:rPr kumimoji="1" lang="en-US" altLang="ko-KR" sz="600" dirty="0">
                <a:solidFill>
                  <a:srgbClr val="FF0000"/>
                </a:solidFill>
              </a:rPr>
              <a:t>x,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메시지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  <a:r>
              <a:rPr kumimoji="1" lang="ko-KR" altLang="en-US" sz="600" dirty="0">
                <a:solidFill>
                  <a:srgbClr val="FF0000"/>
                </a:solidFill>
              </a:rPr>
              <a:t> 일 경우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로드밸런서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nginx </a:t>
            </a:r>
            <a:r>
              <a:rPr kumimoji="1" lang="ko-KR" altLang="en-US" sz="600" dirty="0">
                <a:solidFill>
                  <a:srgbClr val="FF0000"/>
                </a:solidFill>
              </a:rPr>
              <a:t>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503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</a:t>
            </a:r>
          </a:p>
        </p:txBody>
      </p:sp>
      <p:sp>
        <p:nvSpPr>
          <p:cNvPr id="91" name="모서리가 둥근 사각형 설명선[R] 90">
            <a:extLst>
              <a:ext uri="{FF2B5EF4-FFF2-40B4-BE49-F238E27FC236}">
                <a16:creationId xmlns:a16="http://schemas.microsoft.com/office/drawing/2014/main" id="{AFD8BBC5-666A-E50F-3E11-A1411A68BE51}"/>
              </a:ext>
            </a:extLst>
          </p:cNvPr>
          <p:cNvSpPr/>
          <p:nvPr/>
        </p:nvSpPr>
        <p:spPr>
          <a:xfrm>
            <a:off x="9311188" y="2370731"/>
            <a:ext cx="2694786" cy="597115"/>
          </a:xfrm>
          <a:prstGeom prst="wedgeRoundRectCallout">
            <a:avLst>
              <a:gd name="adj1" fmla="val -16886"/>
              <a:gd name="adj2" fmla="val -78836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메시지 쌓이고 </a:t>
            </a:r>
            <a:r>
              <a:rPr kumimoji="1" lang="en-US" altLang="ko-KR" sz="600" dirty="0">
                <a:solidFill>
                  <a:srgbClr val="FF0000"/>
                </a:solidFill>
              </a:rPr>
              <a:t>&gt;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ad-log-consumer </a:t>
            </a:r>
            <a:r>
              <a:rPr kumimoji="1" lang="ko-KR" altLang="en-US" sz="600" dirty="0">
                <a:solidFill>
                  <a:srgbClr val="FF0000"/>
                </a:solidFill>
              </a:rPr>
              <a:t>가 켜지면 마지막 기록된 </a:t>
            </a:r>
            <a:r>
              <a:rPr kumimoji="1" lang="en-US" altLang="ko-KR" sz="600" dirty="0">
                <a:solidFill>
                  <a:srgbClr val="FF0000"/>
                </a:solidFill>
              </a:rPr>
              <a:t>offset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부터</a:t>
            </a:r>
            <a:r>
              <a:rPr kumimoji="1" lang="ko-KR" altLang="en-US" sz="600" dirty="0">
                <a:solidFill>
                  <a:srgbClr val="FF0000"/>
                </a:solidFill>
              </a:rPr>
              <a:t> 밀린 메시지를 전부 처리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96" name="모서리가 둥근 사각형 설명선[R] 95">
            <a:extLst>
              <a:ext uri="{FF2B5EF4-FFF2-40B4-BE49-F238E27FC236}">
                <a16:creationId xmlns:a16="http://schemas.microsoft.com/office/drawing/2014/main" id="{B838A00D-8A63-F65E-FA0D-F61045112603}"/>
              </a:ext>
            </a:extLst>
          </p:cNvPr>
          <p:cNvSpPr/>
          <p:nvPr/>
        </p:nvSpPr>
        <p:spPr>
          <a:xfrm>
            <a:off x="5580449" y="-856313"/>
            <a:ext cx="3564036" cy="771851"/>
          </a:xfrm>
          <a:prstGeom prst="wedgeRoundRectCallout">
            <a:avLst>
              <a:gd name="adj1" fmla="val -8403"/>
              <a:gd name="adj2" fmla="val 242970"/>
              <a:gd name="adj3" fmla="val 16667"/>
            </a:avLst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Docker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en-US" altLang="ko-KR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>
                <a:solidFill>
                  <a:srgbClr val="FF0000"/>
                </a:solidFill>
              </a:rPr>
              <a:t>장애대응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v1/ad/request : 200(</a:t>
            </a:r>
            <a:r>
              <a:rPr kumimoji="1" lang="ko-KR" altLang="en-US" sz="600" dirty="0">
                <a:solidFill>
                  <a:srgbClr val="FF0000"/>
                </a:solidFill>
              </a:rPr>
              <a:t>비동기처리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v1/ad/impression, click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503(</a:t>
            </a:r>
            <a:r>
              <a:rPr kumimoji="1" lang="ko-KR" altLang="en-US" sz="600" dirty="0">
                <a:solidFill>
                  <a:srgbClr val="FF0000"/>
                </a:solidFill>
              </a:rPr>
              <a:t>동기처리</a:t>
            </a:r>
            <a:r>
              <a:rPr kumimoji="1" lang="en-US" altLang="ko-KR" sz="600" dirty="0">
                <a:solidFill>
                  <a:srgbClr val="FF0000"/>
                </a:solidFill>
              </a:rPr>
              <a:t>).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eventId</a:t>
            </a:r>
            <a:r>
              <a:rPr kumimoji="1" lang="ko-KR" altLang="en-US" sz="600" dirty="0">
                <a:solidFill>
                  <a:srgbClr val="FF0000"/>
                </a:solidFill>
              </a:rPr>
              <a:t>로 중복처리</a:t>
            </a:r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-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여러대</a:t>
            </a:r>
            <a:r>
              <a:rPr kumimoji="1" lang="ko-KR" altLang="en-US" sz="600" dirty="0">
                <a:solidFill>
                  <a:srgbClr val="FF0000"/>
                </a:solidFill>
              </a:rPr>
              <a:t> 두기</a:t>
            </a:r>
            <a:r>
              <a:rPr kumimoji="1" lang="en-US" altLang="ko-KR" sz="600" dirty="0">
                <a:solidFill>
                  <a:srgbClr val="FF0000"/>
                </a:solidFill>
              </a:rPr>
              <a:t>(</a:t>
            </a:r>
            <a:r>
              <a:rPr kumimoji="1" lang="ko-KR" altLang="en-US" sz="600" dirty="0">
                <a:solidFill>
                  <a:srgbClr val="FF0000"/>
                </a:solidFill>
              </a:rPr>
              <a:t>추후예정</a:t>
            </a:r>
            <a:r>
              <a:rPr kumimoji="1" lang="en-US" altLang="ko-KR" sz="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kumimoji="1" lang="en-US" altLang="ko-KR" sz="600" dirty="0">
              <a:solidFill>
                <a:srgbClr val="FF0000"/>
              </a:solidFill>
            </a:endParaRP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1)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 err="1">
                <a:solidFill>
                  <a:srgbClr val="FF0000"/>
                </a:solidFill>
              </a:rPr>
              <a:t>에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붙어있는 상태에서 잠깐 죽는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>
                <a:solidFill>
                  <a:srgbClr val="FF0000"/>
                </a:solidFill>
              </a:rPr>
              <a:t>2</a:t>
            </a:r>
            <a:r>
              <a:rPr kumimoji="1" lang="ko-KR" altLang="en-US" sz="600" dirty="0">
                <a:solidFill>
                  <a:srgbClr val="FF0000"/>
                </a:solidFill>
              </a:rPr>
              <a:t>분 안에 돌아오면 유실</a:t>
            </a:r>
            <a:r>
              <a:rPr kumimoji="1" lang="en-US" altLang="ko-KR" sz="600" dirty="0">
                <a:solidFill>
                  <a:srgbClr val="FF0000"/>
                </a:solidFill>
              </a:rPr>
              <a:t>x</a:t>
            </a:r>
          </a:p>
          <a:p>
            <a:pPr algn="ctr"/>
            <a:r>
              <a:rPr kumimoji="1" lang="en-US" altLang="ko-KR" sz="600" dirty="0">
                <a:solidFill>
                  <a:srgbClr val="FF0000"/>
                </a:solidFill>
              </a:rPr>
              <a:t>2) Kafka</a:t>
            </a:r>
            <a:r>
              <a:rPr kumimoji="1" lang="ko-KR" altLang="en-US" sz="600" dirty="0">
                <a:solidFill>
                  <a:srgbClr val="FF0000"/>
                </a:solidFill>
              </a:rPr>
              <a:t>가 죽은 상태에서 </a:t>
            </a:r>
            <a:r>
              <a:rPr kumimoji="1" lang="en-US" altLang="ko-KR" sz="600" dirty="0">
                <a:solidFill>
                  <a:srgbClr val="FF0000"/>
                </a:solidFill>
              </a:rPr>
              <a:t>ad-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api</a:t>
            </a:r>
            <a:r>
              <a:rPr kumimoji="1" lang="ko-KR" altLang="en-US" sz="600" dirty="0">
                <a:solidFill>
                  <a:srgbClr val="FF0000"/>
                </a:solidFill>
              </a:rPr>
              <a:t> 켠 경우</a:t>
            </a:r>
            <a:r>
              <a:rPr kumimoji="1" lang="en-US" altLang="ko-KR" sz="600" dirty="0">
                <a:solidFill>
                  <a:srgbClr val="FF0000"/>
                </a:solidFill>
              </a:rPr>
              <a:t>: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r>
              <a:rPr kumimoji="1" lang="en-US" altLang="ko-KR" sz="600" dirty="0" err="1">
                <a:solidFill>
                  <a:srgbClr val="FF0000"/>
                </a:solidFill>
              </a:rPr>
              <a:t>max.block.ms</a:t>
            </a:r>
            <a:r>
              <a:rPr kumimoji="1" lang="ko-KR" altLang="en-US" sz="600" dirty="0">
                <a:solidFill>
                  <a:srgbClr val="FF0000"/>
                </a:solidFill>
              </a:rPr>
              <a:t>설정 </a:t>
            </a:r>
            <a:r>
              <a:rPr kumimoji="1" lang="en-US" altLang="ko-KR" sz="600" dirty="0">
                <a:solidFill>
                  <a:srgbClr val="FF0000"/>
                </a:solidFill>
              </a:rPr>
              <a:t>3</a:t>
            </a:r>
            <a:r>
              <a:rPr kumimoji="1" lang="ko-KR" altLang="en-US" sz="600" dirty="0">
                <a:solidFill>
                  <a:srgbClr val="FF0000"/>
                </a:solidFill>
              </a:rPr>
              <a:t>초씩 느려지고 이벤트 유실됨</a:t>
            </a:r>
            <a:r>
              <a:rPr kumimoji="1" lang="en-US" altLang="ko-KR" sz="600" dirty="0">
                <a:solidFill>
                  <a:srgbClr val="FF0000"/>
                </a:solidFill>
              </a:rPr>
              <a:t>.</a:t>
            </a:r>
            <a:r>
              <a:rPr kumimoji="1" lang="ko-KR" altLang="en-US" sz="600" dirty="0">
                <a:solidFill>
                  <a:srgbClr val="FF0000"/>
                </a:solidFill>
              </a:rPr>
              <a:t> </a:t>
            </a:r>
            <a:endParaRPr kumimoji="1" lang="en-US" altLang="ko-KR" sz="600" dirty="0">
              <a:solidFill>
                <a:srgbClr val="FF0000"/>
              </a:solidFill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68278B0C-522C-07F9-9C28-BBD0EF3149A1}"/>
              </a:ext>
            </a:extLst>
          </p:cNvPr>
          <p:cNvSpPr/>
          <p:nvPr/>
        </p:nvSpPr>
        <p:spPr>
          <a:xfrm>
            <a:off x="4422757" y="260015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Nginx/ad-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api.conf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778CD97F-F0E8-DC88-229E-0C780203B2AF}"/>
              </a:ext>
            </a:extLst>
          </p:cNvPr>
          <p:cNvSpPr/>
          <p:nvPr/>
        </p:nvSpPr>
        <p:spPr>
          <a:xfrm>
            <a:off x="4425815" y="664984"/>
            <a:ext cx="1494255" cy="28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dirty="0">
                <a:solidFill>
                  <a:sysClr val="windowText" lastClr="000000"/>
                </a:solidFill>
              </a:rPr>
              <a:t>Docker-</a:t>
            </a:r>
            <a:r>
              <a:rPr kumimoji="1" lang="en-US" altLang="ko-KR" sz="1000" dirty="0" err="1">
                <a:solidFill>
                  <a:sysClr val="windowText" lastClr="000000"/>
                </a:solidFill>
              </a:rPr>
              <a:t>compose.yml</a:t>
            </a:r>
            <a:endParaRPr kumimoji="1"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12" name="꺾인 연결선[E] 111">
            <a:extLst>
              <a:ext uri="{FF2B5EF4-FFF2-40B4-BE49-F238E27FC236}">
                <a16:creationId xmlns:a16="http://schemas.microsoft.com/office/drawing/2014/main" id="{C9CB3A3B-3401-2513-2893-8B85E6E56E24}"/>
              </a:ext>
            </a:extLst>
          </p:cNvPr>
          <p:cNvCxnSpPr>
            <a:cxnSpLocks/>
          </p:cNvCxnSpPr>
          <p:nvPr/>
        </p:nvCxnSpPr>
        <p:spPr>
          <a:xfrm>
            <a:off x="5917012" y="329675"/>
            <a:ext cx="1062742" cy="2644335"/>
          </a:xfrm>
          <a:prstGeom prst="bentConnector3">
            <a:avLst>
              <a:gd name="adj1" fmla="val 5769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681476C-0ECC-EC86-7725-6FE8B643EFD2}"/>
              </a:ext>
            </a:extLst>
          </p:cNvPr>
          <p:cNvCxnSpPr>
            <a:cxnSpLocks/>
            <a:stCxn id="7" idx="3"/>
            <a:endCxn id="35" idx="1"/>
          </p:cNvCxnSpPr>
          <p:nvPr/>
        </p:nvCxnSpPr>
        <p:spPr>
          <a:xfrm flipV="1">
            <a:off x="3080229" y="3048350"/>
            <a:ext cx="3899525" cy="21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2221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</TotalTime>
  <Words>350</Words>
  <Application>Microsoft Macintosh PowerPoint</Application>
  <PresentationFormat>와이드스크린</PresentationFormat>
  <Paragraphs>82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JUNHO JEONG</dc:creator>
  <cp:lastModifiedBy>JUNHO JEONG</cp:lastModifiedBy>
  <cp:revision>7</cp:revision>
  <dcterms:created xsi:type="dcterms:W3CDTF">2026-10-05T06:21:11Z</dcterms:created>
  <dcterms:modified xsi:type="dcterms:W3CDTF">2026-10-05T19:00:06Z</dcterms:modified>
</cp:coreProperties>
</file>