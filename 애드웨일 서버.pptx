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60" r:id="rId2"/>
    <p:sldId id="261" r:id="rId3"/>
    <p:sldId id="262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727"/>
    <p:restoredTop sz="96301"/>
  </p:normalViewPr>
  <p:slideViewPr>
    <p:cSldViewPr snapToGrid="0">
      <p:cViewPr>
        <p:scale>
          <a:sx n="100" d="100"/>
          <a:sy n="100" d="100"/>
        </p:scale>
        <p:origin x="2512" y="1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DA11D8-9FBF-BE45-8A5C-83720B617A33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12E87C-EAF6-AF46-88AE-5EAB464FB61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270233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EBFAA-990A-1A34-7BAC-45627785F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3DE641-E857-E19B-E818-C4DFAFE11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D98FF0-CE26-B19E-CA5C-66D11109BE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28A41C-7160-08C0-E373-A8936573C0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12E87C-EAF6-AF46-88AE-5EAB464FB610}" type="slidenum">
              <a:rPr kumimoji="1" lang="ko-KR" altLang="en-US" smtClean="0"/>
              <a:t>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884186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1EA4FF-6F54-74D2-F57B-C51F98C3D6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C5202CD-7131-125F-FB6B-6A0658CD93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19579B-F2C6-3BA1-02C4-C482C1E9B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4F2FA2-D147-B5F3-4B62-BB6692CC1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D7624F-919F-3437-BDCB-78EA7D4D6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94960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3CE2B9-DEF1-DE19-33B4-DAB9123FB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7BCF97-A3C4-7827-6D8A-855B53B854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998C97-EA0C-3F0E-BB9D-29862B8C2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FCB9FB-40B1-3359-A6AF-0E5033A53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0FDF0E-14D7-CEC1-6FEB-898EEF344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27303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174959-23CD-3F59-7351-C60FE667A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28F275E-D14B-0F40-20E0-76090974C9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39A50F-6874-0BC0-86FD-396EA6823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1AAF28-95C3-8F87-1D6B-99D8E7A4B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529926-C1E0-FC93-CB92-5B8DB61F9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17496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75495E-A641-2023-7899-F4322F559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44A2F3-416E-A4CA-E960-FA8826F55D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FB53E08-C80D-C16C-4F0E-EF21CE9751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6905E8-70C6-A8B9-0018-EE6A73833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9FA6333-5BB9-41A2-1312-E82756309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0EA8071-070B-D957-791B-F507729E4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61946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27B045-C1D5-CCFC-D7FE-6DF529D42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15CA93-5550-8752-85EA-2641D05480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6ADBAEC-8726-50B2-7724-00530F6F09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CB7A2E3-8347-5770-A5AD-B80EA9FB62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8B826D5-58E8-A994-256C-94064B8C4F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386C18A-B4B1-C513-FD1F-BB2438D8C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BA221F6-7DBA-96AA-CA3D-4925CDBED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704120-15B5-D9C4-BBA8-1FD246CA7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351243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06EB2B-BA6F-B39B-BC1F-E5A0FE480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A40521C-9D2C-8559-0577-74173C183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CC1C21F-01D5-F4B1-66D8-1C592691F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DB41971-F0CF-55B1-9894-3F1D08228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7809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1E24CF1-2367-388E-1D1A-73543F03A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205CEEF-3DB1-3DFD-5B46-062E046FE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D8326B-B2BC-C739-8C2C-E93CA4F06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07075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FF6803-D87C-988D-F672-41BEE73FB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F33964-669E-F95A-0CC6-981185D30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5486047-5FF2-1ED9-4895-8E3FC2F3A9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517F9C0-E4F7-FB98-8E50-1C2AB173A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F998565-7E7C-7822-D825-4EFB5FA7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F5F822D-0068-58E9-FE73-D6F39A571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495030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53565E-8010-A124-8F06-1020A94B5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3720711-8A96-30E8-9550-605C0EA042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9B6D178-4B58-2961-E31A-160A9083C3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5D2527-0777-AA11-D411-FCDA7D96D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39D660-44D8-A8DB-364D-3F3F6DDA1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2DAA84F-3636-A4F1-826F-351FD12AE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334931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B6FB15-6363-C1B1-0EEE-30F12D6E3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16F1C7F-3F63-9D54-411C-C731F9634A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4192CC-89F4-94F6-6848-BE9D8257C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21079B-DBE9-91A6-423D-89987EF4C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E6503C-C5E6-8329-E88E-D6911F06A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34804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6DF40D-B3F7-9770-08A5-9675FD80E1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DAC0941-4E78-56AE-5EC5-12200FB05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5E69A2-7170-F5AD-EE18-A2C702D48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81E34A2-05CE-CA64-DE3C-8E19BBDD3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B47011-5C3E-FB3C-91EF-E632983BC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260006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1991E4-CE26-5548-514A-D2EF8B88C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5C12C-C004-8DB5-E472-7D8AB9437B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89FD62-2BC9-83D5-D62B-4383403B3C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530043-4A54-4B4D-A28D-5D80F74C5AE8}" type="datetimeFigureOut">
              <a:rPr kumimoji="1" lang="ko-KR" altLang="en-US" smtClean="0"/>
              <a:t>2026. 10. 7.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654AB2-0EF8-9612-4935-1503B96245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DF44DF-7864-1381-5305-0A90252758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11081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22D5C-C64A-B400-553A-DB39B9F33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02FA2F0-C878-2C37-4ED1-DD3198747585}"/>
              </a:ext>
            </a:extLst>
          </p:cNvPr>
          <p:cNvSpPr/>
          <p:nvPr/>
        </p:nvSpPr>
        <p:spPr>
          <a:xfrm>
            <a:off x="1607065" y="7168"/>
            <a:ext cx="2253543" cy="682507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3</a:t>
            </a:r>
            <a:r>
              <a:rPr kumimoji="1" lang="en-US" altLang="ko-KR" sz="1000" baseline="30000" dirty="0">
                <a:solidFill>
                  <a:sysClr val="windowText" lastClr="000000"/>
                </a:solidFill>
              </a:rPr>
              <a:t>rd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party App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074865E-80E5-E54A-58A5-88F7C29116F6}"/>
              </a:ext>
            </a:extLst>
          </p:cNvPr>
          <p:cNvSpPr/>
          <p:nvPr/>
        </p:nvSpPr>
        <p:spPr>
          <a:xfrm>
            <a:off x="1852442" y="1130963"/>
            <a:ext cx="1743472" cy="56427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ko-KR" altLang="en-US" sz="1000" dirty="0">
                <a:solidFill>
                  <a:sysClr val="windowText" lastClr="000000"/>
                </a:solidFill>
              </a:rPr>
              <a:t>광고화면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22687AF-2272-8B78-048B-6889EDEEB6DD}"/>
              </a:ext>
            </a:extLst>
          </p:cNvPr>
          <p:cNvSpPr/>
          <p:nvPr/>
        </p:nvSpPr>
        <p:spPr>
          <a:xfrm>
            <a:off x="2144273" y="1359885"/>
            <a:ext cx="1198978" cy="39133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adwhale-sdk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F023171-2D14-24BD-4ADC-90CDD32FBC2D}"/>
              </a:ext>
            </a:extLst>
          </p:cNvPr>
          <p:cNvSpPr/>
          <p:nvPr/>
        </p:nvSpPr>
        <p:spPr>
          <a:xfrm>
            <a:off x="2366007" y="2872171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광고요청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4467D5F-2BD2-6DE9-5F5E-328EA13EE4AD}"/>
              </a:ext>
            </a:extLst>
          </p:cNvPr>
          <p:cNvSpPr/>
          <p:nvPr/>
        </p:nvSpPr>
        <p:spPr>
          <a:xfrm>
            <a:off x="2357897" y="3755998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광고응답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097BF48-3EAD-50E3-7126-6474220D3A7C}"/>
              </a:ext>
            </a:extLst>
          </p:cNvPr>
          <p:cNvSpPr/>
          <p:nvPr/>
        </p:nvSpPr>
        <p:spPr>
          <a:xfrm>
            <a:off x="4217718" y="17716"/>
            <a:ext cx="7957655" cy="682507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adwhale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-ad-platform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714D2B8-7B3D-0CD7-DC5F-A86F461F0811}"/>
              </a:ext>
            </a:extLst>
          </p:cNvPr>
          <p:cNvSpPr/>
          <p:nvPr/>
        </p:nvSpPr>
        <p:spPr>
          <a:xfrm>
            <a:off x="8279464" y="253549"/>
            <a:ext cx="3658947" cy="6954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ad-common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60173DF-571B-EC59-377E-D853D377990A}"/>
              </a:ext>
            </a:extLst>
          </p:cNvPr>
          <p:cNvSpPr/>
          <p:nvPr/>
        </p:nvSpPr>
        <p:spPr>
          <a:xfrm>
            <a:off x="8355773" y="525477"/>
            <a:ext cx="1146935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AdRequestEvent</a:t>
            </a:r>
            <a:endParaRPr kumimoji="1" lang="ko-KR" altLang="en-US" sz="1000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4FC20EC-7A43-9FE9-31B1-B4FA731457A2}"/>
              </a:ext>
            </a:extLst>
          </p:cNvPr>
          <p:cNvSpPr/>
          <p:nvPr/>
        </p:nvSpPr>
        <p:spPr>
          <a:xfrm>
            <a:off x="10706781" y="514699"/>
            <a:ext cx="1146935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AdTrackingEvent</a:t>
            </a:r>
            <a:endParaRPr kumimoji="1" lang="ko-KR" altLang="en-US" sz="1000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3212B9C-006F-ECA1-205D-3DD641F4079B}"/>
              </a:ext>
            </a:extLst>
          </p:cNvPr>
          <p:cNvSpPr/>
          <p:nvPr/>
        </p:nvSpPr>
        <p:spPr>
          <a:xfrm>
            <a:off x="9587404" y="520994"/>
            <a:ext cx="1034681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AdTopicEnum</a:t>
            </a:r>
            <a:endParaRPr kumimoji="1" lang="ko-KR" altLang="en-US" sz="10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140E1D3-5087-E6B5-AA1E-6F69B0D67300}"/>
              </a:ext>
            </a:extLst>
          </p:cNvPr>
          <p:cNvSpPr/>
          <p:nvPr/>
        </p:nvSpPr>
        <p:spPr>
          <a:xfrm>
            <a:off x="6746218" y="1127002"/>
            <a:ext cx="1732582" cy="5646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8ECC8901-BCF1-FCA3-9A6B-8085327C9881}"/>
              </a:ext>
            </a:extLst>
          </p:cNvPr>
          <p:cNvSpPr/>
          <p:nvPr/>
        </p:nvSpPr>
        <p:spPr>
          <a:xfrm>
            <a:off x="6979754" y="4793210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</a:t>
            </a:r>
            <a:endParaRPr kumimoji="1" lang="ko-KR" altLang="en-US" sz="1000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25540D59-A10A-9E87-B55D-7B6621B99AE8}"/>
              </a:ext>
            </a:extLst>
          </p:cNvPr>
          <p:cNvSpPr/>
          <p:nvPr/>
        </p:nvSpPr>
        <p:spPr>
          <a:xfrm>
            <a:off x="6979754" y="6300727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adwhale-kafka-ui</a:t>
            </a:r>
            <a:endParaRPr kumimoji="1" lang="ko-KR" altLang="en-US" sz="1000" dirty="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0A743D93-C8C5-4390-14C6-A5A8BBF3294E}"/>
              </a:ext>
            </a:extLst>
          </p:cNvPr>
          <p:cNvSpPr/>
          <p:nvPr/>
        </p:nvSpPr>
        <p:spPr>
          <a:xfrm>
            <a:off x="4422757" y="1127003"/>
            <a:ext cx="2023708" cy="424220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Port:8081)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1" name="원통[C] 10">
            <a:extLst>
              <a:ext uri="{FF2B5EF4-FFF2-40B4-BE49-F238E27FC236}">
                <a16:creationId xmlns:a16="http://schemas.microsoft.com/office/drawing/2014/main" id="{ECBCC3B1-F727-7040-CCF8-8B406BF3D23B}"/>
              </a:ext>
            </a:extLst>
          </p:cNvPr>
          <p:cNvSpPr/>
          <p:nvPr/>
        </p:nvSpPr>
        <p:spPr>
          <a:xfrm>
            <a:off x="4628169" y="1359885"/>
            <a:ext cx="1570244" cy="3913339"/>
          </a:xfrm>
          <a:prstGeom prst="can">
            <a:avLst>
              <a:gd name="adj" fmla="val 8809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</a:t>
            </a:r>
          </a:p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Server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C3DEF71-BD96-C6D4-2D89-9B2A01647A85}"/>
              </a:ext>
            </a:extLst>
          </p:cNvPr>
          <p:cNvSpPr/>
          <p:nvPr/>
        </p:nvSpPr>
        <p:spPr>
          <a:xfrm>
            <a:off x="4815608" y="3229620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AdController</a:t>
            </a:r>
            <a:endParaRPr kumimoji="1" lang="ko-KR" altLang="en-US" sz="10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1B22014-2D2E-514F-A180-6ABB706C0A74}"/>
              </a:ext>
            </a:extLst>
          </p:cNvPr>
          <p:cNvSpPr/>
          <p:nvPr/>
        </p:nvSpPr>
        <p:spPr>
          <a:xfrm>
            <a:off x="4815608" y="3755998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AdService</a:t>
            </a:r>
            <a:endParaRPr kumimoji="1" lang="ko-KR" altLang="en-US" sz="1000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B330FA9-D5E6-88BD-E4C8-668DC9158D01}"/>
              </a:ext>
            </a:extLst>
          </p:cNvPr>
          <p:cNvSpPr/>
          <p:nvPr/>
        </p:nvSpPr>
        <p:spPr>
          <a:xfrm>
            <a:off x="4815608" y="4282376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AdEventProducer</a:t>
            </a:r>
            <a:endParaRPr kumimoji="1" lang="ko-KR" altLang="en-US" sz="10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43C6061-CCD6-7BA0-E8AF-25A93C6D84E8}"/>
              </a:ext>
            </a:extLst>
          </p:cNvPr>
          <p:cNvSpPr/>
          <p:nvPr/>
        </p:nvSpPr>
        <p:spPr>
          <a:xfrm>
            <a:off x="4815608" y="2370731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AdApiApplication</a:t>
            </a:r>
            <a:endParaRPr kumimoji="1" lang="ko-KR" altLang="en-US" sz="1000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2E9C2B30-0E9E-0B35-8891-E35AC6F79F28}"/>
              </a:ext>
            </a:extLst>
          </p:cNvPr>
          <p:cNvCxnSpPr>
            <a:stCxn id="18" idx="2"/>
            <a:endCxn id="15" idx="0"/>
          </p:cNvCxnSpPr>
          <p:nvPr/>
        </p:nvCxnSpPr>
        <p:spPr>
          <a:xfrm>
            <a:off x="5414386" y="2727412"/>
            <a:ext cx="0" cy="502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86399682-A35A-0FCE-CC1C-407F4EBA0C86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5414386" y="3586301"/>
            <a:ext cx="0" cy="16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AD5001B0-7D3B-7258-76CB-6CD32CF29556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5414386" y="4112679"/>
            <a:ext cx="0" cy="16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F82D5061-3EA6-45D9-411B-BF8740B99566}"/>
              </a:ext>
            </a:extLst>
          </p:cNvPr>
          <p:cNvCxnSpPr>
            <a:cxnSpLocks/>
            <a:stCxn id="16" idx="1"/>
            <a:endCxn id="8" idx="3"/>
          </p:cNvCxnSpPr>
          <p:nvPr/>
        </p:nvCxnSpPr>
        <p:spPr>
          <a:xfrm flipH="1">
            <a:off x="3072119" y="3934339"/>
            <a:ext cx="17434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E0A0BD0C-692C-DD64-FFAD-0382A14A26B0}"/>
              </a:ext>
            </a:extLst>
          </p:cNvPr>
          <p:cNvSpPr txBox="1"/>
          <p:nvPr/>
        </p:nvSpPr>
        <p:spPr>
          <a:xfrm>
            <a:off x="3635145" y="2869371"/>
            <a:ext cx="179247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[POST] Http://localhost:8080/v1/ad/request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5B8A15-69BB-39CA-211C-3A803EBCA4F0}"/>
              </a:ext>
            </a:extLst>
          </p:cNvPr>
          <p:cNvSpPr txBox="1"/>
          <p:nvPr/>
        </p:nvSpPr>
        <p:spPr>
          <a:xfrm>
            <a:off x="3771875" y="3746230"/>
            <a:ext cx="5357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JSON</a:t>
            </a:r>
            <a:r>
              <a:rPr kumimoji="1" lang="ko-KR" altLang="en-US" sz="600" b="1" dirty="0">
                <a:solidFill>
                  <a:schemeClr val="accent2"/>
                </a:solidFill>
              </a:rPr>
              <a:t>객체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DB05BF5-390C-AC04-2988-431CBFC5838A}"/>
              </a:ext>
            </a:extLst>
          </p:cNvPr>
          <p:cNvCxnSpPr>
            <a:cxnSpLocks/>
            <a:endCxn id="67" idx="0"/>
          </p:cNvCxnSpPr>
          <p:nvPr/>
        </p:nvCxnSpPr>
        <p:spPr>
          <a:xfrm>
            <a:off x="5413291" y="4639057"/>
            <a:ext cx="1095" cy="1512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126C8784-A7D8-AB27-74A8-BCEFFA9DDDC8}"/>
              </a:ext>
            </a:extLst>
          </p:cNvPr>
          <p:cNvSpPr/>
          <p:nvPr/>
        </p:nvSpPr>
        <p:spPr>
          <a:xfrm>
            <a:off x="4815608" y="4790342"/>
            <a:ext cx="1197556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kafka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B5CCFD13-1B62-1593-1A70-C6FD858C716D}"/>
              </a:ext>
            </a:extLst>
          </p:cNvPr>
          <p:cNvCxnSpPr>
            <a:cxnSpLocks/>
            <a:stCxn id="67" idx="3"/>
            <a:endCxn id="56" idx="1"/>
          </p:cNvCxnSpPr>
          <p:nvPr/>
        </p:nvCxnSpPr>
        <p:spPr>
          <a:xfrm flipV="1">
            <a:off x="6013164" y="4971551"/>
            <a:ext cx="966590" cy="5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30B49C19-D250-78C7-F800-8170C8B81521}"/>
              </a:ext>
            </a:extLst>
          </p:cNvPr>
          <p:cNvSpPr/>
          <p:nvPr/>
        </p:nvSpPr>
        <p:spPr>
          <a:xfrm>
            <a:off x="8776730" y="1127002"/>
            <a:ext cx="3157567" cy="5646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ad-log-consumer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2" name="원통[C] 11">
            <a:extLst>
              <a:ext uri="{FF2B5EF4-FFF2-40B4-BE49-F238E27FC236}">
                <a16:creationId xmlns:a16="http://schemas.microsoft.com/office/drawing/2014/main" id="{B2CBCF5E-6614-8806-8182-00D0EEE4CF75}"/>
              </a:ext>
            </a:extLst>
          </p:cNvPr>
          <p:cNvSpPr/>
          <p:nvPr/>
        </p:nvSpPr>
        <p:spPr>
          <a:xfrm>
            <a:off x="9004167" y="1359885"/>
            <a:ext cx="1426977" cy="5348485"/>
          </a:xfrm>
          <a:prstGeom prst="can">
            <a:avLst>
              <a:gd name="adj" fmla="val 8527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ad-log-consumer Kafka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7AD25AC-CB04-0095-784D-3B2CE6D4BC55}"/>
              </a:ext>
            </a:extLst>
          </p:cNvPr>
          <p:cNvSpPr/>
          <p:nvPr/>
        </p:nvSpPr>
        <p:spPr>
          <a:xfrm>
            <a:off x="9144485" y="5306481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AdLogConsumer</a:t>
            </a:r>
            <a:endParaRPr kumimoji="1" lang="ko-KR" altLang="en-US" sz="10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D39A11A-DF74-659F-423C-498E3E32013B}"/>
              </a:ext>
            </a:extLst>
          </p:cNvPr>
          <p:cNvSpPr/>
          <p:nvPr/>
        </p:nvSpPr>
        <p:spPr>
          <a:xfrm>
            <a:off x="9144486" y="1898251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AdLogConsumerApplication</a:t>
            </a:r>
            <a:endParaRPr kumimoji="1" lang="ko-KR" altLang="en-US" sz="1000" dirty="0"/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9550ECAA-105C-6765-CEBC-B46F0DA13082}"/>
              </a:ext>
            </a:extLst>
          </p:cNvPr>
          <p:cNvCxnSpPr>
            <a:cxnSpLocks/>
            <a:stCxn id="23" idx="2"/>
            <a:endCxn id="70" idx="0"/>
          </p:cNvCxnSpPr>
          <p:nvPr/>
        </p:nvCxnSpPr>
        <p:spPr>
          <a:xfrm flipH="1">
            <a:off x="9722797" y="2254932"/>
            <a:ext cx="1" cy="2535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2C697AC-317A-391D-1990-A71B157683D2}"/>
              </a:ext>
            </a:extLst>
          </p:cNvPr>
          <p:cNvSpPr/>
          <p:nvPr/>
        </p:nvSpPr>
        <p:spPr>
          <a:xfrm>
            <a:off x="9144485" y="6300727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AdLogFileWriter</a:t>
            </a:r>
            <a:endParaRPr kumimoji="1" lang="ko-KR" altLang="en-US" sz="1000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F56297CC-53FA-2525-D9BB-7203FA0DDE83}"/>
              </a:ext>
            </a:extLst>
          </p:cNvPr>
          <p:cNvCxnSpPr>
            <a:cxnSpLocks/>
            <a:stCxn id="22" idx="2"/>
            <a:endCxn id="132" idx="0"/>
          </p:cNvCxnSpPr>
          <p:nvPr/>
        </p:nvCxnSpPr>
        <p:spPr>
          <a:xfrm>
            <a:off x="9722797" y="5663162"/>
            <a:ext cx="1920" cy="1386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A13435BD-62E1-4E64-11F8-899BFD4FB1F4}"/>
              </a:ext>
            </a:extLst>
          </p:cNvPr>
          <p:cNvSpPr/>
          <p:nvPr/>
        </p:nvSpPr>
        <p:spPr>
          <a:xfrm>
            <a:off x="9134252" y="4790342"/>
            <a:ext cx="1177090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kafka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80DFA524-7489-C0A1-94E1-B25C705326A6}"/>
              </a:ext>
            </a:extLst>
          </p:cNvPr>
          <p:cNvCxnSpPr>
            <a:cxnSpLocks/>
            <a:stCxn id="70" idx="2"/>
            <a:endCxn id="22" idx="0"/>
          </p:cNvCxnSpPr>
          <p:nvPr/>
        </p:nvCxnSpPr>
        <p:spPr>
          <a:xfrm>
            <a:off x="9722797" y="5163343"/>
            <a:ext cx="0" cy="143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12202A60-798B-7900-A00C-FCBE54848E9F}"/>
              </a:ext>
            </a:extLst>
          </p:cNvPr>
          <p:cNvCxnSpPr>
            <a:cxnSpLocks/>
            <a:stCxn id="56" idx="3"/>
            <a:endCxn id="70" idx="1"/>
          </p:cNvCxnSpPr>
          <p:nvPr/>
        </p:nvCxnSpPr>
        <p:spPr>
          <a:xfrm>
            <a:off x="8276646" y="4971551"/>
            <a:ext cx="857606" cy="5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92FEE07-55FA-970F-C72F-09B203347946}"/>
              </a:ext>
            </a:extLst>
          </p:cNvPr>
          <p:cNvCxnSpPr>
            <a:cxnSpLocks/>
            <a:stCxn id="25" idx="3"/>
            <a:endCxn id="28" idx="1"/>
          </p:cNvCxnSpPr>
          <p:nvPr/>
        </p:nvCxnSpPr>
        <p:spPr>
          <a:xfrm>
            <a:off x="10301109" y="6479068"/>
            <a:ext cx="211798" cy="2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8CFD409F-6930-3F1F-E177-CEEF42C77815}"/>
              </a:ext>
            </a:extLst>
          </p:cNvPr>
          <p:cNvSpPr txBox="1"/>
          <p:nvPr/>
        </p:nvSpPr>
        <p:spPr>
          <a:xfrm>
            <a:off x="5905965" y="4784122"/>
            <a:ext cx="1192955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SEND KAFKA EVENT (9092)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9257EFA-4C56-5D11-26AE-883AFEED43F5}"/>
              </a:ext>
            </a:extLst>
          </p:cNvPr>
          <p:cNvSpPr txBox="1"/>
          <p:nvPr/>
        </p:nvSpPr>
        <p:spPr>
          <a:xfrm>
            <a:off x="8192597" y="4782401"/>
            <a:ext cx="106792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KAFKA LISTENER (9092)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5F84B25-8FB3-AE62-E50C-DDBBA00C80FF}"/>
              </a:ext>
            </a:extLst>
          </p:cNvPr>
          <p:cNvSpPr/>
          <p:nvPr/>
        </p:nvSpPr>
        <p:spPr>
          <a:xfrm>
            <a:off x="6973308" y="1359885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adwhale-kafka-init</a:t>
            </a:r>
            <a:endParaRPr kumimoji="1" lang="ko-KR" altLang="en-US" sz="1000" dirty="0"/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4C625F92-E8F0-A304-645A-75948EB6B4D5}"/>
              </a:ext>
            </a:extLst>
          </p:cNvPr>
          <p:cNvCxnSpPr>
            <a:cxnSpLocks/>
          </p:cNvCxnSpPr>
          <p:nvPr/>
        </p:nvCxnSpPr>
        <p:spPr>
          <a:xfrm>
            <a:off x="7546937" y="1716566"/>
            <a:ext cx="0" cy="30658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타원 73">
            <a:extLst>
              <a:ext uri="{FF2B5EF4-FFF2-40B4-BE49-F238E27FC236}">
                <a16:creationId xmlns:a16="http://schemas.microsoft.com/office/drawing/2014/main" id="{85A0CD39-6FA4-2A59-54F8-90AB30B6053F}"/>
              </a:ext>
            </a:extLst>
          </p:cNvPr>
          <p:cNvSpPr/>
          <p:nvPr/>
        </p:nvSpPr>
        <p:spPr>
          <a:xfrm>
            <a:off x="694547" y="1410635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46A03EB0-237B-E888-724D-6651641AB30C}"/>
              </a:ext>
            </a:extLst>
          </p:cNvPr>
          <p:cNvSpPr/>
          <p:nvPr/>
        </p:nvSpPr>
        <p:spPr>
          <a:xfrm>
            <a:off x="694547" y="1949000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B037854B-8B3C-7732-8E0C-B7C4816E8C9C}"/>
              </a:ext>
            </a:extLst>
          </p:cNvPr>
          <p:cNvSpPr/>
          <p:nvPr/>
        </p:nvSpPr>
        <p:spPr>
          <a:xfrm>
            <a:off x="694547" y="2421480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DC8683B8-90CF-616A-5870-13A2C53206F7}"/>
              </a:ext>
            </a:extLst>
          </p:cNvPr>
          <p:cNvCxnSpPr>
            <a:cxnSpLocks/>
            <a:stCxn id="74" idx="6"/>
            <a:endCxn id="68" idx="1"/>
          </p:cNvCxnSpPr>
          <p:nvPr/>
        </p:nvCxnSpPr>
        <p:spPr>
          <a:xfrm>
            <a:off x="928463" y="1538226"/>
            <a:ext cx="604484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4B06D1AB-684F-BA19-5B4A-568CB8091EC7}"/>
              </a:ext>
            </a:extLst>
          </p:cNvPr>
          <p:cNvCxnSpPr>
            <a:cxnSpLocks/>
            <a:stCxn id="75" idx="6"/>
            <a:endCxn id="23" idx="1"/>
          </p:cNvCxnSpPr>
          <p:nvPr/>
        </p:nvCxnSpPr>
        <p:spPr>
          <a:xfrm>
            <a:off x="928463" y="2076591"/>
            <a:ext cx="8216023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3EBA30F7-F9F6-BB73-CB3C-6553F6C22CF9}"/>
              </a:ext>
            </a:extLst>
          </p:cNvPr>
          <p:cNvCxnSpPr>
            <a:cxnSpLocks/>
            <a:stCxn id="76" idx="6"/>
            <a:endCxn id="18" idx="1"/>
          </p:cNvCxnSpPr>
          <p:nvPr/>
        </p:nvCxnSpPr>
        <p:spPr>
          <a:xfrm>
            <a:off x="928463" y="2549071"/>
            <a:ext cx="3887145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타원 91">
            <a:extLst>
              <a:ext uri="{FF2B5EF4-FFF2-40B4-BE49-F238E27FC236}">
                <a16:creationId xmlns:a16="http://schemas.microsoft.com/office/drawing/2014/main" id="{F0C6756E-90CD-597C-0EA9-149D702906E4}"/>
              </a:ext>
            </a:extLst>
          </p:cNvPr>
          <p:cNvSpPr/>
          <p:nvPr/>
        </p:nvSpPr>
        <p:spPr>
          <a:xfrm>
            <a:off x="694547" y="2922921"/>
            <a:ext cx="233916" cy="255181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770DD9A-C129-D9CD-A8C5-25A4456FD0FD}"/>
              </a:ext>
            </a:extLst>
          </p:cNvPr>
          <p:cNvCxnSpPr>
            <a:cxnSpLocks/>
            <a:stCxn id="92" idx="6"/>
            <a:endCxn id="7" idx="1"/>
          </p:cNvCxnSpPr>
          <p:nvPr/>
        </p:nvCxnSpPr>
        <p:spPr>
          <a:xfrm>
            <a:off x="928463" y="3050512"/>
            <a:ext cx="1437544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타원 96">
            <a:extLst>
              <a:ext uri="{FF2B5EF4-FFF2-40B4-BE49-F238E27FC236}">
                <a16:creationId xmlns:a16="http://schemas.microsoft.com/office/drawing/2014/main" id="{4C5B3210-80E4-4C06-74D2-980D5FF9B082}"/>
              </a:ext>
            </a:extLst>
          </p:cNvPr>
          <p:cNvSpPr/>
          <p:nvPr/>
        </p:nvSpPr>
        <p:spPr>
          <a:xfrm>
            <a:off x="694547" y="6351476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089AA81D-5B52-8B09-5B0E-10D8678538E6}"/>
              </a:ext>
            </a:extLst>
          </p:cNvPr>
          <p:cNvCxnSpPr>
            <a:cxnSpLocks/>
            <a:stCxn id="97" idx="6"/>
            <a:endCxn id="58" idx="1"/>
          </p:cNvCxnSpPr>
          <p:nvPr/>
        </p:nvCxnSpPr>
        <p:spPr>
          <a:xfrm>
            <a:off x="928463" y="6479067"/>
            <a:ext cx="6051291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B1EAFE7C-77A3-AA8B-3E68-F3216C914CEA}"/>
              </a:ext>
            </a:extLst>
          </p:cNvPr>
          <p:cNvSpPr/>
          <p:nvPr/>
        </p:nvSpPr>
        <p:spPr>
          <a:xfrm>
            <a:off x="2357897" y="4282374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광고노출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6DC8B0BC-0FDF-DD2F-A9F6-1FCEEB85082E}"/>
              </a:ext>
            </a:extLst>
          </p:cNvPr>
          <p:cNvCxnSpPr>
            <a:cxnSpLocks/>
            <a:stCxn id="8" idx="2"/>
            <a:endCxn id="102" idx="0"/>
          </p:cNvCxnSpPr>
          <p:nvPr/>
        </p:nvCxnSpPr>
        <p:spPr>
          <a:xfrm>
            <a:off x="2715008" y="4112679"/>
            <a:ext cx="0" cy="16969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5AAEC9DF-33C0-B5DD-4C65-6373843178C7}"/>
              </a:ext>
            </a:extLst>
          </p:cNvPr>
          <p:cNvSpPr/>
          <p:nvPr/>
        </p:nvSpPr>
        <p:spPr>
          <a:xfrm>
            <a:off x="2364543" y="4817395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광고클릭</a:t>
            </a: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BA99CDB8-20C3-471A-B592-723B8434DA9C}"/>
              </a:ext>
            </a:extLst>
          </p:cNvPr>
          <p:cNvSpPr/>
          <p:nvPr/>
        </p:nvSpPr>
        <p:spPr>
          <a:xfrm>
            <a:off x="694547" y="4868349"/>
            <a:ext cx="233916" cy="255181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25898DC2-7CE0-F984-BBE3-01A7C515B98C}"/>
              </a:ext>
            </a:extLst>
          </p:cNvPr>
          <p:cNvCxnSpPr>
            <a:cxnSpLocks/>
            <a:stCxn id="108" idx="6"/>
            <a:endCxn id="107" idx="1"/>
          </p:cNvCxnSpPr>
          <p:nvPr/>
        </p:nvCxnSpPr>
        <p:spPr>
          <a:xfrm flipV="1">
            <a:off x="928463" y="4995736"/>
            <a:ext cx="1436080" cy="20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DC00F94C-8368-299B-B2D1-DFBDD3F4274E}"/>
              </a:ext>
            </a:extLst>
          </p:cNvPr>
          <p:cNvSpPr txBox="1"/>
          <p:nvPr/>
        </p:nvSpPr>
        <p:spPr>
          <a:xfrm>
            <a:off x="-44759" y="1680320"/>
            <a:ext cx="16177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1.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Kafka</a:t>
            </a:r>
            <a:r>
              <a:rPr kumimoji="1" lang="ko-KR" altLang="en-US" sz="1000" dirty="0">
                <a:solidFill>
                  <a:srgbClr val="0070C0"/>
                </a:solidFill>
              </a:rPr>
              <a:t> 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9092)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0D3C74B-31C1-EF98-3C6F-E7F26E1489E7}"/>
              </a:ext>
            </a:extLst>
          </p:cNvPr>
          <p:cNvSpPr txBox="1"/>
          <p:nvPr/>
        </p:nvSpPr>
        <p:spPr>
          <a:xfrm>
            <a:off x="-43702" y="2199987"/>
            <a:ext cx="18069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2.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ad-log-consumer </a:t>
            </a:r>
            <a:r>
              <a:rPr kumimoji="1" lang="ko-KR" altLang="en-US" sz="1000" dirty="0">
                <a:solidFill>
                  <a:srgbClr val="0070C0"/>
                </a:solidFill>
              </a:rPr>
              <a:t>앱 기동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B89B790-3BDA-1D25-254F-A1922CD6A095}"/>
              </a:ext>
            </a:extLst>
          </p:cNvPr>
          <p:cNvSpPr txBox="1"/>
          <p:nvPr/>
        </p:nvSpPr>
        <p:spPr>
          <a:xfrm>
            <a:off x="-42213" y="2694194"/>
            <a:ext cx="19784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3.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</a:t>
            </a:r>
            <a:r>
              <a:rPr kumimoji="1" lang="en-US" altLang="ko-KR" sz="1000" dirty="0" err="1">
                <a:solidFill>
                  <a:srgbClr val="0070C0"/>
                </a:solidFill>
              </a:rPr>
              <a:t>api</a:t>
            </a:r>
            <a:r>
              <a:rPr kumimoji="1" lang="en-US" altLang="ko-KR" sz="1000" dirty="0">
                <a:solidFill>
                  <a:srgbClr val="0070C0"/>
                </a:solidFill>
              </a:rPr>
              <a:t> </a:t>
            </a:r>
            <a:r>
              <a:rPr kumimoji="1" lang="ko-KR" altLang="en-US" sz="1000" dirty="0">
                <a:solidFill>
                  <a:srgbClr val="0070C0"/>
                </a:solidFill>
              </a:rPr>
              <a:t>서버 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8080)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BDEA7A5-64E7-E897-E1FB-7BD19DBC97A3}"/>
              </a:ext>
            </a:extLst>
          </p:cNvPr>
          <p:cNvSpPr txBox="1"/>
          <p:nvPr/>
        </p:nvSpPr>
        <p:spPr>
          <a:xfrm>
            <a:off x="313059" y="3190118"/>
            <a:ext cx="11432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chemeClr val="accent2"/>
                </a:solidFill>
              </a:rPr>
              <a:t>4.</a:t>
            </a:r>
            <a:r>
              <a:rPr kumimoji="1" lang="ko-KR" altLang="en-US" sz="1000" dirty="0">
                <a:solidFill>
                  <a:schemeClr val="accent2"/>
                </a:solidFill>
              </a:rPr>
              <a:t> 광고화면 진입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082A71D-B4DE-A826-A2CD-3C692E01569E}"/>
              </a:ext>
            </a:extLst>
          </p:cNvPr>
          <p:cNvSpPr txBox="1"/>
          <p:nvPr/>
        </p:nvSpPr>
        <p:spPr>
          <a:xfrm>
            <a:off x="313059" y="5122984"/>
            <a:ext cx="11432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chemeClr val="accent2"/>
                </a:solidFill>
              </a:rPr>
              <a:t>5.</a:t>
            </a:r>
            <a:r>
              <a:rPr kumimoji="1" lang="ko-KR" altLang="en-US" sz="1000" dirty="0">
                <a:solidFill>
                  <a:schemeClr val="accent2"/>
                </a:solidFill>
              </a:rPr>
              <a:t> 광고화면 클릭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774C100-BF3F-6700-9558-DCB1AE680598}"/>
              </a:ext>
            </a:extLst>
          </p:cNvPr>
          <p:cNvSpPr txBox="1"/>
          <p:nvPr/>
        </p:nvSpPr>
        <p:spPr>
          <a:xfrm>
            <a:off x="-45282" y="6612065"/>
            <a:ext cx="18133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6.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Kafka </a:t>
            </a:r>
            <a:r>
              <a:rPr kumimoji="1" lang="en-US" altLang="ko-KR" sz="1000" dirty="0" err="1">
                <a:solidFill>
                  <a:srgbClr val="0070C0"/>
                </a:solidFill>
              </a:rPr>
              <a:t>ui</a:t>
            </a:r>
            <a:r>
              <a:rPr kumimoji="1" lang="en-US" altLang="ko-KR" sz="1000" dirty="0">
                <a:solidFill>
                  <a:srgbClr val="0070C0"/>
                </a:solidFill>
              </a:rPr>
              <a:t> </a:t>
            </a:r>
            <a:r>
              <a:rPr kumimoji="1" lang="ko-KR" altLang="en-US" sz="1000" dirty="0">
                <a:solidFill>
                  <a:srgbClr val="0070C0"/>
                </a:solidFill>
              </a:rPr>
              <a:t>접속 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8989)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783DA7BB-2D55-9C50-5B4E-752101F95A2F}"/>
              </a:ext>
            </a:extLst>
          </p:cNvPr>
          <p:cNvSpPr/>
          <p:nvPr/>
        </p:nvSpPr>
        <p:spPr>
          <a:xfrm>
            <a:off x="7020965" y="260017"/>
            <a:ext cx="1128772" cy="6889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Settings.gradle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122" name="꺾인 연결선[E] 121">
            <a:extLst>
              <a:ext uri="{FF2B5EF4-FFF2-40B4-BE49-F238E27FC236}">
                <a16:creationId xmlns:a16="http://schemas.microsoft.com/office/drawing/2014/main" id="{5003CA33-3704-390F-70EE-81040E54023C}"/>
              </a:ext>
            </a:extLst>
          </p:cNvPr>
          <p:cNvCxnSpPr>
            <a:cxnSpLocks/>
            <a:stCxn id="120" idx="2"/>
            <a:endCxn id="61" idx="0"/>
          </p:cNvCxnSpPr>
          <p:nvPr/>
        </p:nvCxnSpPr>
        <p:spPr>
          <a:xfrm rot="5400000">
            <a:off x="6420968" y="-37380"/>
            <a:ext cx="178026" cy="2150740"/>
          </a:xfrm>
          <a:prstGeom prst="bentConnector3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꺾인 연결선[E] 122">
            <a:extLst>
              <a:ext uri="{FF2B5EF4-FFF2-40B4-BE49-F238E27FC236}">
                <a16:creationId xmlns:a16="http://schemas.microsoft.com/office/drawing/2014/main" id="{3F0EB074-7D9C-AA47-1E49-61C02CBB3242}"/>
              </a:ext>
            </a:extLst>
          </p:cNvPr>
          <p:cNvCxnSpPr>
            <a:cxnSpLocks/>
            <a:stCxn id="120" idx="2"/>
            <a:endCxn id="62" idx="0"/>
          </p:cNvCxnSpPr>
          <p:nvPr/>
        </p:nvCxnSpPr>
        <p:spPr>
          <a:xfrm rot="16200000" flipH="1">
            <a:off x="8881420" y="-347093"/>
            <a:ext cx="178025" cy="2770163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1185221E-A66B-B19D-4D5A-F41EF96DDC42}"/>
              </a:ext>
            </a:extLst>
          </p:cNvPr>
          <p:cNvCxnSpPr>
            <a:cxnSpLocks/>
            <a:stCxn id="120" idx="3"/>
            <a:endCxn id="30" idx="1"/>
          </p:cNvCxnSpPr>
          <p:nvPr/>
        </p:nvCxnSpPr>
        <p:spPr>
          <a:xfrm flipV="1">
            <a:off x="8149737" y="601263"/>
            <a:ext cx="129727" cy="323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꺾인 연결선[E] 129">
            <a:extLst>
              <a:ext uri="{FF2B5EF4-FFF2-40B4-BE49-F238E27FC236}">
                <a16:creationId xmlns:a16="http://schemas.microsoft.com/office/drawing/2014/main" id="{038F9F55-74AC-2230-2BF1-F7303D9EFEF2}"/>
              </a:ext>
            </a:extLst>
          </p:cNvPr>
          <p:cNvCxnSpPr>
            <a:cxnSpLocks/>
            <a:stCxn id="106" idx="3"/>
            <a:endCxn id="52" idx="1"/>
          </p:cNvCxnSpPr>
          <p:nvPr/>
        </p:nvCxnSpPr>
        <p:spPr>
          <a:xfrm>
            <a:off x="5920070" y="808984"/>
            <a:ext cx="826148" cy="314140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C59878EF-4F8E-63E1-049D-71F87A39D816}"/>
              </a:ext>
            </a:extLst>
          </p:cNvPr>
          <p:cNvSpPr txBox="1"/>
          <p:nvPr/>
        </p:nvSpPr>
        <p:spPr>
          <a:xfrm>
            <a:off x="3657468" y="3937986"/>
            <a:ext cx="74571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requestId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adId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placementUid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creativeUrl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landingUrl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C932101F-647F-0413-D112-ECFAC1E72E41}"/>
              </a:ext>
            </a:extLst>
          </p:cNvPr>
          <p:cNvSpPr/>
          <p:nvPr/>
        </p:nvSpPr>
        <p:spPr>
          <a:xfrm>
            <a:off x="9146405" y="5801853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KafkaErrorConfig</a:t>
            </a:r>
            <a:endParaRPr kumimoji="1" lang="en-US" altLang="ko-KR" sz="1000" dirty="0"/>
          </a:p>
          <a:p>
            <a:pPr algn="ctr"/>
            <a:r>
              <a:rPr kumimoji="1" lang="en-US" altLang="ko-KR" sz="1000" dirty="0"/>
              <a:t>(DLQ)</a:t>
            </a:r>
            <a:endParaRPr kumimoji="1" lang="ko-KR" altLang="en-US" sz="10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D1DECA1-2F5B-36DE-A28A-3551B9DF7BE1}"/>
              </a:ext>
            </a:extLst>
          </p:cNvPr>
          <p:cNvSpPr/>
          <p:nvPr/>
        </p:nvSpPr>
        <p:spPr>
          <a:xfrm>
            <a:off x="10512907" y="6303047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*-{topic</a:t>
            </a:r>
            <a:r>
              <a:rPr kumimoji="1" lang="ko-KR" altLang="en-US" sz="1000" dirty="0"/>
              <a:t>명</a:t>
            </a:r>
            <a:r>
              <a:rPr kumimoji="1" lang="en-US" altLang="ko-KR" sz="1000" dirty="0"/>
              <a:t>}.log</a:t>
            </a:r>
            <a:endParaRPr kumimoji="1" lang="ko-KR" altLang="en-US" sz="1000" dirty="0"/>
          </a:p>
        </p:txBody>
      </p:sp>
      <p:sp>
        <p:nvSpPr>
          <p:cNvPr id="142" name="직사각형 141">
            <a:extLst>
              <a:ext uri="{FF2B5EF4-FFF2-40B4-BE49-F238E27FC236}">
                <a16:creationId xmlns:a16="http://schemas.microsoft.com/office/drawing/2014/main" id="{C676B95D-B3C5-75AA-ACB8-E8107BB68565}"/>
              </a:ext>
            </a:extLst>
          </p:cNvPr>
          <p:cNvSpPr/>
          <p:nvPr/>
        </p:nvSpPr>
        <p:spPr>
          <a:xfrm>
            <a:off x="6979754" y="5801852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ad-request-dlq-0/*.log</a:t>
            </a:r>
            <a:endParaRPr kumimoji="1" lang="ko-KR" altLang="en-US" sz="1000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E25B59EC-8F3B-9796-6DCF-BF15EBB16A16}"/>
              </a:ext>
            </a:extLst>
          </p:cNvPr>
          <p:cNvSpPr/>
          <p:nvPr/>
        </p:nvSpPr>
        <p:spPr>
          <a:xfrm>
            <a:off x="6979754" y="5306481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ad-request-0/*.log</a:t>
            </a:r>
            <a:endParaRPr kumimoji="1"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315D05E-CBA2-001B-419F-F7D190FAC3EF}"/>
              </a:ext>
            </a:extLst>
          </p:cNvPr>
          <p:cNvCxnSpPr>
            <a:cxnSpLocks/>
            <a:stCxn id="56" idx="2"/>
            <a:endCxn id="49" idx="0"/>
          </p:cNvCxnSpPr>
          <p:nvPr/>
        </p:nvCxnSpPr>
        <p:spPr>
          <a:xfrm>
            <a:off x="7628200" y="5149891"/>
            <a:ext cx="0" cy="156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5" name="꺾인 연결선[E] 94">
            <a:extLst>
              <a:ext uri="{FF2B5EF4-FFF2-40B4-BE49-F238E27FC236}">
                <a16:creationId xmlns:a16="http://schemas.microsoft.com/office/drawing/2014/main" id="{A49192F2-1769-6902-0647-06B88D580DAC}"/>
              </a:ext>
            </a:extLst>
          </p:cNvPr>
          <p:cNvCxnSpPr>
            <a:cxnSpLocks/>
            <a:stCxn id="132" idx="3"/>
            <a:endCxn id="56" idx="0"/>
          </p:cNvCxnSpPr>
          <p:nvPr/>
        </p:nvCxnSpPr>
        <p:spPr>
          <a:xfrm flipH="1" flipV="1">
            <a:off x="7628200" y="4793210"/>
            <a:ext cx="2674829" cy="1186984"/>
          </a:xfrm>
          <a:prstGeom prst="bentConnector4">
            <a:avLst>
              <a:gd name="adj1" fmla="val -8546"/>
              <a:gd name="adj2" fmla="val 119259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CA3412DF-BD23-7D75-AB04-6BBC97F64E39}"/>
              </a:ext>
            </a:extLst>
          </p:cNvPr>
          <p:cNvCxnSpPr>
            <a:cxnSpLocks/>
          </p:cNvCxnSpPr>
          <p:nvPr/>
        </p:nvCxnSpPr>
        <p:spPr>
          <a:xfrm>
            <a:off x="8276646" y="5021429"/>
            <a:ext cx="12700" cy="1008642"/>
          </a:xfrm>
          <a:prstGeom prst="bentConnector3">
            <a:avLst>
              <a:gd name="adj1" fmla="val 883638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11" name="꺾인 연결선[E] 110">
            <a:extLst>
              <a:ext uri="{FF2B5EF4-FFF2-40B4-BE49-F238E27FC236}">
                <a16:creationId xmlns:a16="http://schemas.microsoft.com/office/drawing/2014/main" id="{D29D20EF-FABD-9CCA-327A-F907C06FF37D}"/>
              </a:ext>
            </a:extLst>
          </p:cNvPr>
          <p:cNvCxnSpPr>
            <a:cxnSpLocks/>
          </p:cNvCxnSpPr>
          <p:nvPr/>
        </p:nvCxnSpPr>
        <p:spPr>
          <a:xfrm>
            <a:off x="8276646" y="6030071"/>
            <a:ext cx="12700" cy="498875"/>
          </a:xfrm>
          <a:prstGeom prst="bentConnector3">
            <a:avLst>
              <a:gd name="adj1" fmla="val 883638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25" name="꺾인 연결선[E] 124">
            <a:extLst>
              <a:ext uri="{FF2B5EF4-FFF2-40B4-BE49-F238E27FC236}">
                <a16:creationId xmlns:a16="http://schemas.microsoft.com/office/drawing/2014/main" id="{D0F9DFE9-8571-D383-C9AA-BDF9B16D0768}"/>
              </a:ext>
            </a:extLst>
          </p:cNvPr>
          <p:cNvCxnSpPr>
            <a:cxnSpLocks/>
            <a:stCxn id="49" idx="1"/>
            <a:endCxn id="58" idx="0"/>
          </p:cNvCxnSpPr>
          <p:nvPr/>
        </p:nvCxnSpPr>
        <p:spPr>
          <a:xfrm rot="10800000" flipH="1" flipV="1">
            <a:off x="6979754" y="5484821"/>
            <a:ext cx="648446" cy="815905"/>
          </a:xfrm>
          <a:prstGeom prst="bentConnector4">
            <a:avLst>
              <a:gd name="adj1" fmla="val -14743"/>
              <a:gd name="adj2" fmla="val 87419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44" name="꺾인 연결선[E] 143">
            <a:extLst>
              <a:ext uri="{FF2B5EF4-FFF2-40B4-BE49-F238E27FC236}">
                <a16:creationId xmlns:a16="http://schemas.microsoft.com/office/drawing/2014/main" id="{F04C4414-8C8A-EA1F-8B23-682DF4C4594F}"/>
              </a:ext>
            </a:extLst>
          </p:cNvPr>
          <p:cNvCxnSpPr>
            <a:cxnSpLocks/>
            <a:stCxn id="22" idx="1"/>
            <a:endCxn id="25" idx="1"/>
          </p:cNvCxnSpPr>
          <p:nvPr/>
        </p:nvCxnSpPr>
        <p:spPr>
          <a:xfrm rot="10800000" flipV="1">
            <a:off x="9144485" y="5484822"/>
            <a:ext cx="12700" cy="994246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347C4A-4BE2-CA63-71A2-B63473C06A4A}"/>
              </a:ext>
            </a:extLst>
          </p:cNvPr>
          <p:cNvSpPr/>
          <p:nvPr/>
        </p:nvSpPr>
        <p:spPr>
          <a:xfrm>
            <a:off x="6973308" y="5291899"/>
            <a:ext cx="832327" cy="86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500" b="1" dirty="0"/>
              <a:t>디폴트 보관기간</a:t>
            </a:r>
            <a:r>
              <a:rPr kumimoji="1" lang="en-US" altLang="ko-KR" sz="500" b="1" dirty="0"/>
              <a:t>:</a:t>
            </a:r>
            <a:r>
              <a:rPr kumimoji="1" lang="ko-KR" altLang="en-US" sz="500" b="1" dirty="0"/>
              <a:t> </a:t>
            </a:r>
            <a:r>
              <a:rPr kumimoji="1" lang="en-US" altLang="ko-KR" sz="500" b="1" dirty="0"/>
              <a:t>7</a:t>
            </a:r>
            <a:r>
              <a:rPr kumimoji="1" lang="ko-KR" altLang="en-US" sz="500" b="1" dirty="0"/>
              <a:t>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684B1A0-9416-3BEC-DB89-DB286DA2AA52}"/>
              </a:ext>
            </a:extLst>
          </p:cNvPr>
          <p:cNvSpPr/>
          <p:nvPr/>
        </p:nvSpPr>
        <p:spPr>
          <a:xfrm>
            <a:off x="6973308" y="5784694"/>
            <a:ext cx="832327" cy="8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500" b="1" dirty="0"/>
              <a:t>디폴트 보관기간</a:t>
            </a:r>
            <a:r>
              <a:rPr kumimoji="1" lang="en-US" altLang="ko-KR" sz="500" b="1" dirty="0"/>
              <a:t>:</a:t>
            </a:r>
            <a:r>
              <a:rPr kumimoji="1" lang="ko-KR" altLang="en-US" sz="500" b="1" dirty="0"/>
              <a:t> </a:t>
            </a:r>
            <a:r>
              <a:rPr kumimoji="1" lang="en-US" altLang="ko-KR" sz="500" b="1" dirty="0"/>
              <a:t>7</a:t>
            </a:r>
            <a:r>
              <a:rPr kumimoji="1" lang="ko-KR" altLang="en-US" sz="500" b="1" dirty="0"/>
              <a:t>일</a:t>
            </a:r>
          </a:p>
        </p:txBody>
      </p:sp>
      <p:sp>
        <p:nvSpPr>
          <p:cNvPr id="14" name="번개[L] 13">
            <a:extLst>
              <a:ext uri="{FF2B5EF4-FFF2-40B4-BE49-F238E27FC236}">
                <a16:creationId xmlns:a16="http://schemas.microsoft.com/office/drawing/2014/main" id="{078BDD29-DB00-B97E-BA0F-33835EB44F5D}"/>
              </a:ext>
            </a:extLst>
          </p:cNvPr>
          <p:cNvSpPr/>
          <p:nvPr/>
        </p:nvSpPr>
        <p:spPr>
          <a:xfrm>
            <a:off x="6586793" y="2515507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27" name="번개[L] 26">
            <a:extLst>
              <a:ext uri="{FF2B5EF4-FFF2-40B4-BE49-F238E27FC236}">
                <a16:creationId xmlns:a16="http://schemas.microsoft.com/office/drawing/2014/main" id="{B1BBF18E-2A70-A9DB-D527-8C00DB17AAFE}"/>
              </a:ext>
            </a:extLst>
          </p:cNvPr>
          <p:cNvSpPr/>
          <p:nvPr/>
        </p:nvSpPr>
        <p:spPr>
          <a:xfrm>
            <a:off x="6543436" y="1038867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29" name="번개[L] 28">
            <a:extLst>
              <a:ext uri="{FF2B5EF4-FFF2-40B4-BE49-F238E27FC236}">
                <a16:creationId xmlns:a16="http://schemas.microsoft.com/office/drawing/2014/main" id="{7E156799-E82B-3AE4-5C59-D43C96292B4B}"/>
              </a:ext>
            </a:extLst>
          </p:cNvPr>
          <p:cNvSpPr/>
          <p:nvPr/>
        </p:nvSpPr>
        <p:spPr>
          <a:xfrm>
            <a:off x="8669177" y="1593618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40" name="모서리가 둥근 사각형 설명선[R] 39">
            <a:extLst>
              <a:ext uri="{FF2B5EF4-FFF2-40B4-BE49-F238E27FC236}">
                <a16:creationId xmlns:a16="http://schemas.microsoft.com/office/drawing/2014/main" id="{BDE21B95-B64B-3929-6C17-46CCCFFE7212}"/>
              </a:ext>
            </a:extLst>
          </p:cNvPr>
          <p:cNvSpPr/>
          <p:nvPr/>
        </p:nvSpPr>
        <p:spPr>
          <a:xfrm>
            <a:off x="6215286" y="4585670"/>
            <a:ext cx="631082" cy="161654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600" dirty="0" err="1">
                <a:solidFill>
                  <a:schemeClr val="tx1"/>
                </a:solidFill>
              </a:rPr>
              <a:t>버퍼큐사용</a:t>
            </a:r>
            <a:endParaRPr kumimoji="1"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41" name="모서리가 둥근 사각형 설명선[R] 40">
            <a:extLst>
              <a:ext uri="{FF2B5EF4-FFF2-40B4-BE49-F238E27FC236}">
                <a16:creationId xmlns:a16="http://schemas.microsoft.com/office/drawing/2014/main" id="{B6106EE0-8CE1-DAB7-CB27-69FB202EE5B2}"/>
              </a:ext>
            </a:extLst>
          </p:cNvPr>
          <p:cNvSpPr/>
          <p:nvPr/>
        </p:nvSpPr>
        <p:spPr>
          <a:xfrm>
            <a:off x="8447550" y="4604986"/>
            <a:ext cx="631082" cy="161654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chemeClr val="tx1"/>
                </a:solidFill>
              </a:rPr>
              <a:t>polling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943BDE7-BEE8-CBBD-294D-64EBDBED9A48}"/>
              </a:ext>
            </a:extLst>
          </p:cNvPr>
          <p:cNvSpPr/>
          <p:nvPr/>
        </p:nvSpPr>
        <p:spPr>
          <a:xfrm>
            <a:off x="6979754" y="2870009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adwhale-lb</a:t>
            </a:r>
            <a:r>
              <a:rPr kumimoji="1" lang="en-US" altLang="ko-KR" sz="1000" dirty="0"/>
              <a:t>(nginx)</a:t>
            </a:r>
            <a:endParaRPr kumimoji="1" lang="ko-KR" altLang="en-US" sz="10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45BEE996-CB03-5469-EE52-2A660D11FC97}"/>
              </a:ext>
            </a:extLst>
          </p:cNvPr>
          <p:cNvSpPr/>
          <p:nvPr/>
        </p:nvSpPr>
        <p:spPr>
          <a:xfrm>
            <a:off x="4422757" y="5488221"/>
            <a:ext cx="2023708" cy="3388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Port:8082)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79A1D93-1F00-5016-2054-8E52E210ED3A}"/>
              </a:ext>
            </a:extLst>
          </p:cNvPr>
          <p:cNvSpPr/>
          <p:nvPr/>
        </p:nvSpPr>
        <p:spPr>
          <a:xfrm>
            <a:off x="4422757" y="5937150"/>
            <a:ext cx="2023708" cy="3388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Port:8083)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55" name="꺾인 연결선[E] 54">
            <a:extLst>
              <a:ext uri="{FF2B5EF4-FFF2-40B4-BE49-F238E27FC236}">
                <a16:creationId xmlns:a16="http://schemas.microsoft.com/office/drawing/2014/main" id="{9F4D6351-672A-650E-87A9-5C5AECAD1C22}"/>
              </a:ext>
            </a:extLst>
          </p:cNvPr>
          <p:cNvCxnSpPr>
            <a:cxnSpLocks/>
            <a:stCxn id="35" idx="2"/>
            <a:endCxn id="15" idx="3"/>
          </p:cNvCxnSpPr>
          <p:nvPr/>
        </p:nvCxnSpPr>
        <p:spPr>
          <a:xfrm rot="5400000">
            <a:off x="6730047" y="2509807"/>
            <a:ext cx="181271" cy="161503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0" name="모서리가 둥근 사각형 설명선[R] 59">
            <a:extLst>
              <a:ext uri="{FF2B5EF4-FFF2-40B4-BE49-F238E27FC236}">
                <a16:creationId xmlns:a16="http://schemas.microsoft.com/office/drawing/2014/main" id="{EA61BC35-95D7-964B-350E-8F7C465318CB}"/>
              </a:ext>
            </a:extLst>
          </p:cNvPr>
          <p:cNvSpPr/>
          <p:nvPr/>
        </p:nvSpPr>
        <p:spPr>
          <a:xfrm>
            <a:off x="6626868" y="3128562"/>
            <a:ext cx="761673" cy="184666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600" dirty="0" err="1">
                <a:solidFill>
                  <a:schemeClr val="tx1"/>
                </a:solidFill>
              </a:rPr>
              <a:t>라운드로빈사용</a:t>
            </a:r>
            <a:endParaRPr kumimoji="1"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3AD197E-CBBA-A3AE-1D9F-D0CBEF56D43A}"/>
              </a:ext>
            </a:extLst>
          </p:cNvPr>
          <p:cNvSpPr txBox="1"/>
          <p:nvPr/>
        </p:nvSpPr>
        <p:spPr>
          <a:xfrm>
            <a:off x="5306531" y="6220113"/>
            <a:ext cx="2135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/>
              <a:t>.</a:t>
            </a:r>
          </a:p>
          <a:p>
            <a:r>
              <a:rPr kumimoji="1" lang="en-US" altLang="ko-KR" sz="1000" dirty="0"/>
              <a:t>.</a:t>
            </a:r>
          </a:p>
          <a:p>
            <a:r>
              <a:rPr kumimoji="1" lang="en-US" altLang="ko-KR" sz="1000" dirty="0"/>
              <a:t>.</a:t>
            </a:r>
          </a:p>
        </p:txBody>
      </p:sp>
      <p:sp>
        <p:nvSpPr>
          <p:cNvPr id="90" name="모서리가 둥근 사각형 설명선[R] 89">
            <a:extLst>
              <a:ext uri="{FF2B5EF4-FFF2-40B4-BE49-F238E27FC236}">
                <a16:creationId xmlns:a16="http://schemas.microsoft.com/office/drawing/2014/main" id="{14F598B4-CF93-F57F-9788-8F3D797F21B9}"/>
              </a:ext>
            </a:extLst>
          </p:cNvPr>
          <p:cNvSpPr/>
          <p:nvPr/>
        </p:nvSpPr>
        <p:spPr>
          <a:xfrm>
            <a:off x="6854433" y="3547375"/>
            <a:ext cx="2067971" cy="388601"/>
          </a:xfrm>
          <a:prstGeom prst="wedgeRoundRectCallout">
            <a:avLst>
              <a:gd name="adj1" fmla="val 6768"/>
              <a:gd name="adj2" fmla="val -141295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en-US" altLang="ko-KR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>
                <a:solidFill>
                  <a:srgbClr val="FF0000"/>
                </a:solidFill>
              </a:rPr>
              <a:t>서버 장애대응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응답</a:t>
            </a:r>
            <a:r>
              <a:rPr kumimoji="1" lang="en-US" altLang="ko-KR" sz="600" dirty="0">
                <a:solidFill>
                  <a:srgbClr val="FF0000"/>
                </a:solidFill>
              </a:rPr>
              <a:t>x,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>
                <a:solidFill>
                  <a:srgbClr val="FF0000"/>
                </a:solidFill>
              </a:rPr>
              <a:t>메시지</a:t>
            </a:r>
            <a:r>
              <a:rPr kumimoji="1" lang="en-US" altLang="ko-KR" sz="600" dirty="0">
                <a:solidFill>
                  <a:srgbClr val="FF0000"/>
                </a:solidFill>
              </a:rPr>
              <a:t>x</a:t>
            </a:r>
            <a:r>
              <a:rPr kumimoji="1" lang="ko-KR" altLang="en-US" sz="600" dirty="0">
                <a:solidFill>
                  <a:srgbClr val="FF0000"/>
                </a:solidFill>
              </a:rPr>
              <a:t> 일 경우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로드밸런서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nginx </a:t>
            </a:r>
            <a:r>
              <a:rPr kumimoji="1" lang="ko-KR" altLang="en-US" sz="600" dirty="0">
                <a:solidFill>
                  <a:srgbClr val="FF0000"/>
                </a:solidFill>
              </a:rPr>
              <a:t>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503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</a:t>
            </a:r>
          </a:p>
        </p:txBody>
      </p:sp>
      <p:sp>
        <p:nvSpPr>
          <p:cNvPr id="91" name="모서리가 둥근 사각형 설명선[R] 90">
            <a:extLst>
              <a:ext uri="{FF2B5EF4-FFF2-40B4-BE49-F238E27FC236}">
                <a16:creationId xmlns:a16="http://schemas.microsoft.com/office/drawing/2014/main" id="{AFD8BBC5-666A-E50F-3E11-A1411A68BE51}"/>
              </a:ext>
            </a:extLst>
          </p:cNvPr>
          <p:cNvSpPr/>
          <p:nvPr/>
        </p:nvSpPr>
        <p:spPr>
          <a:xfrm>
            <a:off x="9311188" y="2370731"/>
            <a:ext cx="2694786" cy="597115"/>
          </a:xfrm>
          <a:prstGeom prst="wedgeRoundRectCallout">
            <a:avLst>
              <a:gd name="adj1" fmla="val -16886"/>
              <a:gd name="adj2" fmla="val -78836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ad-log-consumer </a:t>
            </a:r>
            <a:r>
              <a:rPr kumimoji="1" lang="ko-KR" altLang="en-US" sz="600" dirty="0">
                <a:solidFill>
                  <a:srgbClr val="FF0000"/>
                </a:solidFill>
              </a:rPr>
              <a:t>장애대응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200(</a:t>
            </a:r>
            <a:r>
              <a:rPr kumimoji="1" lang="ko-KR" altLang="en-US" sz="600" dirty="0">
                <a:solidFill>
                  <a:srgbClr val="FF0000"/>
                </a:solidFill>
              </a:rPr>
              <a:t>비동기처리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503(</a:t>
            </a:r>
            <a:r>
              <a:rPr kumimoji="1" lang="ko-KR" altLang="en-US" sz="600" dirty="0">
                <a:solidFill>
                  <a:srgbClr val="FF0000"/>
                </a:solidFill>
              </a:rPr>
              <a:t>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eventId</a:t>
            </a:r>
            <a:r>
              <a:rPr kumimoji="1" lang="ko-KR" altLang="en-US" sz="600" dirty="0">
                <a:solidFill>
                  <a:srgbClr val="FF0000"/>
                </a:solidFill>
              </a:rPr>
              <a:t>로 중복처리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1)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Docker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에</a:t>
            </a:r>
            <a:r>
              <a:rPr kumimoji="1" lang="ko-KR" altLang="en-US" sz="600" dirty="0">
                <a:solidFill>
                  <a:srgbClr val="FF0000"/>
                </a:solidFill>
              </a:rPr>
              <a:t> 메시지 쌓이고 </a:t>
            </a:r>
            <a:r>
              <a:rPr kumimoji="1" lang="en-US" altLang="ko-KR" sz="600" dirty="0">
                <a:solidFill>
                  <a:srgbClr val="FF0000"/>
                </a:solidFill>
              </a:rPr>
              <a:t>&gt;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ad-log-consumer </a:t>
            </a:r>
            <a:r>
              <a:rPr kumimoji="1" lang="ko-KR" altLang="en-US" sz="600" dirty="0">
                <a:solidFill>
                  <a:srgbClr val="FF0000"/>
                </a:solidFill>
              </a:rPr>
              <a:t>가 켜지면 마지막 기록된 </a:t>
            </a:r>
            <a:r>
              <a:rPr kumimoji="1" lang="en-US" altLang="ko-KR" sz="600" dirty="0">
                <a:solidFill>
                  <a:srgbClr val="FF0000"/>
                </a:solidFill>
              </a:rPr>
              <a:t>offset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부터</a:t>
            </a:r>
            <a:r>
              <a:rPr kumimoji="1" lang="ko-KR" altLang="en-US" sz="600" dirty="0">
                <a:solidFill>
                  <a:srgbClr val="FF0000"/>
                </a:solidFill>
              </a:rPr>
              <a:t> 밀린 메시지를 전부 처리</a:t>
            </a:r>
            <a:endParaRPr kumimoji="1" lang="en-US" altLang="ko-KR" sz="600" dirty="0">
              <a:solidFill>
                <a:srgbClr val="FF0000"/>
              </a:solidFill>
            </a:endParaRPr>
          </a:p>
        </p:txBody>
      </p:sp>
      <p:sp>
        <p:nvSpPr>
          <p:cNvPr id="96" name="모서리가 둥근 사각형 설명선[R] 95">
            <a:extLst>
              <a:ext uri="{FF2B5EF4-FFF2-40B4-BE49-F238E27FC236}">
                <a16:creationId xmlns:a16="http://schemas.microsoft.com/office/drawing/2014/main" id="{B838A00D-8A63-F65E-FA0D-F61045112603}"/>
              </a:ext>
            </a:extLst>
          </p:cNvPr>
          <p:cNvSpPr/>
          <p:nvPr/>
        </p:nvSpPr>
        <p:spPr>
          <a:xfrm>
            <a:off x="5580449" y="-856313"/>
            <a:ext cx="3564036" cy="771851"/>
          </a:xfrm>
          <a:prstGeom prst="wedgeRoundRectCallout">
            <a:avLst>
              <a:gd name="adj1" fmla="val -8403"/>
              <a:gd name="adj2" fmla="val 242970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Docker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en-US" altLang="ko-KR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>
                <a:solidFill>
                  <a:srgbClr val="FF0000"/>
                </a:solidFill>
              </a:rPr>
              <a:t>장애대응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200(</a:t>
            </a:r>
            <a:r>
              <a:rPr kumimoji="1" lang="ko-KR" altLang="en-US" sz="600" dirty="0">
                <a:solidFill>
                  <a:srgbClr val="FF0000"/>
                </a:solidFill>
              </a:rPr>
              <a:t>비동기처리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503(</a:t>
            </a:r>
            <a:r>
              <a:rPr kumimoji="1" lang="ko-KR" altLang="en-US" sz="600" dirty="0">
                <a:solidFill>
                  <a:srgbClr val="FF0000"/>
                </a:solidFill>
              </a:rPr>
              <a:t>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eventId</a:t>
            </a:r>
            <a:r>
              <a:rPr kumimoji="1" lang="ko-KR" altLang="en-US" sz="600" dirty="0">
                <a:solidFill>
                  <a:srgbClr val="FF0000"/>
                </a:solidFill>
              </a:rPr>
              <a:t>로 중복처리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Kafka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여러대</a:t>
            </a:r>
            <a:r>
              <a:rPr kumimoji="1" lang="ko-KR" altLang="en-US" sz="600" dirty="0">
                <a:solidFill>
                  <a:srgbClr val="FF0000"/>
                </a:solidFill>
              </a:rPr>
              <a:t> 두기</a:t>
            </a:r>
            <a:r>
              <a:rPr kumimoji="1" lang="en-US" altLang="ko-KR" sz="600" dirty="0">
                <a:solidFill>
                  <a:srgbClr val="FF0000"/>
                </a:solidFill>
              </a:rPr>
              <a:t>(</a:t>
            </a:r>
            <a:r>
              <a:rPr kumimoji="1" lang="ko-KR" altLang="en-US" sz="600" dirty="0">
                <a:solidFill>
                  <a:srgbClr val="FF0000"/>
                </a:solidFill>
              </a:rPr>
              <a:t>추후예정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1)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에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>
                <a:solidFill>
                  <a:srgbClr val="FF0000"/>
                </a:solidFill>
              </a:rPr>
              <a:t>가 붙어있는 상태에서 잠깐 죽는 경우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2</a:t>
            </a:r>
            <a:r>
              <a:rPr kumimoji="1" lang="ko-KR" altLang="en-US" sz="600" dirty="0">
                <a:solidFill>
                  <a:srgbClr val="FF0000"/>
                </a:solidFill>
              </a:rPr>
              <a:t>분 안에 돌아오면 유실</a:t>
            </a:r>
            <a:r>
              <a:rPr kumimoji="1" lang="en-US" altLang="ko-KR" sz="600" dirty="0">
                <a:solidFill>
                  <a:srgbClr val="FF0000"/>
                </a:solidFill>
              </a:rPr>
              <a:t>x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2) Kafka</a:t>
            </a:r>
            <a:r>
              <a:rPr kumimoji="1" lang="ko-KR" altLang="en-US" sz="600" dirty="0">
                <a:solidFill>
                  <a:srgbClr val="FF0000"/>
                </a:solidFill>
              </a:rPr>
              <a:t>가 죽은 상태에서 </a:t>
            </a:r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ko-KR" altLang="en-US" sz="600" dirty="0">
                <a:solidFill>
                  <a:srgbClr val="FF0000"/>
                </a:solidFill>
              </a:rPr>
              <a:t> 켠 경우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max.block.ms</a:t>
            </a:r>
            <a:r>
              <a:rPr kumimoji="1" lang="ko-KR" altLang="en-US" sz="600" dirty="0">
                <a:solidFill>
                  <a:srgbClr val="FF0000"/>
                </a:solidFill>
              </a:rPr>
              <a:t>설정 </a:t>
            </a:r>
            <a:r>
              <a:rPr kumimoji="1" lang="en-US" altLang="ko-KR" sz="600" dirty="0">
                <a:solidFill>
                  <a:srgbClr val="FF0000"/>
                </a:solidFill>
              </a:rPr>
              <a:t>3</a:t>
            </a:r>
            <a:r>
              <a:rPr kumimoji="1" lang="ko-KR" altLang="en-US" sz="600" dirty="0">
                <a:solidFill>
                  <a:srgbClr val="FF0000"/>
                </a:solidFill>
              </a:rPr>
              <a:t>초씩 느려지고 이벤트 유실됨</a:t>
            </a:r>
            <a:r>
              <a:rPr kumimoji="1" lang="en-US" altLang="ko-KR" sz="600" dirty="0">
                <a:solidFill>
                  <a:srgbClr val="FF0000"/>
                </a:solidFill>
              </a:rPr>
              <a:t>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endParaRPr kumimoji="1" lang="en-US" altLang="ko-KR" sz="600" dirty="0">
              <a:solidFill>
                <a:srgbClr val="FF0000"/>
              </a:solidFill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68278B0C-522C-07F9-9C28-BBD0EF3149A1}"/>
              </a:ext>
            </a:extLst>
          </p:cNvPr>
          <p:cNvSpPr/>
          <p:nvPr/>
        </p:nvSpPr>
        <p:spPr>
          <a:xfrm>
            <a:off x="4422757" y="260015"/>
            <a:ext cx="1494255" cy="28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Nginx/ad-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api.conf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778CD97F-F0E8-DC88-229E-0C780203B2AF}"/>
              </a:ext>
            </a:extLst>
          </p:cNvPr>
          <p:cNvSpPr/>
          <p:nvPr/>
        </p:nvSpPr>
        <p:spPr>
          <a:xfrm>
            <a:off x="4425815" y="664984"/>
            <a:ext cx="1494255" cy="28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compose.yml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112" name="꺾인 연결선[E] 111">
            <a:extLst>
              <a:ext uri="{FF2B5EF4-FFF2-40B4-BE49-F238E27FC236}">
                <a16:creationId xmlns:a16="http://schemas.microsoft.com/office/drawing/2014/main" id="{C9CB3A3B-3401-2513-2893-8B85E6E56E24}"/>
              </a:ext>
            </a:extLst>
          </p:cNvPr>
          <p:cNvCxnSpPr>
            <a:cxnSpLocks/>
          </p:cNvCxnSpPr>
          <p:nvPr/>
        </p:nvCxnSpPr>
        <p:spPr>
          <a:xfrm>
            <a:off x="5917012" y="329675"/>
            <a:ext cx="1062742" cy="2644335"/>
          </a:xfrm>
          <a:prstGeom prst="bentConnector3">
            <a:avLst>
              <a:gd name="adj1" fmla="val 5769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681476C-0ECC-EC86-7725-6FE8B643EFD2}"/>
              </a:ext>
            </a:extLst>
          </p:cNvPr>
          <p:cNvCxnSpPr>
            <a:cxnSpLocks/>
            <a:stCxn id="7" idx="3"/>
            <a:endCxn id="35" idx="1"/>
          </p:cNvCxnSpPr>
          <p:nvPr/>
        </p:nvCxnSpPr>
        <p:spPr>
          <a:xfrm flipV="1">
            <a:off x="3080229" y="3048350"/>
            <a:ext cx="3899525" cy="21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492896C-B90C-577F-0772-1EDF961813B1}"/>
              </a:ext>
            </a:extLst>
          </p:cNvPr>
          <p:cNvSpPr txBox="1"/>
          <p:nvPr/>
        </p:nvSpPr>
        <p:spPr>
          <a:xfrm>
            <a:off x="-8853" y="31657"/>
            <a:ext cx="772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버전</a:t>
            </a:r>
            <a:r>
              <a:rPr kumimoji="1" lang="en-US" altLang="ko-KR" dirty="0"/>
              <a:t>1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2221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4EBE2C2-07DF-4292-47A9-31A17D6EFBD6}"/>
              </a:ext>
            </a:extLst>
          </p:cNvPr>
          <p:cNvSpPr/>
          <p:nvPr/>
        </p:nvSpPr>
        <p:spPr>
          <a:xfrm>
            <a:off x="-1321330" y="-2900941"/>
            <a:ext cx="2253543" cy="109075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3</a:t>
            </a:r>
            <a:r>
              <a:rPr kumimoji="1" lang="en-US" altLang="ko-KR" sz="1000" baseline="30000" dirty="0">
                <a:solidFill>
                  <a:sysClr val="windowText" lastClr="000000"/>
                </a:solidFill>
              </a:rPr>
              <a:t>rd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party App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383280B-475F-A88E-9B90-6948023DA29D}"/>
              </a:ext>
            </a:extLst>
          </p:cNvPr>
          <p:cNvSpPr/>
          <p:nvPr/>
        </p:nvSpPr>
        <p:spPr>
          <a:xfrm>
            <a:off x="-1075953" y="-1169089"/>
            <a:ext cx="1743472" cy="86000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ko-KR" altLang="en-US" sz="1000" dirty="0">
                <a:solidFill>
                  <a:sysClr val="windowText" lastClr="000000"/>
                </a:solidFill>
              </a:rPr>
              <a:t>광고화면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C6ABFF0-4FEB-82B4-DCC4-2333C0695DF5}"/>
              </a:ext>
            </a:extLst>
          </p:cNvPr>
          <p:cNvSpPr/>
          <p:nvPr/>
        </p:nvSpPr>
        <p:spPr>
          <a:xfrm>
            <a:off x="-784122" y="676978"/>
            <a:ext cx="1198978" cy="48927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Adwhale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Sdk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2F49C5E-66FB-227B-A448-9078FD66637B}"/>
              </a:ext>
            </a:extLst>
          </p:cNvPr>
          <p:cNvSpPr/>
          <p:nvPr/>
        </p:nvSpPr>
        <p:spPr>
          <a:xfrm>
            <a:off x="-562275" y="3505867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광고요청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8F779D8-3F3D-F0DF-8558-E9F2FA8C23D4}"/>
              </a:ext>
            </a:extLst>
          </p:cNvPr>
          <p:cNvSpPr/>
          <p:nvPr/>
        </p:nvSpPr>
        <p:spPr>
          <a:xfrm>
            <a:off x="-570498" y="4033785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광고응답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A50C05-23A7-87F9-1CA6-854514BD6C17}"/>
              </a:ext>
            </a:extLst>
          </p:cNvPr>
          <p:cNvSpPr/>
          <p:nvPr/>
        </p:nvSpPr>
        <p:spPr>
          <a:xfrm>
            <a:off x="1289324" y="-2894471"/>
            <a:ext cx="18370276" cy="1066687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adwhale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-ad-platform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7512866-6B2D-7F4F-0C44-401EA4B874E8}"/>
              </a:ext>
            </a:extLst>
          </p:cNvPr>
          <p:cNvSpPr/>
          <p:nvPr/>
        </p:nvSpPr>
        <p:spPr>
          <a:xfrm>
            <a:off x="8441510" y="-2891887"/>
            <a:ext cx="3658947" cy="6954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ad-common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FF876C6-082B-D3D9-891D-6696014CC016}"/>
              </a:ext>
            </a:extLst>
          </p:cNvPr>
          <p:cNvSpPr/>
          <p:nvPr/>
        </p:nvSpPr>
        <p:spPr>
          <a:xfrm>
            <a:off x="8517819" y="-2629012"/>
            <a:ext cx="1146935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AdRequestEvent</a:t>
            </a:r>
            <a:endParaRPr kumimoji="1"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A3F588-3171-A0B6-6204-3A8A694EAA3F}"/>
              </a:ext>
            </a:extLst>
          </p:cNvPr>
          <p:cNvSpPr/>
          <p:nvPr/>
        </p:nvSpPr>
        <p:spPr>
          <a:xfrm>
            <a:off x="10868827" y="-2639790"/>
            <a:ext cx="1146935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AdTrackingEvent</a:t>
            </a:r>
            <a:endParaRPr kumimoji="1" lang="ko-KR" altLang="en-US" sz="10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BFA72E4-EC6B-E073-0590-441B4CD4AF25}"/>
              </a:ext>
            </a:extLst>
          </p:cNvPr>
          <p:cNvSpPr/>
          <p:nvPr/>
        </p:nvSpPr>
        <p:spPr>
          <a:xfrm>
            <a:off x="9749450" y="-2633495"/>
            <a:ext cx="1034681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AdTopicEnum</a:t>
            </a:r>
            <a:endParaRPr kumimoji="1"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1300729-6428-50F0-7826-8055B10E20FB}"/>
              </a:ext>
            </a:extLst>
          </p:cNvPr>
          <p:cNvSpPr/>
          <p:nvPr/>
        </p:nvSpPr>
        <p:spPr>
          <a:xfrm>
            <a:off x="6746218" y="-1169090"/>
            <a:ext cx="1732582" cy="860107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AFF70B4-A4A7-1230-6F5A-74D2AFFCBF8A}"/>
              </a:ext>
            </a:extLst>
          </p:cNvPr>
          <p:cNvSpPr/>
          <p:nvPr/>
        </p:nvSpPr>
        <p:spPr>
          <a:xfrm>
            <a:off x="6979754" y="5070997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</a:t>
            </a:r>
            <a:endParaRPr kumimoji="1" lang="ko-KR" altLang="en-US" sz="1000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6DA31B2-D4A7-0DFF-E2C4-817F11F714E0}"/>
              </a:ext>
            </a:extLst>
          </p:cNvPr>
          <p:cNvSpPr/>
          <p:nvPr/>
        </p:nvSpPr>
        <p:spPr>
          <a:xfrm>
            <a:off x="6979754" y="6578514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adwhale-kafka-ui</a:t>
            </a:r>
            <a:endParaRPr kumimoji="1" lang="ko-KR" altLang="en-US" sz="10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B296267-C46B-C87C-FA5B-5CA54807C4F8}"/>
              </a:ext>
            </a:extLst>
          </p:cNvPr>
          <p:cNvSpPr/>
          <p:nvPr/>
        </p:nvSpPr>
        <p:spPr>
          <a:xfrm>
            <a:off x="4422757" y="-1169089"/>
            <a:ext cx="2023708" cy="68255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Port:8081)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9" name="원통[C] 18">
            <a:extLst>
              <a:ext uri="{FF2B5EF4-FFF2-40B4-BE49-F238E27FC236}">
                <a16:creationId xmlns:a16="http://schemas.microsoft.com/office/drawing/2014/main" id="{73582AB4-5849-BA9E-5086-D143050E85D4}"/>
              </a:ext>
            </a:extLst>
          </p:cNvPr>
          <p:cNvSpPr/>
          <p:nvPr/>
        </p:nvSpPr>
        <p:spPr>
          <a:xfrm>
            <a:off x="4628169" y="676978"/>
            <a:ext cx="1570244" cy="4892708"/>
          </a:xfrm>
          <a:prstGeom prst="can">
            <a:avLst>
              <a:gd name="adj" fmla="val 8809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</a:t>
            </a:r>
          </a:p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Server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A72C051-D5BE-71F5-910F-E6CF51536729}"/>
              </a:ext>
            </a:extLst>
          </p:cNvPr>
          <p:cNvSpPr/>
          <p:nvPr/>
        </p:nvSpPr>
        <p:spPr>
          <a:xfrm>
            <a:off x="4815608" y="3507407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AdController</a:t>
            </a:r>
            <a:endParaRPr kumimoji="1" lang="ko-KR" altLang="en-US" sz="10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D58614D-ACE6-F1EE-D55E-A32D7C295B0D}"/>
              </a:ext>
            </a:extLst>
          </p:cNvPr>
          <p:cNvSpPr/>
          <p:nvPr/>
        </p:nvSpPr>
        <p:spPr>
          <a:xfrm>
            <a:off x="4815608" y="4033785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AdService</a:t>
            </a:r>
            <a:endParaRPr kumimoji="1" lang="ko-KR" altLang="en-US" sz="10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6F0755B-CB69-D566-D6E3-632455F8F764}"/>
              </a:ext>
            </a:extLst>
          </p:cNvPr>
          <p:cNvSpPr/>
          <p:nvPr/>
        </p:nvSpPr>
        <p:spPr>
          <a:xfrm>
            <a:off x="4815608" y="4560163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AdEventProducer</a:t>
            </a:r>
            <a:endParaRPr kumimoji="1" lang="ko-KR" altLang="en-US" sz="10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4B65BB0-29CC-9FD5-2862-E4D06C02F1E8}"/>
              </a:ext>
            </a:extLst>
          </p:cNvPr>
          <p:cNvSpPr/>
          <p:nvPr/>
        </p:nvSpPr>
        <p:spPr>
          <a:xfrm>
            <a:off x="4815608" y="1687824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AdApiApplication</a:t>
            </a:r>
            <a:endParaRPr kumimoji="1" lang="ko-KR" altLang="en-US" sz="1000" dirty="0"/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70C5A88-8A41-A894-A311-D2493BA392AB}"/>
              </a:ext>
            </a:extLst>
          </p:cNvPr>
          <p:cNvCxnSpPr>
            <a:stCxn id="23" idx="2"/>
            <a:endCxn id="20" idx="0"/>
          </p:cNvCxnSpPr>
          <p:nvPr/>
        </p:nvCxnSpPr>
        <p:spPr>
          <a:xfrm>
            <a:off x="5414386" y="2044505"/>
            <a:ext cx="0" cy="1462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B17D3C8E-D631-BAB1-E75D-74AB319C4C5C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5414386" y="3864088"/>
            <a:ext cx="0" cy="16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73E757A-89D3-6973-65C6-3EA8D3B78071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>
            <a:off x="5414386" y="4390466"/>
            <a:ext cx="0" cy="16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66C5F3A5-6D46-E2E2-C301-E0370A58EAD0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5413291" y="4916844"/>
            <a:ext cx="1095" cy="1512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4B1C343-9C4B-8EA7-F14F-C330928C1E2A}"/>
              </a:ext>
            </a:extLst>
          </p:cNvPr>
          <p:cNvSpPr/>
          <p:nvPr/>
        </p:nvSpPr>
        <p:spPr>
          <a:xfrm>
            <a:off x="4815608" y="5068129"/>
            <a:ext cx="1197556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kafka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C0E9D7BA-C250-2B11-BDAC-F5CA1DF19E80}"/>
              </a:ext>
            </a:extLst>
          </p:cNvPr>
          <p:cNvCxnSpPr>
            <a:cxnSpLocks/>
            <a:stCxn id="31" idx="3"/>
            <a:endCxn id="16" idx="1"/>
          </p:cNvCxnSpPr>
          <p:nvPr/>
        </p:nvCxnSpPr>
        <p:spPr>
          <a:xfrm flipV="1">
            <a:off x="6013164" y="5249338"/>
            <a:ext cx="966590" cy="5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3776721-ABB7-B478-3432-86443AEDC628}"/>
              </a:ext>
            </a:extLst>
          </p:cNvPr>
          <p:cNvSpPr/>
          <p:nvPr/>
        </p:nvSpPr>
        <p:spPr>
          <a:xfrm>
            <a:off x="8931537" y="-1169090"/>
            <a:ext cx="4744705" cy="860107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ad-log-consumer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34" name="원통[C] 33">
            <a:extLst>
              <a:ext uri="{FF2B5EF4-FFF2-40B4-BE49-F238E27FC236}">
                <a16:creationId xmlns:a16="http://schemas.microsoft.com/office/drawing/2014/main" id="{98B585BA-FBC3-347E-D99C-E140C10EF57C}"/>
              </a:ext>
            </a:extLst>
          </p:cNvPr>
          <p:cNvSpPr/>
          <p:nvPr/>
        </p:nvSpPr>
        <p:spPr>
          <a:xfrm>
            <a:off x="9202947" y="676978"/>
            <a:ext cx="2805632" cy="6681313"/>
          </a:xfrm>
          <a:prstGeom prst="can">
            <a:avLst>
              <a:gd name="adj" fmla="val 8527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ad-log-consumer App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863D634-A5C3-BC86-11C4-6A4C2FAE90B5}"/>
              </a:ext>
            </a:extLst>
          </p:cNvPr>
          <p:cNvSpPr/>
          <p:nvPr/>
        </p:nvSpPr>
        <p:spPr>
          <a:xfrm>
            <a:off x="9551984" y="5584268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AdLogConsumer</a:t>
            </a:r>
            <a:endParaRPr kumimoji="1" lang="ko-KR" altLang="en-US" sz="1000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85DF280B-AD35-9A2E-0FC9-F0F02EA4000B}"/>
              </a:ext>
            </a:extLst>
          </p:cNvPr>
          <p:cNvSpPr/>
          <p:nvPr/>
        </p:nvSpPr>
        <p:spPr>
          <a:xfrm>
            <a:off x="9343266" y="1215344"/>
            <a:ext cx="2510450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AdLogConsumerApplication</a:t>
            </a:r>
            <a:endParaRPr kumimoji="1" lang="ko-KR" altLang="en-US" sz="10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19F48E2-F74A-EC1D-A28D-2BFA2226C908}"/>
              </a:ext>
            </a:extLst>
          </p:cNvPr>
          <p:cNvSpPr/>
          <p:nvPr/>
        </p:nvSpPr>
        <p:spPr>
          <a:xfrm>
            <a:off x="9551984" y="6578514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AdLogFileWriter</a:t>
            </a:r>
            <a:endParaRPr kumimoji="1" lang="ko-KR" altLang="en-US" sz="1000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D17AFC7-FB36-2554-8844-E197BBDA036D}"/>
              </a:ext>
            </a:extLst>
          </p:cNvPr>
          <p:cNvCxnSpPr>
            <a:cxnSpLocks/>
            <a:stCxn id="35" idx="2"/>
            <a:endCxn id="75" idx="0"/>
          </p:cNvCxnSpPr>
          <p:nvPr/>
        </p:nvCxnSpPr>
        <p:spPr>
          <a:xfrm>
            <a:off x="10130296" y="5940949"/>
            <a:ext cx="1920" cy="1386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C5409A7E-7129-0B05-822E-C1EE89914C56}"/>
              </a:ext>
            </a:extLst>
          </p:cNvPr>
          <p:cNvSpPr/>
          <p:nvPr/>
        </p:nvSpPr>
        <p:spPr>
          <a:xfrm>
            <a:off x="9541751" y="5068129"/>
            <a:ext cx="1177090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kafka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19C421D-8511-59E9-5D4D-9CD8D38CB67C}"/>
              </a:ext>
            </a:extLst>
          </p:cNvPr>
          <p:cNvCxnSpPr>
            <a:cxnSpLocks/>
            <a:stCxn id="40" idx="2"/>
            <a:endCxn id="35" idx="0"/>
          </p:cNvCxnSpPr>
          <p:nvPr/>
        </p:nvCxnSpPr>
        <p:spPr>
          <a:xfrm>
            <a:off x="10130296" y="5441130"/>
            <a:ext cx="0" cy="143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9039DCF5-73E6-199D-BD56-B8725790EA6F}"/>
              </a:ext>
            </a:extLst>
          </p:cNvPr>
          <p:cNvCxnSpPr>
            <a:cxnSpLocks/>
            <a:stCxn id="16" idx="3"/>
            <a:endCxn id="40" idx="1"/>
          </p:cNvCxnSpPr>
          <p:nvPr/>
        </p:nvCxnSpPr>
        <p:spPr>
          <a:xfrm>
            <a:off x="8276646" y="5249338"/>
            <a:ext cx="1265105" cy="5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F56D2800-0E7E-1955-6FE6-46EC1F0FEC1D}"/>
              </a:ext>
            </a:extLst>
          </p:cNvPr>
          <p:cNvCxnSpPr>
            <a:cxnSpLocks/>
            <a:stCxn id="38" idx="3"/>
            <a:endCxn id="76" idx="1"/>
          </p:cNvCxnSpPr>
          <p:nvPr/>
        </p:nvCxnSpPr>
        <p:spPr>
          <a:xfrm>
            <a:off x="10708608" y="6756855"/>
            <a:ext cx="1493824" cy="2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ED3F1F79-3D49-9B67-5737-FA82017CA15F}"/>
              </a:ext>
            </a:extLst>
          </p:cNvPr>
          <p:cNvSpPr txBox="1"/>
          <p:nvPr/>
        </p:nvSpPr>
        <p:spPr>
          <a:xfrm>
            <a:off x="5905965" y="5061909"/>
            <a:ext cx="1192955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SEND KAFKA EVENT (9092)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997B495-74F4-DC53-D37C-80B5D6ADF683}"/>
              </a:ext>
            </a:extLst>
          </p:cNvPr>
          <p:cNvSpPr txBox="1"/>
          <p:nvPr/>
        </p:nvSpPr>
        <p:spPr>
          <a:xfrm>
            <a:off x="8351621" y="5050249"/>
            <a:ext cx="106792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KAFKA LISTENER (9092)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32DEE7B3-5DBE-9971-ED72-5B44572D24AD}"/>
              </a:ext>
            </a:extLst>
          </p:cNvPr>
          <p:cNvSpPr/>
          <p:nvPr/>
        </p:nvSpPr>
        <p:spPr>
          <a:xfrm>
            <a:off x="6973308" y="676978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adwhale-kafka-init</a:t>
            </a:r>
            <a:endParaRPr kumimoji="1" lang="ko-KR" altLang="en-US" sz="1000" dirty="0"/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A17FD7E-1B77-92E6-022A-BFBC0E31066B}"/>
              </a:ext>
            </a:extLst>
          </p:cNvPr>
          <p:cNvCxnSpPr>
            <a:cxnSpLocks/>
          </p:cNvCxnSpPr>
          <p:nvPr/>
        </p:nvCxnSpPr>
        <p:spPr>
          <a:xfrm>
            <a:off x="7546937" y="1033659"/>
            <a:ext cx="0" cy="42659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F7DA3192-563B-B9BB-5E1F-35869DA7C390}"/>
              </a:ext>
            </a:extLst>
          </p:cNvPr>
          <p:cNvSpPr/>
          <p:nvPr/>
        </p:nvSpPr>
        <p:spPr>
          <a:xfrm>
            <a:off x="-2797233" y="727728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67E29CED-9D54-7F47-57BD-0F86BF91E615}"/>
              </a:ext>
            </a:extLst>
          </p:cNvPr>
          <p:cNvSpPr/>
          <p:nvPr/>
        </p:nvSpPr>
        <p:spPr>
          <a:xfrm>
            <a:off x="-2797233" y="1266093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BC349D6-BBC7-304F-B635-A0A2FB09F1E1}"/>
              </a:ext>
            </a:extLst>
          </p:cNvPr>
          <p:cNvSpPr/>
          <p:nvPr/>
        </p:nvSpPr>
        <p:spPr>
          <a:xfrm>
            <a:off x="-2797233" y="1738573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08CA34D3-A8AA-AE78-0BA1-C495958FED74}"/>
              </a:ext>
            </a:extLst>
          </p:cNvPr>
          <p:cNvSpPr/>
          <p:nvPr/>
        </p:nvSpPr>
        <p:spPr>
          <a:xfrm>
            <a:off x="-2797233" y="3556617"/>
            <a:ext cx="233916" cy="255181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FC5BA2F7-39BC-8DF4-34E0-08D263850B83}"/>
              </a:ext>
            </a:extLst>
          </p:cNvPr>
          <p:cNvCxnSpPr>
            <a:cxnSpLocks/>
            <a:stCxn id="54" idx="6"/>
            <a:endCxn id="8" idx="1"/>
          </p:cNvCxnSpPr>
          <p:nvPr/>
        </p:nvCxnSpPr>
        <p:spPr>
          <a:xfrm>
            <a:off x="-2563317" y="3684208"/>
            <a:ext cx="2001042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타원 55">
            <a:extLst>
              <a:ext uri="{FF2B5EF4-FFF2-40B4-BE49-F238E27FC236}">
                <a16:creationId xmlns:a16="http://schemas.microsoft.com/office/drawing/2014/main" id="{E8D4ACA2-69BD-D763-7640-8B0DB99765BE}"/>
              </a:ext>
            </a:extLst>
          </p:cNvPr>
          <p:cNvSpPr/>
          <p:nvPr/>
        </p:nvSpPr>
        <p:spPr>
          <a:xfrm>
            <a:off x="-2797233" y="6629263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C07D7C6B-05B4-4C19-C91A-D3FB54ED13A1}"/>
              </a:ext>
            </a:extLst>
          </p:cNvPr>
          <p:cNvSpPr/>
          <p:nvPr/>
        </p:nvSpPr>
        <p:spPr>
          <a:xfrm>
            <a:off x="-570498" y="4560161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광고노출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88B4AEC3-B382-7630-4802-B17BAB89FD13}"/>
              </a:ext>
            </a:extLst>
          </p:cNvPr>
          <p:cNvCxnSpPr>
            <a:cxnSpLocks/>
            <a:stCxn id="9" idx="2"/>
            <a:endCxn id="58" idx="0"/>
          </p:cNvCxnSpPr>
          <p:nvPr/>
        </p:nvCxnSpPr>
        <p:spPr>
          <a:xfrm>
            <a:off x="-213387" y="4390466"/>
            <a:ext cx="0" cy="16969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647A0F5-5AAD-4215-C13E-8CC148269ADB}"/>
              </a:ext>
            </a:extLst>
          </p:cNvPr>
          <p:cNvSpPr/>
          <p:nvPr/>
        </p:nvSpPr>
        <p:spPr>
          <a:xfrm>
            <a:off x="-563852" y="5095182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광고클릭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5264898-CE76-F68D-04D4-859981C03205}"/>
              </a:ext>
            </a:extLst>
          </p:cNvPr>
          <p:cNvSpPr/>
          <p:nvPr/>
        </p:nvSpPr>
        <p:spPr>
          <a:xfrm>
            <a:off x="-2797233" y="5146136"/>
            <a:ext cx="233916" cy="255181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8080E04E-4FBA-6B3A-AE59-4E97A2A286A7}"/>
              </a:ext>
            </a:extLst>
          </p:cNvPr>
          <p:cNvCxnSpPr>
            <a:cxnSpLocks/>
            <a:stCxn id="61" idx="6"/>
            <a:endCxn id="60" idx="1"/>
          </p:cNvCxnSpPr>
          <p:nvPr/>
        </p:nvCxnSpPr>
        <p:spPr>
          <a:xfrm flipV="1">
            <a:off x="-2563317" y="5273523"/>
            <a:ext cx="1999465" cy="20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E4FBB3B4-769A-E608-F6AE-89298AEDDC65}"/>
              </a:ext>
            </a:extLst>
          </p:cNvPr>
          <p:cNvSpPr txBox="1"/>
          <p:nvPr/>
        </p:nvSpPr>
        <p:spPr>
          <a:xfrm>
            <a:off x="-3718131" y="997413"/>
            <a:ext cx="20553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1.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Kafka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docker </a:t>
            </a:r>
            <a:r>
              <a:rPr kumimoji="1" lang="ko-KR" altLang="en-US" sz="1000" dirty="0">
                <a:solidFill>
                  <a:srgbClr val="0070C0"/>
                </a:solidFill>
              </a:rPr>
              <a:t>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9092)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97A378F-E8DA-BD60-96F4-298122B309A4}"/>
              </a:ext>
            </a:extLst>
          </p:cNvPr>
          <p:cNvSpPr txBox="1"/>
          <p:nvPr/>
        </p:nvSpPr>
        <p:spPr>
          <a:xfrm>
            <a:off x="-3593898" y="1517080"/>
            <a:ext cx="18069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2.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ad-log-consumer </a:t>
            </a:r>
            <a:r>
              <a:rPr kumimoji="1" lang="ko-KR" altLang="en-US" sz="1000" dirty="0">
                <a:solidFill>
                  <a:srgbClr val="0070C0"/>
                </a:solidFill>
              </a:rPr>
              <a:t>앱 기동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F0D942B-DAF9-2475-EBC5-06896A674F74}"/>
              </a:ext>
            </a:extLst>
          </p:cNvPr>
          <p:cNvSpPr txBox="1"/>
          <p:nvPr/>
        </p:nvSpPr>
        <p:spPr>
          <a:xfrm>
            <a:off x="-3679659" y="2011287"/>
            <a:ext cx="19784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3.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</a:t>
            </a:r>
            <a:r>
              <a:rPr kumimoji="1" lang="en-US" altLang="ko-KR" sz="1000" dirty="0" err="1">
                <a:solidFill>
                  <a:srgbClr val="0070C0"/>
                </a:solidFill>
              </a:rPr>
              <a:t>api</a:t>
            </a:r>
            <a:r>
              <a:rPr kumimoji="1" lang="en-US" altLang="ko-KR" sz="1000" dirty="0">
                <a:solidFill>
                  <a:srgbClr val="0070C0"/>
                </a:solidFill>
              </a:rPr>
              <a:t> </a:t>
            </a:r>
            <a:r>
              <a:rPr kumimoji="1" lang="ko-KR" altLang="en-US" sz="1000" dirty="0">
                <a:solidFill>
                  <a:srgbClr val="0070C0"/>
                </a:solidFill>
              </a:rPr>
              <a:t>서버 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8081)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E80E0CB-9D12-A95A-D55B-BAD5511E6A7C}"/>
              </a:ext>
            </a:extLst>
          </p:cNvPr>
          <p:cNvSpPr txBox="1"/>
          <p:nvPr/>
        </p:nvSpPr>
        <p:spPr>
          <a:xfrm>
            <a:off x="-3262077" y="3823814"/>
            <a:ext cx="11432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chemeClr val="accent2"/>
                </a:solidFill>
              </a:rPr>
              <a:t>7.</a:t>
            </a:r>
            <a:r>
              <a:rPr kumimoji="1" lang="ko-KR" altLang="en-US" sz="1000" dirty="0">
                <a:solidFill>
                  <a:schemeClr val="accent2"/>
                </a:solidFill>
              </a:rPr>
              <a:t> 광고화면 진입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193F522-5127-587C-7CF1-18A090C22AA3}"/>
              </a:ext>
            </a:extLst>
          </p:cNvPr>
          <p:cNvSpPr txBox="1"/>
          <p:nvPr/>
        </p:nvSpPr>
        <p:spPr>
          <a:xfrm>
            <a:off x="-3262077" y="5400771"/>
            <a:ext cx="11432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chemeClr val="accent2"/>
                </a:solidFill>
              </a:rPr>
              <a:t>8.</a:t>
            </a:r>
            <a:r>
              <a:rPr kumimoji="1" lang="ko-KR" altLang="en-US" sz="1000" dirty="0">
                <a:solidFill>
                  <a:schemeClr val="accent2"/>
                </a:solidFill>
              </a:rPr>
              <a:t> 광고화면 클릭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6ED2FF1-E8B2-584D-F42F-537694D1299E}"/>
              </a:ext>
            </a:extLst>
          </p:cNvPr>
          <p:cNvSpPr txBox="1"/>
          <p:nvPr/>
        </p:nvSpPr>
        <p:spPr>
          <a:xfrm>
            <a:off x="-3597104" y="6889852"/>
            <a:ext cx="18133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6.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Kafka </a:t>
            </a:r>
            <a:r>
              <a:rPr kumimoji="1" lang="en-US" altLang="ko-KR" sz="1000" dirty="0" err="1">
                <a:solidFill>
                  <a:srgbClr val="0070C0"/>
                </a:solidFill>
              </a:rPr>
              <a:t>ui</a:t>
            </a:r>
            <a:r>
              <a:rPr kumimoji="1" lang="en-US" altLang="ko-KR" sz="1000" dirty="0">
                <a:solidFill>
                  <a:srgbClr val="0070C0"/>
                </a:solidFill>
              </a:rPr>
              <a:t> </a:t>
            </a:r>
            <a:r>
              <a:rPr kumimoji="1" lang="ko-KR" altLang="en-US" sz="1000" dirty="0">
                <a:solidFill>
                  <a:srgbClr val="0070C0"/>
                </a:solidFill>
              </a:rPr>
              <a:t>접속 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8989)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44601FD2-9B01-C2FC-BD0C-2998A36C829D}"/>
              </a:ext>
            </a:extLst>
          </p:cNvPr>
          <p:cNvSpPr/>
          <p:nvPr/>
        </p:nvSpPr>
        <p:spPr>
          <a:xfrm>
            <a:off x="7020965" y="-2894472"/>
            <a:ext cx="1128772" cy="6889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Settings.gradle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70" name="꺾인 연결선[E] 69">
            <a:extLst>
              <a:ext uri="{FF2B5EF4-FFF2-40B4-BE49-F238E27FC236}">
                <a16:creationId xmlns:a16="http://schemas.microsoft.com/office/drawing/2014/main" id="{99449DC9-A388-FEDC-0192-3E512EE6770C}"/>
              </a:ext>
            </a:extLst>
          </p:cNvPr>
          <p:cNvCxnSpPr>
            <a:cxnSpLocks/>
            <a:stCxn id="69" idx="2"/>
            <a:endCxn id="18" idx="0"/>
          </p:cNvCxnSpPr>
          <p:nvPr/>
        </p:nvCxnSpPr>
        <p:spPr>
          <a:xfrm rot="5400000">
            <a:off x="5991770" y="-2762671"/>
            <a:ext cx="1036423" cy="2150740"/>
          </a:xfrm>
          <a:prstGeom prst="bentConnector3">
            <a:avLst>
              <a:gd name="adj1" fmla="val 26547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꺾인 연결선[E] 70">
            <a:extLst>
              <a:ext uri="{FF2B5EF4-FFF2-40B4-BE49-F238E27FC236}">
                <a16:creationId xmlns:a16="http://schemas.microsoft.com/office/drawing/2014/main" id="{7A672998-5B6B-8A8D-EFF7-A710128E3BAE}"/>
              </a:ext>
            </a:extLst>
          </p:cNvPr>
          <p:cNvCxnSpPr>
            <a:cxnSpLocks/>
            <a:stCxn id="69" idx="2"/>
            <a:endCxn id="33" idx="0"/>
          </p:cNvCxnSpPr>
          <p:nvPr/>
        </p:nvCxnSpPr>
        <p:spPr>
          <a:xfrm rot="16200000" flipH="1">
            <a:off x="8926409" y="-3546571"/>
            <a:ext cx="1036422" cy="3718539"/>
          </a:xfrm>
          <a:prstGeom prst="bentConnector3">
            <a:avLst>
              <a:gd name="adj1" fmla="val 26547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D0A2D290-22C8-D8C0-404A-FE08DCBAB755}"/>
              </a:ext>
            </a:extLst>
          </p:cNvPr>
          <p:cNvCxnSpPr>
            <a:cxnSpLocks/>
            <a:stCxn id="69" idx="3"/>
            <a:endCxn id="11" idx="1"/>
          </p:cNvCxnSpPr>
          <p:nvPr/>
        </p:nvCxnSpPr>
        <p:spPr>
          <a:xfrm>
            <a:off x="8149737" y="-2549992"/>
            <a:ext cx="291773" cy="5819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꺾인 연결선[E] 72">
            <a:extLst>
              <a:ext uri="{FF2B5EF4-FFF2-40B4-BE49-F238E27FC236}">
                <a16:creationId xmlns:a16="http://schemas.microsoft.com/office/drawing/2014/main" id="{CDAF08B6-CB72-628E-C6C2-5F43E575516C}"/>
              </a:ext>
            </a:extLst>
          </p:cNvPr>
          <p:cNvCxnSpPr>
            <a:cxnSpLocks/>
            <a:stCxn id="102" idx="2"/>
            <a:endCxn id="15" idx="0"/>
          </p:cNvCxnSpPr>
          <p:nvPr/>
        </p:nvCxnSpPr>
        <p:spPr>
          <a:xfrm rot="16200000" flipH="1">
            <a:off x="5876519" y="-2905081"/>
            <a:ext cx="1032415" cy="2439566"/>
          </a:xfrm>
          <a:prstGeom prst="bentConnector3">
            <a:avLst>
              <a:gd name="adj1" fmla="val 64575"/>
            </a:avLst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31BD3133-1CD2-B147-79B7-D62EB4C847B1}"/>
              </a:ext>
            </a:extLst>
          </p:cNvPr>
          <p:cNvSpPr/>
          <p:nvPr/>
        </p:nvSpPr>
        <p:spPr>
          <a:xfrm>
            <a:off x="9553904" y="6079640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KafkaErrorConfig</a:t>
            </a:r>
            <a:endParaRPr kumimoji="1" lang="en-US" altLang="ko-KR" sz="1000" dirty="0"/>
          </a:p>
          <a:p>
            <a:pPr algn="ctr"/>
            <a:r>
              <a:rPr kumimoji="1" lang="en-US" altLang="ko-KR" sz="1000" dirty="0"/>
              <a:t>(DLQ)</a:t>
            </a:r>
            <a:endParaRPr kumimoji="1" lang="ko-KR" altLang="en-US" sz="1000" dirty="0"/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0632E9A1-730D-3AFC-A274-3D6F42EDFD14}"/>
              </a:ext>
            </a:extLst>
          </p:cNvPr>
          <p:cNvSpPr/>
          <p:nvPr/>
        </p:nvSpPr>
        <p:spPr>
          <a:xfrm>
            <a:off x="12202432" y="6580834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*-{topic</a:t>
            </a:r>
            <a:r>
              <a:rPr kumimoji="1" lang="ko-KR" altLang="en-US" sz="1000" dirty="0"/>
              <a:t>명</a:t>
            </a:r>
            <a:r>
              <a:rPr kumimoji="1" lang="en-US" altLang="ko-KR" sz="1000" dirty="0"/>
              <a:t>}.log</a:t>
            </a:r>
            <a:endParaRPr kumimoji="1" lang="ko-KR" altLang="en-US" sz="1000" dirty="0"/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74C411B8-D10F-9550-ED43-E6C716156434}"/>
              </a:ext>
            </a:extLst>
          </p:cNvPr>
          <p:cNvSpPr/>
          <p:nvPr/>
        </p:nvSpPr>
        <p:spPr>
          <a:xfrm>
            <a:off x="6979754" y="6079639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ad-request-dlq-0/*.log</a:t>
            </a:r>
            <a:endParaRPr kumimoji="1" lang="ko-KR" altLang="en-US" sz="1000" dirty="0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896753B8-E2B5-2C84-ABFE-5774625B39A9}"/>
              </a:ext>
            </a:extLst>
          </p:cNvPr>
          <p:cNvSpPr/>
          <p:nvPr/>
        </p:nvSpPr>
        <p:spPr>
          <a:xfrm>
            <a:off x="6979754" y="5584268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ad-request-0/*.log</a:t>
            </a:r>
            <a:endParaRPr kumimoji="1"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BCD10E72-A9B8-582A-3647-D0773EB075CE}"/>
              </a:ext>
            </a:extLst>
          </p:cNvPr>
          <p:cNvCxnSpPr>
            <a:cxnSpLocks/>
            <a:stCxn id="16" idx="2"/>
            <a:endCxn id="78" idx="0"/>
          </p:cNvCxnSpPr>
          <p:nvPr/>
        </p:nvCxnSpPr>
        <p:spPr>
          <a:xfrm>
            <a:off x="7628200" y="5427678"/>
            <a:ext cx="0" cy="156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0" name="꺾인 연결선[E] 79">
            <a:extLst>
              <a:ext uri="{FF2B5EF4-FFF2-40B4-BE49-F238E27FC236}">
                <a16:creationId xmlns:a16="http://schemas.microsoft.com/office/drawing/2014/main" id="{816AD819-CEFE-0A4F-36A3-CA73AC94CBB6}"/>
              </a:ext>
            </a:extLst>
          </p:cNvPr>
          <p:cNvCxnSpPr>
            <a:cxnSpLocks/>
            <a:stCxn id="75" idx="3"/>
            <a:endCxn id="16" idx="0"/>
          </p:cNvCxnSpPr>
          <p:nvPr/>
        </p:nvCxnSpPr>
        <p:spPr>
          <a:xfrm flipH="1" flipV="1">
            <a:off x="7628200" y="5070997"/>
            <a:ext cx="3082328" cy="1186984"/>
          </a:xfrm>
          <a:prstGeom prst="bentConnector4">
            <a:avLst>
              <a:gd name="adj1" fmla="val -7416"/>
              <a:gd name="adj2" fmla="val 134331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1" name="꺾인 연결선[E] 80">
            <a:extLst>
              <a:ext uri="{FF2B5EF4-FFF2-40B4-BE49-F238E27FC236}">
                <a16:creationId xmlns:a16="http://schemas.microsoft.com/office/drawing/2014/main" id="{18036382-D7EB-BE0B-7D55-359B7A6A7170}"/>
              </a:ext>
            </a:extLst>
          </p:cNvPr>
          <p:cNvCxnSpPr>
            <a:cxnSpLocks/>
          </p:cNvCxnSpPr>
          <p:nvPr/>
        </p:nvCxnSpPr>
        <p:spPr>
          <a:xfrm>
            <a:off x="8276646" y="5299216"/>
            <a:ext cx="12700" cy="1008642"/>
          </a:xfrm>
          <a:prstGeom prst="bentConnector3">
            <a:avLst>
              <a:gd name="adj1" fmla="val 883638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C549E5F1-EF14-2873-50FF-56B341518B81}"/>
              </a:ext>
            </a:extLst>
          </p:cNvPr>
          <p:cNvCxnSpPr>
            <a:cxnSpLocks/>
          </p:cNvCxnSpPr>
          <p:nvPr/>
        </p:nvCxnSpPr>
        <p:spPr>
          <a:xfrm>
            <a:off x="8276646" y="6307858"/>
            <a:ext cx="12700" cy="498875"/>
          </a:xfrm>
          <a:prstGeom prst="bentConnector3">
            <a:avLst>
              <a:gd name="adj1" fmla="val 883638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3" name="꺾인 연결선[E] 82">
            <a:extLst>
              <a:ext uri="{FF2B5EF4-FFF2-40B4-BE49-F238E27FC236}">
                <a16:creationId xmlns:a16="http://schemas.microsoft.com/office/drawing/2014/main" id="{4E8C4DC4-52C6-85A2-C5F8-32FAB740BDAF}"/>
              </a:ext>
            </a:extLst>
          </p:cNvPr>
          <p:cNvCxnSpPr>
            <a:cxnSpLocks/>
            <a:stCxn id="78" idx="1"/>
            <a:endCxn id="17" idx="0"/>
          </p:cNvCxnSpPr>
          <p:nvPr/>
        </p:nvCxnSpPr>
        <p:spPr>
          <a:xfrm rot="10800000" flipH="1" flipV="1">
            <a:off x="6979754" y="5762608"/>
            <a:ext cx="648446" cy="815905"/>
          </a:xfrm>
          <a:prstGeom prst="bentConnector4">
            <a:avLst>
              <a:gd name="adj1" fmla="val -14743"/>
              <a:gd name="adj2" fmla="val 87419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BB1128C1-4666-73E3-CE4D-221B1A4F3363}"/>
              </a:ext>
            </a:extLst>
          </p:cNvPr>
          <p:cNvCxnSpPr>
            <a:cxnSpLocks/>
            <a:stCxn id="35" idx="1"/>
            <a:endCxn id="38" idx="1"/>
          </p:cNvCxnSpPr>
          <p:nvPr/>
        </p:nvCxnSpPr>
        <p:spPr>
          <a:xfrm rot="10800000" flipV="1">
            <a:off x="9551984" y="5762609"/>
            <a:ext cx="12700" cy="994246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1D114E60-0F08-F2B5-82FE-54E1476418AD}"/>
              </a:ext>
            </a:extLst>
          </p:cNvPr>
          <p:cNvSpPr/>
          <p:nvPr/>
        </p:nvSpPr>
        <p:spPr>
          <a:xfrm>
            <a:off x="6973308" y="5569686"/>
            <a:ext cx="832327" cy="86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500" b="1" dirty="0"/>
              <a:t>디폴트 보관기간</a:t>
            </a:r>
            <a:r>
              <a:rPr kumimoji="1" lang="en-US" altLang="ko-KR" sz="500" b="1" dirty="0"/>
              <a:t>:</a:t>
            </a:r>
            <a:r>
              <a:rPr kumimoji="1" lang="ko-KR" altLang="en-US" sz="500" b="1" dirty="0"/>
              <a:t> </a:t>
            </a:r>
            <a:r>
              <a:rPr kumimoji="1" lang="en-US" altLang="ko-KR" sz="500" b="1" dirty="0"/>
              <a:t>7</a:t>
            </a:r>
            <a:r>
              <a:rPr kumimoji="1" lang="ko-KR" altLang="en-US" sz="500" b="1" dirty="0"/>
              <a:t>일</a:t>
            </a: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1AE5EB99-27F5-116D-6375-CEBC8F4764A8}"/>
              </a:ext>
            </a:extLst>
          </p:cNvPr>
          <p:cNvSpPr/>
          <p:nvPr/>
        </p:nvSpPr>
        <p:spPr>
          <a:xfrm>
            <a:off x="6973308" y="6062481"/>
            <a:ext cx="832327" cy="8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500" b="1" dirty="0"/>
              <a:t>디폴트 보관기간</a:t>
            </a:r>
            <a:r>
              <a:rPr kumimoji="1" lang="en-US" altLang="ko-KR" sz="500" b="1" dirty="0"/>
              <a:t>:</a:t>
            </a:r>
            <a:r>
              <a:rPr kumimoji="1" lang="ko-KR" altLang="en-US" sz="500" b="1" dirty="0"/>
              <a:t> </a:t>
            </a:r>
            <a:r>
              <a:rPr kumimoji="1" lang="en-US" altLang="ko-KR" sz="500" b="1" dirty="0"/>
              <a:t>7</a:t>
            </a:r>
            <a:r>
              <a:rPr kumimoji="1" lang="ko-KR" altLang="en-US" sz="500" b="1" dirty="0"/>
              <a:t>일</a:t>
            </a:r>
          </a:p>
        </p:txBody>
      </p:sp>
      <p:sp>
        <p:nvSpPr>
          <p:cNvPr id="88" name="번개[L] 87">
            <a:extLst>
              <a:ext uri="{FF2B5EF4-FFF2-40B4-BE49-F238E27FC236}">
                <a16:creationId xmlns:a16="http://schemas.microsoft.com/office/drawing/2014/main" id="{E9101967-A4E4-BB99-F0B2-64182F757BDE}"/>
              </a:ext>
            </a:extLst>
          </p:cNvPr>
          <p:cNvSpPr/>
          <p:nvPr/>
        </p:nvSpPr>
        <p:spPr>
          <a:xfrm>
            <a:off x="6670273" y="308605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89" name="번개[L] 88">
            <a:extLst>
              <a:ext uri="{FF2B5EF4-FFF2-40B4-BE49-F238E27FC236}">
                <a16:creationId xmlns:a16="http://schemas.microsoft.com/office/drawing/2014/main" id="{BEA44EB8-782A-49FC-5C92-E7EF2EAC0999}"/>
              </a:ext>
            </a:extLst>
          </p:cNvPr>
          <p:cNvSpPr/>
          <p:nvPr/>
        </p:nvSpPr>
        <p:spPr>
          <a:xfrm>
            <a:off x="8867957" y="910711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90" name="모서리가 둥근 사각형 설명선[R] 89">
            <a:extLst>
              <a:ext uri="{FF2B5EF4-FFF2-40B4-BE49-F238E27FC236}">
                <a16:creationId xmlns:a16="http://schemas.microsoft.com/office/drawing/2014/main" id="{881C612D-1909-0CB9-C68F-9C9B1CEE4EBA}"/>
              </a:ext>
            </a:extLst>
          </p:cNvPr>
          <p:cNvSpPr/>
          <p:nvPr/>
        </p:nvSpPr>
        <p:spPr>
          <a:xfrm>
            <a:off x="6215286" y="4863457"/>
            <a:ext cx="631082" cy="161654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600" dirty="0" err="1">
                <a:solidFill>
                  <a:schemeClr val="tx1"/>
                </a:solidFill>
              </a:rPr>
              <a:t>버퍼큐사용</a:t>
            </a:r>
            <a:endParaRPr kumimoji="1"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91" name="모서리가 둥근 사각형 설명선[R] 90">
            <a:extLst>
              <a:ext uri="{FF2B5EF4-FFF2-40B4-BE49-F238E27FC236}">
                <a16:creationId xmlns:a16="http://schemas.microsoft.com/office/drawing/2014/main" id="{983C9E7D-0849-0A7E-E3A9-2EDEED4FA690}"/>
              </a:ext>
            </a:extLst>
          </p:cNvPr>
          <p:cNvSpPr/>
          <p:nvPr/>
        </p:nvSpPr>
        <p:spPr>
          <a:xfrm>
            <a:off x="8606574" y="4814959"/>
            <a:ext cx="631082" cy="161654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chemeClr val="tx1"/>
                </a:solidFill>
              </a:rPr>
              <a:t>polling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322BE7F9-9A1F-6136-D251-F9A2569B2083}"/>
              </a:ext>
            </a:extLst>
          </p:cNvPr>
          <p:cNvSpPr/>
          <p:nvPr/>
        </p:nvSpPr>
        <p:spPr>
          <a:xfrm>
            <a:off x="4422757" y="5777579"/>
            <a:ext cx="2023708" cy="3388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Port:8082)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A764BB4B-75DE-C284-84D2-6C0F3A8BCFCC}"/>
              </a:ext>
            </a:extLst>
          </p:cNvPr>
          <p:cNvSpPr/>
          <p:nvPr/>
        </p:nvSpPr>
        <p:spPr>
          <a:xfrm>
            <a:off x="4422757" y="6226508"/>
            <a:ext cx="2023708" cy="3388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Port:8083)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94FDD0A-89AE-40B3-1575-61DB98059896}"/>
              </a:ext>
            </a:extLst>
          </p:cNvPr>
          <p:cNvSpPr txBox="1"/>
          <p:nvPr/>
        </p:nvSpPr>
        <p:spPr>
          <a:xfrm>
            <a:off x="5306531" y="6497896"/>
            <a:ext cx="2135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/>
              <a:t>.</a:t>
            </a:r>
          </a:p>
          <a:p>
            <a:r>
              <a:rPr kumimoji="1" lang="en-US" altLang="ko-KR" sz="1000" dirty="0"/>
              <a:t>.</a:t>
            </a:r>
          </a:p>
          <a:p>
            <a:r>
              <a:rPr kumimoji="1" lang="en-US" altLang="ko-KR" sz="1000" dirty="0"/>
              <a:t>.</a:t>
            </a:r>
          </a:p>
        </p:txBody>
      </p:sp>
      <p:sp>
        <p:nvSpPr>
          <p:cNvPr id="99" name="모서리가 둥근 사각형 설명선[R] 98">
            <a:extLst>
              <a:ext uri="{FF2B5EF4-FFF2-40B4-BE49-F238E27FC236}">
                <a16:creationId xmlns:a16="http://schemas.microsoft.com/office/drawing/2014/main" id="{83EE0506-267C-7ADF-6B41-AAAB4888EFC0}"/>
              </a:ext>
            </a:extLst>
          </p:cNvPr>
          <p:cNvSpPr/>
          <p:nvPr/>
        </p:nvSpPr>
        <p:spPr>
          <a:xfrm>
            <a:off x="10804538" y="165659"/>
            <a:ext cx="2694786" cy="597115"/>
          </a:xfrm>
          <a:prstGeom prst="wedgeRoundRectCallout">
            <a:avLst>
              <a:gd name="adj1" fmla="val -21596"/>
              <a:gd name="adj2" fmla="val 139301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ad-log-consumer </a:t>
            </a:r>
            <a:r>
              <a:rPr kumimoji="1" lang="ko-KR" altLang="en-US" sz="600" dirty="0">
                <a:solidFill>
                  <a:srgbClr val="FF0000"/>
                </a:solidFill>
              </a:rPr>
              <a:t>장애대응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200(</a:t>
            </a:r>
            <a:r>
              <a:rPr kumimoji="1" lang="ko-KR" altLang="en-US" sz="600" dirty="0">
                <a:solidFill>
                  <a:srgbClr val="FF0000"/>
                </a:solidFill>
              </a:rPr>
              <a:t>비동기처리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503(</a:t>
            </a:r>
            <a:r>
              <a:rPr kumimoji="1" lang="ko-KR" altLang="en-US" sz="600" dirty="0">
                <a:solidFill>
                  <a:srgbClr val="FF0000"/>
                </a:solidFill>
              </a:rPr>
              <a:t>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eventId</a:t>
            </a:r>
            <a:r>
              <a:rPr kumimoji="1" lang="ko-KR" altLang="en-US" sz="600" dirty="0">
                <a:solidFill>
                  <a:srgbClr val="FF0000"/>
                </a:solidFill>
              </a:rPr>
              <a:t>로 중복처리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1)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Docker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에</a:t>
            </a:r>
            <a:r>
              <a:rPr kumimoji="1" lang="ko-KR" altLang="en-US" sz="600" dirty="0">
                <a:solidFill>
                  <a:srgbClr val="FF0000"/>
                </a:solidFill>
              </a:rPr>
              <a:t> 메시지 쌓이고 </a:t>
            </a:r>
            <a:r>
              <a:rPr kumimoji="1" lang="en-US" altLang="ko-KR" sz="600" dirty="0">
                <a:solidFill>
                  <a:srgbClr val="FF0000"/>
                </a:solidFill>
              </a:rPr>
              <a:t>&gt;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ad-log-consumer </a:t>
            </a:r>
            <a:r>
              <a:rPr kumimoji="1" lang="ko-KR" altLang="en-US" sz="600" dirty="0">
                <a:solidFill>
                  <a:srgbClr val="FF0000"/>
                </a:solidFill>
              </a:rPr>
              <a:t>가 켜지면 마지막 기록된 </a:t>
            </a:r>
            <a:r>
              <a:rPr kumimoji="1" lang="en-US" altLang="ko-KR" sz="600" dirty="0">
                <a:solidFill>
                  <a:srgbClr val="FF0000"/>
                </a:solidFill>
              </a:rPr>
              <a:t>offset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부터</a:t>
            </a:r>
            <a:r>
              <a:rPr kumimoji="1" lang="ko-KR" altLang="en-US" sz="600" dirty="0">
                <a:solidFill>
                  <a:srgbClr val="FF0000"/>
                </a:solidFill>
              </a:rPr>
              <a:t> 밀린 메시지를 전부 처리</a:t>
            </a:r>
            <a:endParaRPr kumimoji="1" lang="en-US" altLang="ko-KR" sz="600" dirty="0">
              <a:solidFill>
                <a:srgbClr val="FF0000"/>
              </a:solidFill>
            </a:endParaRPr>
          </a:p>
        </p:txBody>
      </p:sp>
      <p:sp>
        <p:nvSpPr>
          <p:cNvPr id="100" name="모서리가 둥근 사각형 설명선[R] 99">
            <a:extLst>
              <a:ext uri="{FF2B5EF4-FFF2-40B4-BE49-F238E27FC236}">
                <a16:creationId xmlns:a16="http://schemas.microsoft.com/office/drawing/2014/main" id="{05588821-C5E4-0342-9E5A-1EE071417F42}"/>
              </a:ext>
            </a:extLst>
          </p:cNvPr>
          <p:cNvSpPr/>
          <p:nvPr/>
        </p:nvSpPr>
        <p:spPr>
          <a:xfrm>
            <a:off x="7112816" y="-103725"/>
            <a:ext cx="3408571" cy="708170"/>
          </a:xfrm>
          <a:prstGeom prst="wedgeRoundRectCallout">
            <a:avLst>
              <a:gd name="adj1" fmla="val -38134"/>
              <a:gd name="adj2" fmla="val 61200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Docker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en-US" altLang="ko-KR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>
                <a:solidFill>
                  <a:srgbClr val="FF0000"/>
                </a:solidFill>
              </a:rPr>
              <a:t>장애대응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200(</a:t>
            </a:r>
            <a:r>
              <a:rPr kumimoji="1" lang="ko-KR" altLang="en-US" sz="600" dirty="0">
                <a:solidFill>
                  <a:srgbClr val="FF0000"/>
                </a:solidFill>
              </a:rPr>
              <a:t>비동기처리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503(</a:t>
            </a:r>
            <a:r>
              <a:rPr kumimoji="1" lang="ko-KR" altLang="en-US" sz="600" dirty="0">
                <a:solidFill>
                  <a:srgbClr val="FF0000"/>
                </a:solidFill>
              </a:rPr>
              <a:t>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eventId</a:t>
            </a:r>
            <a:r>
              <a:rPr kumimoji="1" lang="ko-KR" altLang="en-US" sz="600" dirty="0">
                <a:solidFill>
                  <a:srgbClr val="FF0000"/>
                </a:solidFill>
              </a:rPr>
              <a:t>로 중복처리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Kafka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여러대</a:t>
            </a:r>
            <a:r>
              <a:rPr kumimoji="1" lang="ko-KR" altLang="en-US" sz="600" dirty="0">
                <a:solidFill>
                  <a:srgbClr val="FF0000"/>
                </a:solidFill>
              </a:rPr>
              <a:t> 두기</a:t>
            </a:r>
            <a:r>
              <a:rPr kumimoji="1" lang="en-US" altLang="ko-KR" sz="600" dirty="0">
                <a:solidFill>
                  <a:srgbClr val="FF0000"/>
                </a:solidFill>
              </a:rPr>
              <a:t>(</a:t>
            </a:r>
            <a:r>
              <a:rPr kumimoji="1" lang="ko-KR" altLang="en-US" sz="600" dirty="0">
                <a:solidFill>
                  <a:srgbClr val="FF0000"/>
                </a:solidFill>
              </a:rPr>
              <a:t>추후예정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1)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에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>
                <a:solidFill>
                  <a:srgbClr val="FF0000"/>
                </a:solidFill>
              </a:rPr>
              <a:t>가 붙어있는 상태에서 잠깐 죽는 경우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2</a:t>
            </a:r>
            <a:r>
              <a:rPr kumimoji="1" lang="ko-KR" altLang="en-US" sz="600" dirty="0">
                <a:solidFill>
                  <a:srgbClr val="FF0000"/>
                </a:solidFill>
              </a:rPr>
              <a:t>분 안에 돌아오면 유실</a:t>
            </a:r>
            <a:r>
              <a:rPr kumimoji="1" lang="en-US" altLang="ko-KR" sz="600" dirty="0">
                <a:solidFill>
                  <a:srgbClr val="FF0000"/>
                </a:solidFill>
              </a:rPr>
              <a:t>x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2) Kafka</a:t>
            </a:r>
            <a:r>
              <a:rPr kumimoji="1" lang="ko-KR" altLang="en-US" sz="600" dirty="0">
                <a:solidFill>
                  <a:srgbClr val="FF0000"/>
                </a:solidFill>
              </a:rPr>
              <a:t>가 죽은 상태에서 </a:t>
            </a:r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ko-KR" altLang="en-US" sz="600" dirty="0">
                <a:solidFill>
                  <a:srgbClr val="FF0000"/>
                </a:solidFill>
              </a:rPr>
              <a:t> 켠 경우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max.block.ms</a:t>
            </a:r>
            <a:r>
              <a:rPr kumimoji="1" lang="ko-KR" altLang="en-US" sz="600" dirty="0">
                <a:solidFill>
                  <a:srgbClr val="FF0000"/>
                </a:solidFill>
              </a:rPr>
              <a:t>설정 </a:t>
            </a:r>
            <a:r>
              <a:rPr kumimoji="1" lang="en-US" altLang="ko-KR" sz="600" dirty="0">
                <a:solidFill>
                  <a:srgbClr val="FF0000"/>
                </a:solidFill>
              </a:rPr>
              <a:t>3</a:t>
            </a:r>
            <a:r>
              <a:rPr kumimoji="1" lang="ko-KR" altLang="en-US" sz="600" dirty="0">
                <a:solidFill>
                  <a:srgbClr val="FF0000"/>
                </a:solidFill>
              </a:rPr>
              <a:t>초씩 느려지고 이벤트 유실됨</a:t>
            </a:r>
            <a:r>
              <a:rPr kumimoji="1" lang="en-US" altLang="ko-KR" sz="600" dirty="0">
                <a:solidFill>
                  <a:srgbClr val="FF0000"/>
                </a:solidFill>
              </a:rPr>
              <a:t>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endParaRPr kumimoji="1" lang="en-US" altLang="ko-KR" sz="600" dirty="0">
              <a:solidFill>
                <a:srgbClr val="FF0000"/>
              </a:solidFill>
            </a:endParaRP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D9249F37-616D-41B2-9C8E-C3E056C37F1D}"/>
              </a:ext>
            </a:extLst>
          </p:cNvPr>
          <p:cNvSpPr/>
          <p:nvPr/>
        </p:nvSpPr>
        <p:spPr>
          <a:xfrm>
            <a:off x="4422757" y="-2894474"/>
            <a:ext cx="1494255" cy="28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Nginx/ad-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api.conf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0E891194-6470-EEE1-6497-64DE00CA59DE}"/>
              </a:ext>
            </a:extLst>
          </p:cNvPr>
          <p:cNvSpPr/>
          <p:nvPr/>
        </p:nvSpPr>
        <p:spPr>
          <a:xfrm>
            <a:off x="4425815" y="-2489505"/>
            <a:ext cx="1494255" cy="28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compose.yml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BCE037B1-B9BE-C0B7-3173-A9B32EFDEB2C}"/>
              </a:ext>
            </a:extLst>
          </p:cNvPr>
          <p:cNvSpPr/>
          <p:nvPr/>
        </p:nvSpPr>
        <p:spPr>
          <a:xfrm>
            <a:off x="1691288" y="-1170126"/>
            <a:ext cx="1732582" cy="860107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898F42B3-75EE-BF41-6AF4-BAF4F3186CFC}"/>
              </a:ext>
            </a:extLst>
          </p:cNvPr>
          <p:cNvSpPr/>
          <p:nvPr/>
        </p:nvSpPr>
        <p:spPr>
          <a:xfrm>
            <a:off x="1924937" y="3502669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adwhale-lb</a:t>
            </a:r>
            <a:r>
              <a:rPr kumimoji="1" lang="en-US" altLang="ko-KR" sz="1000" dirty="0"/>
              <a:t>(nginx)</a:t>
            </a:r>
            <a:endParaRPr kumimoji="1" lang="ko-KR" altLang="en-US" sz="1000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3FA622AE-0ABF-67F3-758A-BCF6E4636DEA}"/>
              </a:ext>
            </a:extLst>
          </p:cNvPr>
          <p:cNvCxnSpPr>
            <a:cxnSpLocks/>
            <a:stCxn id="21" idx="1"/>
            <a:endCxn id="9" idx="3"/>
          </p:cNvCxnSpPr>
          <p:nvPr/>
        </p:nvCxnSpPr>
        <p:spPr>
          <a:xfrm flipH="1">
            <a:off x="143724" y="4212126"/>
            <a:ext cx="46718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86F9E92-A769-91B3-CC7E-C68F06ACD32C}"/>
              </a:ext>
            </a:extLst>
          </p:cNvPr>
          <p:cNvSpPr txBox="1"/>
          <p:nvPr/>
        </p:nvSpPr>
        <p:spPr>
          <a:xfrm>
            <a:off x="136963" y="3479479"/>
            <a:ext cx="179247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[POST] Http://localhost:8080/v1/ad/request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2DF2AD1A-9E21-7963-2814-6363111FA54E}"/>
              </a:ext>
            </a:extLst>
          </p:cNvPr>
          <p:cNvCxnSpPr>
            <a:cxnSpLocks/>
            <a:stCxn id="48" idx="6"/>
            <a:endCxn id="46" idx="1"/>
          </p:cNvCxnSpPr>
          <p:nvPr/>
        </p:nvCxnSpPr>
        <p:spPr>
          <a:xfrm>
            <a:off x="-2563317" y="855319"/>
            <a:ext cx="953662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765CFD8D-D102-AB6B-B5C9-19B4B4C96988}"/>
              </a:ext>
            </a:extLst>
          </p:cNvPr>
          <p:cNvCxnSpPr>
            <a:cxnSpLocks/>
            <a:stCxn id="49" idx="6"/>
            <a:endCxn id="36" idx="1"/>
          </p:cNvCxnSpPr>
          <p:nvPr/>
        </p:nvCxnSpPr>
        <p:spPr>
          <a:xfrm>
            <a:off x="-2563317" y="1393684"/>
            <a:ext cx="11906583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A0734B35-AB1C-9308-A3D4-36EF2A63F23D}"/>
              </a:ext>
            </a:extLst>
          </p:cNvPr>
          <p:cNvCxnSpPr>
            <a:cxnSpLocks/>
            <a:stCxn id="50" idx="6"/>
            <a:endCxn id="23" idx="1"/>
          </p:cNvCxnSpPr>
          <p:nvPr/>
        </p:nvCxnSpPr>
        <p:spPr>
          <a:xfrm>
            <a:off x="-2563317" y="1866164"/>
            <a:ext cx="7378925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C78EB11A-F311-869C-0940-AD8A4F4C9386}"/>
              </a:ext>
            </a:extLst>
          </p:cNvPr>
          <p:cNvSpPr txBox="1"/>
          <p:nvPr/>
        </p:nvSpPr>
        <p:spPr>
          <a:xfrm>
            <a:off x="2173887" y="4228407"/>
            <a:ext cx="74571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requestId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adId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placementUid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creativeUrl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landingUrl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2E74038F-8774-46FF-D4EB-A9DE2E808122}"/>
              </a:ext>
            </a:extLst>
          </p:cNvPr>
          <p:cNvCxnSpPr>
            <a:cxnSpLocks/>
            <a:stCxn id="8" idx="3"/>
            <a:endCxn id="127" idx="1"/>
          </p:cNvCxnSpPr>
          <p:nvPr/>
        </p:nvCxnSpPr>
        <p:spPr>
          <a:xfrm flipV="1">
            <a:off x="151947" y="3681010"/>
            <a:ext cx="1772990" cy="3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BA069A92-4DC8-CC14-99EE-F22D10AACA49}"/>
              </a:ext>
            </a:extLst>
          </p:cNvPr>
          <p:cNvCxnSpPr>
            <a:cxnSpLocks/>
            <a:stCxn id="127" idx="3"/>
            <a:endCxn id="20" idx="1"/>
          </p:cNvCxnSpPr>
          <p:nvPr/>
        </p:nvCxnSpPr>
        <p:spPr>
          <a:xfrm>
            <a:off x="3221829" y="3681010"/>
            <a:ext cx="1593779" cy="4738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D0700411-615A-EF24-6987-7AFA45D67C4E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21829" y="-2819924"/>
            <a:ext cx="1200928" cy="6431484"/>
          </a:xfrm>
          <a:prstGeom prst="bentConnector3">
            <a:avLst>
              <a:gd name="adj1" fmla="val 73131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번개[L] 86">
            <a:extLst>
              <a:ext uri="{FF2B5EF4-FFF2-40B4-BE49-F238E27FC236}">
                <a16:creationId xmlns:a16="http://schemas.microsoft.com/office/drawing/2014/main" id="{8569F736-EB4C-F9EC-C366-39CF94A557FD}"/>
              </a:ext>
            </a:extLst>
          </p:cNvPr>
          <p:cNvSpPr/>
          <p:nvPr/>
        </p:nvSpPr>
        <p:spPr>
          <a:xfrm>
            <a:off x="1842093" y="3204328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98" name="모서리가 둥근 사각형 설명선[R] 97">
            <a:extLst>
              <a:ext uri="{FF2B5EF4-FFF2-40B4-BE49-F238E27FC236}">
                <a16:creationId xmlns:a16="http://schemas.microsoft.com/office/drawing/2014/main" id="{AA0B5DF9-853F-6BAD-ABDD-C228BF3EDD08}"/>
              </a:ext>
            </a:extLst>
          </p:cNvPr>
          <p:cNvSpPr/>
          <p:nvPr/>
        </p:nvSpPr>
        <p:spPr>
          <a:xfrm>
            <a:off x="383686" y="2782956"/>
            <a:ext cx="2067971" cy="388601"/>
          </a:xfrm>
          <a:prstGeom prst="wedgeRoundRectCallout">
            <a:avLst>
              <a:gd name="adj1" fmla="val 24679"/>
              <a:gd name="adj2" fmla="val 76140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en-US" altLang="ko-KR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>
                <a:solidFill>
                  <a:srgbClr val="FF0000"/>
                </a:solidFill>
              </a:rPr>
              <a:t>서버 장애대응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응답</a:t>
            </a:r>
            <a:r>
              <a:rPr kumimoji="1" lang="en-US" altLang="ko-KR" sz="600" dirty="0">
                <a:solidFill>
                  <a:srgbClr val="FF0000"/>
                </a:solidFill>
              </a:rPr>
              <a:t>x,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>
                <a:solidFill>
                  <a:srgbClr val="FF0000"/>
                </a:solidFill>
              </a:rPr>
              <a:t>메시지</a:t>
            </a:r>
            <a:r>
              <a:rPr kumimoji="1" lang="en-US" altLang="ko-KR" sz="600" dirty="0">
                <a:solidFill>
                  <a:srgbClr val="FF0000"/>
                </a:solidFill>
              </a:rPr>
              <a:t>x</a:t>
            </a:r>
            <a:r>
              <a:rPr kumimoji="1" lang="ko-KR" altLang="en-US" sz="600" dirty="0">
                <a:solidFill>
                  <a:srgbClr val="FF0000"/>
                </a:solidFill>
              </a:rPr>
              <a:t> 일 경우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로드밸런서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nginx </a:t>
            </a:r>
            <a:r>
              <a:rPr kumimoji="1" lang="ko-KR" altLang="en-US" sz="600" dirty="0">
                <a:solidFill>
                  <a:srgbClr val="FF0000"/>
                </a:solidFill>
              </a:rPr>
              <a:t>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503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</a:t>
            </a: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6202DD8F-CF96-C0F6-0AB5-344F929CA9EC}"/>
              </a:ext>
            </a:extLst>
          </p:cNvPr>
          <p:cNvSpPr/>
          <p:nvPr/>
        </p:nvSpPr>
        <p:spPr>
          <a:xfrm>
            <a:off x="1925188" y="2307721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adwhale-lb</a:t>
            </a:r>
            <a:r>
              <a:rPr kumimoji="1" lang="en-US" altLang="ko-KR" sz="1000" dirty="0"/>
              <a:t>(nginx)</a:t>
            </a:r>
            <a:endParaRPr kumimoji="1" lang="ko-KR" altLang="en-US" sz="1000" dirty="0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565A5F12-7076-BC9F-4643-593DFE71AA53}"/>
              </a:ext>
            </a:extLst>
          </p:cNvPr>
          <p:cNvSpPr/>
          <p:nvPr/>
        </p:nvSpPr>
        <p:spPr>
          <a:xfrm>
            <a:off x="-2797233" y="2354222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7C78A916-619E-FAF9-BE68-3F7E4A70F3D5}"/>
              </a:ext>
            </a:extLst>
          </p:cNvPr>
          <p:cNvSpPr txBox="1"/>
          <p:nvPr/>
        </p:nvSpPr>
        <p:spPr>
          <a:xfrm>
            <a:off x="-3729352" y="2626936"/>
            <a:ext cx="207781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4.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Loadbalancer </a:t>
            </a:r>
            <a:r>
              <a:rPr kumimoji="1" lang="ko-KR" altLang="en-US" sz="1000" dirty="0">
                <a:solidFill>
                  <a:srgbClr val="0070C0"/>
                </a:solidFill>
              </a:rPr>
              <a:t>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8080)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0F9844F9-58E9-82B6-C194-CCBD18378A13}"/>
              </a:ext>
            </a:extLst>
          </p:cNvPr>
          <p:cNvCxnSpPr>
            <a:cxnSpLocks/>
            <a:stCxn id="138" idx="6"/>
            <a:endCxn id="136" idx="1"/>
          </p:cNvCxnSpPr>
          <p:nvPr/>
        </p:nvCxnSpPr>
        <p:spPr>
          <a:xfrm>
            <a:off x="-2563317" y="2481813"/>
            <a:ext cx="4488505" cy="4249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9E0FE72-225D-A5A7-548F-BBEA8F180DD9}"/>
              </a:ext>
            </a:extLst>
          </p:cNvPr>
          <p:cNvSpPr txBox="1"/>
          <p:nvPr/>
        </p:nvSpPr>
        <p:spPr>
          <a:xfrm>
            <a:off x="2285592" y="4019486"/>
            <a:ext cx="5357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JSON</a:t>
            </a:r>
            <a:r>
              <a:rPr kumimoji="1" lang="ko-KR" altLang="en-US" sz="600" b="1" dirty="0">
                <a:solidFill>
                  <a:schemeClr val="accent2"/>
                </a:solidFill>
              </a:rPr>
              <a:t>객체</a:t>
            </a:r>
          </a:p>
        </p:txBody>
      </p:sp>
      <p:cxnSp>
        <p:nvCxnSpPr>
          <p:cNvPr id="151" name="직선 화살표 연결선 150">
            <a:extLst>
              <a:ext uri="{FF2B5EF4-FFF2-40B4-BE49-F238E27FC236}">
                <a16:creationId xmlns:a16="http://schemas.microsoft.com/office/drawing/2014/main" id="{0F27B3BE-2E1A-44FE-CFDE-F00B2687B36F}"/>
              </a:ext>
            </a:extLst>
          </p:cNvPr>
          <p:cNvCxnSpPr>
            <a:stCxn id="136" idx="2"/>
            <a:endCxn id="127" idx="0"/>
          </p:cNvCxnSpPr>
          <p:nvPr/>
        </p:nvCxnSpPr>
        <p:spPr>
          <a:xfrm flipH="1">
            <a:off x="2573383" y="2664402"/>
            <a:ext cx="251" cy="838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2" name="타원 151">
            <a:extLst>
              <a:ext uri="{FF2B5EF4-FFF2-40B4-BE49-F238E27FC236}">
                <a16:creationId xmlns:a16="http://schemas.microsoft.com/office/drawing/2014/main" id="{E728D6BA-E6DC-406E-EEBF-4BAA612A8310}"/>
              </a:ext>
            </a:extLst>
          </p:cNvPr>
          <p:cNvSpPr/>
          <p:nvPr/>
        </p:nvSpPr>
        <p:spPr>
          <a:xfrm>
            <a:off x="-2797233" y="5824556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B2925AB7-05A8-79EC-7379-C096A0887CA8}"/>
              </a:ext>
            </a:extLst>
          </p:cNvPr>
          <p:cNvSpPr txBox="1"/>
          <p:nvPr/>
        </p:nvSpPr>
        <p:spPr>
          <a:xfrm>
            <a:off x="-3679659" y="6097270"/>
            <a:ext cx="19784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3.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</a:t>
            </a:r>
            <a:r>
              <a:rPr kumimoji="1" lang="en-US" altLang="ko-KR" sz="1000" dirty="0" err="1">
                <a:solidFill>
                  <a:srgbClr val="0070C0"/>
                </a:solidFill>
              </a:rPr>
              <a:t>api</a:t>
            </a:r>
            <a:r>
              <a:rPr kumimoji="1" lang="en-US" altLang="ko-KR" sz="1000" dirty="0">
                <a:solidFill>
                  <a:srgbClr val="0070C0"/>
                </a:solidFill>
              </a:rPr>
              <a:t> </a:t>
            </a:r>
            <a:r>
              <a:rPr kumimoji="1" lang="ko-KR" altLang="en-US" sz="1000" dirty="0">
                <a:solidFill>
                  <a:srgbClr val="0070C0"/>
                </a:solidFill>
              </a:rPr>
              <a:t>서버 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8082)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cxnSp>
        <p:nvCxnSpPr>
          <p:cNvPr id="154" name="직선 화살표 연결선 153">
            <a:extLst>
              <a:ext uri="{FF2B5EF4-FFF2-40B4-BE49-F238E27FC236}">
                <a16:creationId xmlns:a16="http://schemas.microsoft.com/office/drawing/2014/main" id="{1A863A8B-8F26-C725-251C-45C11A5E6713}"/>
              </a:ext>
            </a:extLst>
          </p:cNvPr>
          <p:cNvCxnSpPr>
            <a:cxnSpLocks/>
            <a:stCxn id="152" idx="6"/>
            <a:endCxn id="93" idx="1"/>
          </p:cNvCxnSpPr>
          <p:nvPr/>
        </p:nvCxnSpPr>
        <p:spPr>
          <a:xfrm flipV="1">
            <a:off x="-2563317" y="5947004"/>
            <a:ext cx="6986074" cy="5143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5F9490A3-D556-7A0A-9914-ED2AD6ECAC35}"/>
              </a:ext>
            </a:extLst>
          </p:cNvPr>
          <p:cNvCxnSpPr>
            <a:cxnSpLocks/>
            <a:stCxn id="56" idx="6"/>
            <a:endCxn id="17" idx="1"/>
          </p:cNvCxnSpPr>
          <p:nvPr/>
        </p:nvCxnSpPr>
        <p:spPr>
          <a:xfrm>
            <a:off x="-2563317" y="6756854"/>
            <a:ext cx="9543071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모서리가 둥근 사각형 설명선[R] 95">
            <a:extLst>
              <a:ext uri="{FF2B5EF4-FFF2-40B4-BE49-F238E27FC236}">
                <a16:creationId xmlns:a16="http://schemas.microsoft.com/office/drawing/2014/main" id="{021FEA7D-42FB-E7E8-73F7-8385A18B6038}"/>
              </a:ext>
            </a:extLst>
          </p:cNvPr>
          <p:cNvSpPr/>
          <p:nvPr/>
        </p:nvSpPr>
        <p:spPr>
          <a:xfrm>
            <a:off x="3594589" y="3363748"/>
            <a:ext cx="761673" cy="184666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600" dirty="0" err="1">
                <a:solidFill>
                  <a:schemeClr val="tx1"/>
                </a:solidFill>
              </a:rPr>
              <a:t>라운드로빈사용</a:t>
            </a:r>
            <a:endParaRPr kumimoji="1" lang="en-US" altLang="ko-KR" sz="600" dirty="0">
              <a:solidFill>
                <a:schemeClr val="tx1"/>
              </a:solidFill>
            </a:endParaRPr>
          </a:p>
        </p:txBody>
      </p:sp>
      <p:cxnSp>
        <p:nvCxnSpPr>
          <p:cNvPr id="164" name="꺾인 연결선[E] 163">
            <a:extLst>
              <a:ext uri="{FF2B5EF4-FFF2-40B4-BE49-F238E27FC236}">
                <a16:creationId xmlns:a16="http://schemas.microsoft.com/office/drawing/2014/main" id="{D173D1EF-3C8F-5D78-3D0B-2CDAE88BF5AE}"/>
              </a:ext>
            </a:extLst>
          </p:cNvPr>
          <p:cNvCxnSpPr>
            <a:cxnSpLocks/>
            <a:stCxn id="102" idx="2"/>
            <a:endCxn id="126" idx="0"/>
          </p:cNvCxnSpPr>
          <p:nvPr/>
        </p:nvCxnSpPr>
        <p:spPr>
          <a:xfrm rot="5400000">
            <a:off x="3349572" y="-2993498"/>
            <a:ext cx="1031379" cy="2615364"/>
          </a:xfrm>
          <a:prstGeom prst="bentConnector3">
            <a:avLst>
              <a:gd name="adj1" fmla="val 64589"/>
            </a:avLst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직사각형 167">
            <a:extLst>
              <a:ext uri="{FF2B5EF4-FFF2-40B4-BE49-F238E27FC236}">
                <a16:creationId xmlns:a16="http://schemas.microsoft.com/office/drawing/2014/main" id="{D70FBBA8-6B3D-236A-02F3-4B65EBBAFF3D}"/>
              </a:ext>
            </a:extLst>
          </p:cNvPr>
          <p:cNvSpPr/>
          <p:nvPr/>
        </p:nvSpPr>
        <p:spPr>
          <a:xfrm>
            <a:off x="17346177" y="-1170125"/>
            <a:ext cx="2020910" cy="860107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69" name="직사각형 168">
            <a:extLst>
              <a:ext uri="{FF2B5EF4-FFF2-40B4-BE49-F238E27FC236}">
                <a16:creationId xmlns:a16="http://schemas.microsoft.com/office/drawing/2014/main" id="{87203659-F6DA-215E-CC67-468A3F8E4C61}"/>
              </a:ext>
            </a:extLst>
          </p:cNvPr>
          <p:cNvSpPr/>
          <p:nvPr/>
        </p:nvSpPr>
        <p:spPr>
          <a:xfrm>
            <a:off x="17701090" y="-853883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adwhale-mysql</a:t>
            </a:r>
            <a:endParaRPr kumimoji="1" lang="ko-KR" altLang="en-US" sz="1000" dirty="0"/>
          </a:p>
        </p:txBody>
      </p:sp>
      <p:sp>
        <p:nvSpPr>
          <p:cNvPr id="170" name="원통[C] 169">
            <a:extLst>
              <a:ext uri="{FF2B5EF4-FFF2-40B4-BE49-F238E27FC236}">
                <a16:creationId xmlns:a16="http://schemas.microsoft.com/office/drawing/2014/main" id="{B4A257A3-2AA0-30DD-12B0-8C54FF102191}"/>
              </a:ext>
            </a:extLst>
          </p:cNvPr>
          <p:cNvSpPr/>
          <p:nvPr/>
        </p:nvSpPr>
        <p:spPr>
          <a:xfrm>
            <a:off x="17491010" y="1321239"/>
            <a:ext cx="1717051" cy="3723750"/>
          </a:xfrm>
          <a:prstGeom prst="can">
            <a:avLst>
              <a:gd name="adj" fmla="val 8527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adwhale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-db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88" name="타원 187">
            <a:extLst>
              <a:ext uri="{FF2B5EF4-FFF2-40B4-BE49-F238E27FC236}">
                <a16:creationId xmlns:a16="http://schemas.microsoft.com/office/drawing/2014/main" id="{2DCBB274-1634-8127-86EC-7C97BFFCE256}"/>
              </a:ext>
            </a:extLst>
          </p:cNvPr>
          <p:cNvSpPr/>
          <p:nvPr/>
        </p:nvSpPr>
        <p:spPr>
          <a:xfrm>
            <a:off x="-2797233" y="-800905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E854184-AC02-F05E-4DC4-C6527AF9E67A}"/>
              </a:ext>
            </a:extLst>
          </p:cNvPr>
          <p:cNvSpPr txBox="1"/>
          <p:nvPr/>
        </p:nvSpPr>
        <p:spPr>
          <a:xfrm>
            <a:off x="-3765420" y="-531220"/>
            <a:ext cx="21499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5.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MySQL docker </a:t>
            </a:r>
            <a:r>
              <a:rPr kumimoji="1" lang="ko-KR" altLang="en-US" sz="1000" dirty="0">
                <a:solidFill>
                  <a:srgbClr val="0070C0"/>
                </a:solidFill>
              </a:rPr>
              <a:t>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3306)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2C0D7F09-345D-4FCB-CA20-F4F4C7307137}"/>
              </a:ext>
            </a:extLst>
          </p:cNvPr>
          <p:cNvCxnSpPr>
            <a:cxnSpLocks/>
            <a:stCxn id="169" idx="2"/>
            <a:endCxn id="170" idx="1"/>
          </p:cNvCxnSpPr>
          <p:nvPr/>
        </p:nvCxnSpPr>
        <p:spPr>
          <a:xfrm>
            <a:off x="18349536" y="-497202"/>
            <a:ext cx="0" cy="1818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4" name="직사각형 203">
            <a:extLst>
              <a:ext uri="{FF2B5EF4-FFF2-40B4-BE49-F238E27FC236}">
                <a16:creationId xmlns:a16="http://schemas.microsoft.com/office/drawing/2014/main" id="{9BB142B0-184A-80F0-88D5-7A811076FF93}"/>
              </a:ext>
            </a:extLst>
          </p:cNvPr>
          <p:cNvSpPr/>
          <p:nvPr/>
        </p:nvSpPr>
        <p:spPr>
          <a:xfrm>
            <a:off x="10399754" y="3561303"/>
            <a:ext cx="1443683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AdEventRepository</a:t>
            </a:r>
            <a:endParaRPr kumimoji="1" lang="ko-KR" altLang="en-US" sz="1000" dirty="0"/>
          </a:p>
        </p:txBody>
      </p:sp>
      <p:sp>
        <p:nvSpPr>
          <p:cNvPr id="205" name="직사각형 204">
            <a:extLst>
              <a:ext uri="{FF2B5EF4-FFF2-40B4-BE49-F238E27FC236}">
                <a16:creationId xmlns:a16="http://schemas.microsoft.com/office/drawing/2014/main" id="{CCAEF370-1A46-041E-4838-5D4C0B66173D}"/>
              </a:ext>
            </a:extLst>
          </p:cNvPr>
          <p:cNvSpPr/>
          <p:nvPr/>
        </p:nvSpPr>
        <p:spPr>
          <a:xfrm>
            <a:off x="10388526" y="3000583"/>
            <a:ext cx="1469228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jdbc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A2258C20-0A35-0DFB-D584-F2BEA4F61379}"/>
              </a:ext>
            </a:extLst>
          </p:cNvPr>
          <p:cNvSpPr txBox="1"/>
          <p:nvPr/>
        </p:nvSpPr>
        <p:spPr>
          <a:xfrm>
            <a:off x="8499503" y="4059244"/>
            <a:ext cx="92685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DB LISTENER (3306)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222" name="직사각형 221">
            <a:extLst>
              <a:ext uri="{FF2B5EF4-FFF2-40B4-BE49-F238E27FC236}">
                <a16:creationId xmlns:a16="http://schemas.microsoft.com/office/drawing/2014/main" id="{6C840BE6-7952-CE87-3E5B-A7A89BA96770}"/>
              </a:ext>
            </a:extLst>
          </p:cNvPr>
          <p:cNvSpPr/>
          <p:nvPr/>
        </p:nvSpPr>
        <p:spPr>
          <a:xfrm>
            <a:off x="10403954" y="4081251"/>
            <a:ext cx="1443683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AdEventDbConsumer</a:t>
            </a:r>
            <a:endParaRPr kumimoji="1" lang="ko-KR" altLang="en-US" sz="1000" dirty="0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3055BAC-15FD-AF0C-85D7-7D869EE66A84}"/>
              </a:ext>
            </a:extLst>
          </p:cNvPr>
          <p:cNvCxnSpPr>
            <a:cxnSpLocks/>
            <a:stCxn id="222" idx="0"/>
            <a:endCxn id="204" idx="2"/>
          </p:cNvCxnSpPr>
          <p:nvPr/>
        </p:nvCxnSpPr>
        <p:spPr>
          <a:xfrm flipH="1" flipV="1">
            <a:off x="11121596" y="3917984"/>
            <a:ext cx="4200" cy="163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33" name="꺾인 연결선[E] 232">
            <a:extLst>
              <a:ext uri="{FF2B5EF4-FFF2-40B4-BE49-F238E27FC236}">
                <a16:creationId xmlns:a16="http://schemas.microsoft.com/office/drawing/2014/main" id="{DA4B7BC5-607F-35FD-E676-63ABB5190C05}"/>
              </a:ext>
            </a:extLst>
          </p:cNvPr>
          <p:cNvCxnSpPr>
            <a:cxnSpLocks/>
            <a:stCxn id="16" idx="3"/>
            <a:endCxn id="222" idx="1"/>
          </p:cNvCxnSpPr>
          <p:nvPr/>
        </p:nvCxnSpPr>
        <p:spPr>
          <a:xfrm flipV="1">
            <a:off x="8276646" y="4259592"/>
            <a:ext cx="2127308" cy="989746"/>
          </a:xfrm>
          <a:prstGeom prst="bentConnector3">
            <a:avLst>
              <a:gd name="adj1" fmla="val 3746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97CD235C-7C2C-294A-7BCA-AB591E484533}"/>
              </a:ext>
            </a:extLst>
          </p:cNvPr>
          <p:cNvCxnSpPr>
            <a:cxnSpLocks/>
          </p:cNvCxnSpPr>
          <p:nvPr/>
        </p:nvCxnSpPr>
        <p:spPr>
          <a:xfrm>
            <a:off x="9921578" y="1572025"/>
            <a:ext cx="0" cy="35124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00D36DB0-36AF-5D94-4CA0-8F8943EFE543}"/>
              </a:ext>
            </a:extLst>
          </p:cNvPr>
          <p:cNvCxnSpPr>
            <a:cxnSpLocks/>
            <a:stCxn id="204" idx="0"/>
            <a:endCxn id="205" idx="2"/>
          </p:cNvCxnSpPr>
          <p:nvPr/>
        </p:nvCxnSpPr>
        <p:spPr>
          <a:xfrm flipV="1">
            <a:off x="11121596" y="3373584"/>
            <a:ext cx="1544" cy="1877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60" name="직선 화살표 연결선 259">
            <a:extLst>
              <a:ext uri="{FF2B5EF4-FFF2-40B4-BE49-F238E27FC236}">
                <a16:creationId xmlns:a16="http://schemas.microsoft.com/office/drawing/2014/main" id="{B9421131-B001-29FE-63EF-A11A512369E3}"/>
              </a:ext>
            </a:extLst>
          </p:cNvPr>
          <p:cNvCxnSpPr>
            <a:cxnSpLocks/>
            <a:endCxn id="205" idx="0"/>
          </p:cNvCxnSpPr>
          <p:nvPr/>
        </p:nvCxnSpPr>
        <p:spPr>
          <a:xfrm>
            <a:off x="11123140" y="1572025"/>
            <a:ext cx="0" cy="1428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표 263">
            <a:extLst>
              <a:ext uri="{FF2B5EF4-FFF2-40B4-BE49-F238E27FC236}">
                <a16:creationId xmlns:a16="http://schemas.microsoft.com/office/drawing/2014/main" id="{3CA982AE-03D9-6617-6159-C67C74F74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769035"/>
              </p:ext>
            </p:extLst>
          </p:nvPr>
        </p:nvGraphicFramePr>
        <p:xfrm>
          <a:off x="17608402" y="2258833"/>
          <a:ext cx="1457960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60403379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512224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34891184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92032768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6204638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8182935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29149594"/>
                    </a:ext>
                  </a:extLst>
                </a:gridCol>
              </a:tblGrid>
              <a:tr h="17905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706128"/>
                  </a:ext>
                </a:extLst>
              </a:tr>
              <a:tr h="17905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70320"/>
                  </a:ext>
                </a:extLst>
              </a:tr>
            </a:tbl>
          </a:graphicData>
        </a:graphic>
      </p:graphicFrame>
      <p:graphicFrame>
        <p:nvGraphicFramePr>
          <p:cNvPr id="265" name="표 264">
            <a:extLst>
              <a:ext uri="{FF2B5EF4-FFF2-40B4-BE49-F238E27FC236}">
                <a16:creationId xmlns:a16="http://schemas.microsoft.com/office/drawing/2014/main" id="{7431D75A-0519-83D8-B5F6-ACF04D67D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101343"/>
              </p:ext>
            </p:extLst>
          </p:nvPr>
        </p:nvGraphicFramePr>
        <p:xfrm>
          <a:off x="17608402" y="3716201"/>
          <a:ext cx="1457960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60403379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512224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34891184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92032768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6204638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8182935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29149594"/>
                    </a:ext>
                  </a:extLst>
                </a:gridCol>
              </a:tblGrid>
              <a:tr h="17905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706128"/>
                  </a:ext>
                </a:extLst>
              </a:tr>
              <a:tr h="17905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70320"/>
                  </a:ext>
                </a:extLst>
              </a:tr>
            </a:tbl>
          </a:graphicData>
        </a:graphic>
      </p:graphicFrame>
      <p:sp>
        <p:nvSpPr>
          <p:cNvPr id="266" name="TextBox 265">
            <a:extLst>
              <a:ext uri="{FF2B5EF4-FFF2-40B4-BE49-F238E27FC236}">
                <a16:creationId xmlns:a16="http://schemas.microsoft.com/office/drawing/2014/main" id="{B64240BB-2B33-582E-CB8C-4A51727EEC60}"/>
              </a:ext>
            </a:extLst>
          </p:cNvPr>
          <p:cNvSpPr txBox="1"/>
          <p:nvPr/>
        </p:nvSpPr>
        <p:spPr>
          <a:xfrm>
            <a:off x="17741300" y="2011287"/>
            <a:ext cx="1188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dirty="0"/>
              <a:t>&lt;&lt; ad_event &gt;&gt;</a:t>
            </a:r>
            <a:endParaRPr kumimoji="1" lang="ko-KR" altLang="en-US" sz="1000" b="1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16AEE531-2559-8505-6144-A7B107B0D361}"/>
              </a:ext>
            </a:extLst>
          </p:cNvPr>
          <p:cNvSpPr txBox="1"/>
          <p:nvPr/>
        </p:nvSpPr>
        <p:spPr>
          <a:xfrm>
            <a:off x="17558432" y="3461262"/>
            <a:ext cx="1582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dirty="0"/>
              <a:t>&lt;&lt; ad_stats_hourly &gt;&gt;</a:t>
            </a:r>
            <a:endParaRPr kumimoji="1" lang="ko-KR" altLang="en-US" sz="1000" b="1" dirty="0"/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4224B8FB-9503-B1F6-DD59-B89015C967F4}"/>
              </a:ext>
            </a:extLst>
          </p:cNvPr>
          <p:cNvSpPr txBox="1"/>
          <p:nvPr/>
        </p:nvSpPr>
        <p:spPr>
          <a:xfrm>
            <a:off x="8424135" y="5270226"/>
            <a:ext cx="94288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ad-log-writer (9092)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A5C7B6B1-2516-24DE-5869-DCB8C878FAA8}"/>
              </a:ext>
            </a:extLst>
          </p:cNvPr>
          <p:cNvSpPr txBox="1"/>
          <p:nvPr/>
        </p:nvSpPr>
        <p:spPr>
          <a:xfrm>
            <a:off x="8512563" y="4278255"/>
            <a:ext cx="909223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ad-db-writer (3306)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270" name="번개[L] 269">
            <a:extLst>
              <a:ext uri="{FF2B5EF4-FFF2-40B4-BE49-F238E27FC236}">
                <a16:creationId xmlns:a16="http://schemas.microsoft.com/office/drawing/2014/main" id="{722FD71D-44AF-4FD3-9D84-D9BA8469EFA5}"/>
              </a:ext>
            </a:extLst>
          </p:cNvPr>
          <p:cNvSpPr/>
          <p:nvPr/>
        </p:nvSpPr>
        <p:spPr>
          <a:xfrm>
            <a:off x="10179542" y="2608447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271" name="모서리가 둥근 사각형 설명선[R] 270">
            <a:extLst>
              <a:ext uri="{FF2B5EF4-FFF2-40B4-BE49-F238E27FC236}">
                <a16:creationId xmlns:a16="http://schemas.microsoft.com/office/drawing/2014/main" id="{4A9851A3-349D-FCB5-D05F-0FC0E0727275}"/>
              </a:ext>
            </a:extLst>
          </p:cNvPr>
          <p:cNvSpPr/>
          <p:nvPr/>
        </p:nvSpPr>
        <p:spPr>
          <a:xfrm>
            <a:off x="11345030" y="2288872"/>
            <a:ext cx="1714804" cy="319575"/>
          </a:xfrm>
          <a:prstGeom prst="wedgeRoundRectCallout">
            <a:avLst>
              <a:gd name="adj1" fmla="val -43072"/>
              <a:gd name="adj2" fmla="val 185824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 err="1">
                <a:solidFill>
                  <a:srgbClr val="FF0000"/>
                </a:solidFill>
              </a:rPr>
              <a:t>Adwhale</a:t>
            </a:r>
            <a:r>
              <a:rPr kumimoji="1" lang="en-US" altLang="ko-KR" sz="600" dirty="0">
                <a:solidFill>
                  <a:srgbClr val="FF0000"/>
                </a:solidFill>
              </a:rPr>
              <a:t>-db </a:t>
            </a:r>
            <a:r>
              <a:rPr kumimoji="1" lang="ko-KR" altLang="en-US" sz="600" dirty="0">
                <a:solidFill>
                  <a:srgbClr val="FF0000"/>
                </a:solidFill>
              </a:rPr>
              <a:t>장애대응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실패 시 </a:t>
            </a:r>
            <a:r>
              <a:rPr kumimoji="1" lang="en-US" altLang="ko-KR" sz="600" dirty="0">
                <a:solidFill>
                  <a:srgbClr val="FF0000"/>
                </a:solidFill>
              </a:rPr>
              <a:t>DB</a:t>
            </a:r>
            <a:r>
              <a:rPr kumimoji="1" lang="ko-KR" altLang="en-US" sz="600" dirty="0">
                <a:solidFill>
                  <a:srgbClr val="FF0000"/>
                </a:solidFill>
              </a:rPr>
              <a:t>가 살아날 때까지 계속 재시도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(1</a:t>
            </a:r>
            <a:r>
              <a:rPr kumimoji="1" lang="ko-KR" altLang="en-US" sz="600" dirty="0">
                <a:solidFill>
                  <a:srgbClr val="FF0000"/>
                </a:solidFill>
              </a:rPr>
              <a:t>초 </a:t>
            </a:r>
            <a:r>
              <a:rPr kumimoji="1" lang="en-US" altLang="ko-KR" sz="600" dirty="0">
                <a:solidFill>
                  <a:srgbClr val="FF0000"/>
                </a:solidFill>
              </a:rPr>
              <a:t>&gt;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2</a:t>
            </a:r>
            <a:r>
              <a:rPr kumimoji="1" lang="ko-KR" altLang="en-US" sz="600" dirty="0">
                <a:solidFill>
                  <a:srgbClr val="FF0000"/>
                </a:solidFill>
              </a:rPr>
              <a:t>초 </a:t>
            </a:r>
            <a:r>
              <a:rPr kumimoji="1" lang="en-US" altLang="ko-KR" sz="600" dirty="0">
                <a:solidFill>
                  <a:srgbClr val="FF0000"/>
                </a:solidFill>
              </a:rPr>
              <a:t>&gt;.4</a:t>
            </a:r>
            <a:r>
              <a:rPr kumimoji="1" lang="ko-KR" altLang="en-US" sz="600" dirty="0">
                <a:solidFill>
                  <a:srgbClr val="FF0000"/>
                </a:solidFill>
              </a:rPr>
              <a:t>초 </a:t>
            </a:r>
            <a:r>
              <a:rPr kumimoji="1" lang="en-US" altLang="ko-KR" sz="600" dirty="0">
                <a:solidFill>
                  <a:srgbClr val="FF0000"/>
                </a:solidFill>
              </a:rPr>
              <a:t>&gt;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…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&gt;</a:t>
            </a:r>
            <a:r>
              <a:rPr kumimoji="1" lang="ko-KR" altLang="en-US" sz="600" dirty="0">
                <a:solidFill>
                  <a:srgbClr val="FF0000"/>
                </a:solidFill>
              </a:rPr>
              <a:t> 최대 </a:t>
            </a:r>
            <a:r>
              <a:rPr kumimoji="1" lang="en-US" altLang="ko-KR" sz="600" dirty="0">
                <a:solidFill>
                  <a:srgbClr val="FF0000"/>
                </a:solidFill>
              </a:rPr>
              <a:t>30</a:t>
            </a:r>
            <a:r>
              <a:rPr kumimoji="1" lang="ko-KR" altLang="en-US" sz="600" dirty="0">
                <a:solidFill>
                  <a:srgbClr val="FF0000"/>
                </a:solidFill>
              </a:rPr>
              <a:t>초 간격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2C18A508-5A4D-37D3-2C34-675D01D98D27}"/>
              </a:ext>
            </a:extLst>
          </p:cNvPr>
          <p:cNvSpPr/>
          <p:nvPr/>
        </p:nvSpPr>
        <p:spPr>
          <a:xfrm>
            <a:off x="14096071" y="-1169090"/>
            <a:ext cx="2826118" cy="860107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ad-batch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190" name="직선 화살표 연결선 189">
            <a:extLst>
              <a:ext uri="{FF2B5EF4-FFF2-40B4-BE49-F238E27FC236}">
                <a16:creationId xmlns:a16="http://schemas.microsoft.com/office/drawing/2014/main" id="{6B3837E0-AB43-8B72-DB0B-9FB91FE7723D}"/>
              </a:ext>
            </a:extLst>
          </p:cNvPr>
          <p:cNvCxnSpPr>
            <a:cxnSpLocks/>
            <a:stCxn id="188" idx="6"/>
            <a:endCxn id="169" idx="1"/>
          </p:cNvCxnSpPr>
          <p:nvPr/>
        </p:nvCxnSpPr>
        <p:spPr>
          <a:xfrm flipV="1">
            <a:off x="-2563317" y="-675542"/>
            <a:ext cx="20264407" cy="222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7D7D24C0-5441-091B-83ED-0A54E626B1A0}"/>
              </a:ext>
            </a:extLst>
          </p:cNvPr>
          <p:cNvCxnSpPr>
            <a:cxnSpLocks/>
            <a:stCxn id="205" idx="3"/>
            <a:endCxn id="170" idx="2"/>
          </p:cNvCxnSpPr>
          <p:nvPr/>
        </p:nvCxnSpPr>
        <p:spPr>
          <a:xfrm flipV="1">
            <a:off x="11857754" y="3183114"/>
            <a:ext cx="5633256" cy="3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75" name="꺾인 연결선[E] 274">
            <a:extLst>
              <a:ext uri="{FF2B5EF4-FFF2-40B4-BE49-F238E27FC236}">
                <a16:creationId xmlns:a16="http://schemas.microsoft.com/office/drawing/2014/main" id="{F789888A-7E01-162D-2738-EB80874D6CBB}"/>
              </a:ext>
            </a:extLst>
          </p:cNvPr>
          <p:cNvCxnSpPr>
            <a:cxnSpLocks/>
            <a:stCxn id="102" idx="2"/>
            <a:endCxn id="168" idx="0"/>
          </p:cNvCxnSpPr>
          <p:nvPr/>
        </p:nvCxnSpPr>
        <p:spPr>
          <a:xfrm rot="16200000" flipH="1">
            <a:off x="11249097" y="-8277660"/>
            <a:ext cx="1031380" cy="13183689"/>
          </a:xfrm>
          <a:prstGeom prst="bentConnector3">
            <a:avLst>
              <a:gd name="adj1" fmla="val 64589"/>
            </a:avLst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꺾인 연결선[E] 280">
            <a:extLst>
              <a:ext uri="{FF2B5EF4-FFF2-40B4-BE49-F238E27FC236}">
                <a16:creationId xmlns:a16="http://schemas.microsoft.com/office/drawing/2014/main" id="{27520441-C673-77CD-E845-B52E82A7901D}"/>
              </a:ext>
            </a:extLst>
          </p:cNvPr>
          <p:cNvCxnSpPr>
            <a:cxnSpLocks/>
            <a:stCxn id="69" idx="2"/>
            <a:endCxn id="272" idx="0"/>
          </p:cNvCxnSpPr>
          <p:nvPr/>
        </p:nvCxnSpPr>
        <p:spPr>
          <a:xfrm rot="16200000" flipH="1">
            <a:off x="11029029" y="-5649191"/>
            <a:ext cx="1036422" cy="7923779"/>
          </a:xfrm>
          <a:prstGeom prst="bentConnector3">
            <a:avLst>
              <a:gd name="adj1" fmla="val 26547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5" name="직사각형 284">
            <a:extLst>
              <a:ext uri="{FF2B5EF4-FFF2-40B4-BE49-F238E27FC236}">
                <a16:creationId xmlns:a16="http://schemas.microsoft.com/office/drawing/2014/main" id="{D5550C94-3956-9191-D045-EEAF593BD2F4}"/>
              </a:ext>
            </a:extLst>
          </p:cNvPr>
          <p:cNvSpPr/>
          <p:nvPr/>
        </p:nvSpPr>
        <p:spPr>
          <a:xfrm>
            <a:off x="14292438" y="-356681"/>
            <a:ext cx="2386683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AdBatchApplication</a:t>
            </a:r>
            <a:endParaRPr kumimoji="1" lang="ko-KR" altLang="en-US" sz="1000" dirty="0"/>
          </a:p>
        </p:txBody>
      </p:sp>
      <p:sp>
        <p:nvSpPr>
          <p:cNvPr id="286" name="타원 285">
            <a:extLst>
              <a:ext uri="{FF2B5EF4-FFF2-40B4-BE49-F238E27FC236}">
                <a16:creationId xmlns:a16="http://schemas.microsoft.com/office/drawing/2014/main" id="{8209B61B-60EB-A413-B21F-FC131E225C7F}"/>
              </a:ext>
            </a:extLst>
          </p:cNvPr>
          <p:cNvSpPr/>
          <p:nvPr/>
        </p:nvSpPr>
        <p:spPr>
          <a:xfrm>
            <a:off x="-2797233" y="-267581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064CF769-14C6-EE1D-F943-5022B41A84B1}"/>
              </a:ext>
            </a:extLst>
          </p:cNvPr>
          <p:cNvSpPr txBox="1"/>
          <p:nvPr/>
        </p:nvSpPr>
        <p:spPr>
          <a:xfrm>
            <a:off x="-3352647" y="2104"/>
            <a:ext cx="13244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6.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ad-batch </a:t>
            </a:r>
            <a:r>
              <a:rPr kumimoji="1" lang="ko-KR" altLang="en-US" sz="1000" dirty="0">
                <a:solidFill>
                  <a:srgbClr val="0070C0"/>
                </a:solidFill>
              </a:rPr>
              <a:t>앱 기동</a:t>
            </a:r>
          </a:p>
        </p:txBody>
      </p:sp>
      <p:cxnSp>
        <p:nvCxnSpPr>
          <p:cNvPr id="288" name="직선 화살표 연결선 287">
            <a:extLst>
              <a:ext uri="{FF2B5EF4-FFF2-40B4-BE49-F238E27FC236}">
                <a16:creationId xmlns:a16="http://schemas.microsoft.com/office/drawing/2014/main" id="{B07710D4-6A76-3FB1-82F4-4B7FA02BB0BF}"/>
              </a:ext>
            </a:extLst>
          </p:cNvPr>
          <p:cNvCxnSpPr>
            <a:cxnSpLocks/>
            <a:stCxn id="286" idx="6"/>
            <a:endCxn id="285" idx="1"/>
          </p:cNvCxnSpPr>
          <p:nvPr/>
        </p:nvCxnSpPr>
        <p:spPr>
          <a:xfrm flipV="1">
            <a:off x="-2563317" y="-178340"/>
            <a:ext cx="16855755" cy="3835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직사각형 291">
            <a:extLst>
              <a:ext uri="{FF2B5EF4-FFF2-40B4-BE49-F238E27FC236}">
                <a16:creationId xmlns:a16="http://schemas.microsoft.com/office/drawing/2014/main" id="{218C10C2-7C0B-2D2F-6C0B-1C108963D1ED}"/>
              </a:ext>
            </a:extLst>
          </p:cNvPr>
          <p:cNvSpPr/>
          <p:nvPr/>
        </p:nvSpPr>
        <p:spPr>
          <a:xfrm>
            <a:off x="15541191" y="1488301"/>
            <a:ext cx="1114780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jdbc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93" name="직사각형 292">
            <a:extLst>
              <a:ext uri="{FF2B5EF4-FFF2-40B4-BE49-F238E27FC236}">
                <a16:creationId xmlns:a16="http://schemas.microsoft.com/office/drawing/2014/main" id="{8330DEF1-68C4-7182-3A53-C7195529E38D}"/>
              </a:ext>
            </a:extLst>
          </p:cNvPr>
          <p:cNvSpPr/>
          <p:nvPr/>
        </p:nvSpPr>
        <p:spPr>
          <a:xfrm>
            <a:off x="14316203" y="1488301"/>
            <a:ext cx="1089703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</a:t>
            </a:r>
          </a:p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CAF0A9C3-AF21-869A-2BC2-F6787DBE8D7A}"/>
              </a:ext>
            </a:extLst>
          </p:cNvPr>
          <p:cNvSpPr/>
          <p:nvPr/>
        </p:nvSpPr>
        <p:spPr>
          <a:xfrm>
            <a:off x="14688273" y="2363569"/>
            <a:ext cx="1574157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HourlyStatsJob</a:t>
            </a:r>
            <a:endParaRPr kumimoji="1" lang="ko-KR" altLang="en-US" sz="1000" dirty="0"/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1BB5093E-ED55-151C-2337-FE8F4CB3DDDD}"/>
              </a:ext>
            </a:extLst>
          </p:cNvPr>
          <p:cNvCxnSpPr>
            <a:cxnSpLocks/>
            <a:endCxn id="293" idx="0"/>
          </p:cNvCxnSpPr>
          <p:nvPr/>
        </p:nvCxnSpPr>
        <p:spPr>
          <a:xfrm>
            <a:off x="14861055" y="0"/>
            <a:ext cx="0" cy="14883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6" name="직선 화살표 연결선 305">
            <a:extLst>
              <a:ext uri="{FF2B5EF4-FFF2-40B4-BE49-F238E27FC236}">
                <a16:creationId xmlns:a16="http://schemas.microsoft.com/office/drawing/2014/main" id="{74B2A693-ED08-942F-A433-991919EB914E}"/>
              </a:ext>
            </a:extLst>
          </p:cNvPr>
          <p:cNvCxnSpPr>
            <a:cxnSpLocks/>
            <a:endCxn id="292" idx="0"/>
          </p:cNvCxnSpPr>
          <p:nvPr/>
        </p:nvCxnSpPr>
        <p:spPr>
          <a:xfrm>
            <a:off x="16098581" y="0"/>
            <a:ext cx="0" cy="14883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1" name="구부러진 연결선[U] 310">
            <a:extLst>
              <a:ext uri="{FF2B5EF4-FFF2-40B4-BE49-F238E27FC236}">
                <a16:creationId xmlns:a16="http://schemas.microsoft.com/office/drawing/2014/main" id="{861EA7CA-43B2-1D6B-A7FD-20A1B5A193B8}"/>
              </a:ext>
            </a:extLst>
          </p:cNvPr>
          <p:cNvCxnSpPr>
            <a:stCxn id="297" idx="0"/>
            <a:endCxn id="297" idx="2"/>
          </p:cNvCxnSpPr>
          <p:nvPr/>
        </p:nvCxnSpPr>
        <p:spPr>
          <a:xfrm rot="16200000" flipH="1">
            <a:off x="15297011" y="2541909"/>
            <a:ext cx="356681" cy="12700"/>
          </a:xfrm>
          <a:prstGeom prst="curvedConnector5">
            <a:avLst>
              <a:gd name="adj1" fmla="val -64091"/>
              <a:gd name="adj2" fmla="val 7997472"/>
              <a:gd name="adj3" fmla="val 164091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D5BBA8F1-0460-48DC-B908-0D6E467CF2D7}"/>
              </a:ext>
            </a:extLst>
          </p:cNvPr>
          <p:cNvCxnSpPr>
            <a:cxnSpLocks/>
            <a:endCxn id="293" idx="2"/>
          </p:cNvCxnSpPr>
          <p:nvPr/>
        </p:nvCxnSpPr>
        <p:spPr>
          <a:xfrm flipV="1">
            <a:off x="14861055" y="1861302"/>
            <a:ext cx="0" cy="488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16" name="직선 화살표 연결선 315">
            <a:extLst>
              <a:ext uri="{FF2B5EF4-FFF2-40B4-BE49-F238E27FC236}">
                <a16:creationId xmlns:a16="http://schemas.microsoft.com/office/drawing/2014/main" id="{F9A22CA2-DA75-8E5A-6714-9CE606EF9B2E}"/>
              </a:ext>
            </a:extLst>
          </p:cNvPr>
          <p:cNvCxnSpPr>
            <a:cxnSpLocks/>
            <a:endCxn id="292" idx="2"/>
          </p:cNvCxnSpPr>
          <p:nvPr/>
        </p:nvCxnSpPr>
        <p:spPr>
          <a:xfrm flipV="1">
            <a:off x="16098581" y="1861302"/>
            <a:ext cx="0" cy="488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21" name="직선 화살표 연결선 320">
            <a:extLst>
              <a:ext uri="{FF2B5EF4-FFF2-40B4-BE49-F238E27FC236}">
                <a16:creationId xmlns:a16="http://schemas.microsoft.com/office/drawing/2014/main" id="{83F053DB-0BD9-EF4E-3F0B-B86B2125DC08}"/>
              </a:ext>
            </a:extLst>
          </p:cNvPr>
          <p:cNvCxnSpPr>
            <a:cxnSpLocks/>
            <a:stCxn id="292" idx="3"/>
          </p:cNvCxnSpPr>
          <p:nvPr/>
        </p:nvCxnSpPr>
        <p:spPr>
          <a:xfrm>
            <a:off x="16655971" y="1674802"/>
            <a:ext cx="8333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0" name="TextBox 329">
            <a:extLst>
              <a:ext uri="{FF2B5EF4-FFF2-40B4-BE49-F238E27FC236}">
                <a16:creationId xmlns:a16="http://schemas.microsoft.com/office/drawing/2014/main" id="{D643637D-3F15-4FF7-0447-091F22F56D21}"/>
              </a:ext>
            </a:extLst>
          </p:cNvPr>
          <p:cNvSpPr txBox="1"/>
          <p:nvPr/>
        </p:nvSpPr>
        <p:spPr>
          <a:xfrm>
            <a:off x="16794608" y="1479692"/>
            <a:ext cx="53251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DB CRUD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90677D5A-C7AF-7005-1125-68B3A6E3C6FD}"/>
              </a:ext>
            </a:extLst>
          </p:cNvPr>
          <p:cNvSpPr txBox="1"/>
          <p:nvPr/>
        </p:nvSpPr>
        <p:spPr>
          <a:xfrm>
            <a:off x="16102056" y="1966680"/>
            <a:ext cx="8226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sz="600" b="1" dirty="0">
                <a:solidFill>
                  <a:schemeClr val="accent2"/>
                </a:solidFill>
              </a:rPr>
              <a:t>앱 시작 </a:t>
            </a:r>
            <a:r>
              <a:rPr kumimoji="1" lang="en-US" altLang="ko-KR" sz="600" b="1" dirty="0">
                <a:solidFill>
                  <a:schemeClr val="accent2"/>
                </a:solidFill>
              </a:rPr>
              <a:t>5</a:t>
            </a:r>
            <a:r>
              <a:rPr kumimoji="1" lang="ko-KR" altLang="en-US" sz="600" b="1" dirty="0">
                <a:solidFill>
                  <a:schemeClr val="accent2"/>
                </a:solidFill>
              </a:rPr>
              <a:t>초 뒤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5</a:t>
            </a:r>
            <a:r>
              <a:rPr kumimoji="1" lang="ko-KR" altLang="en-US" sz="600" b="1" dirty="0">
                <a:solidFill>
                  <a:schemeClr val="accent2"/>
                </a:solidFill>
              </a:rPr>
              <a:t>분 마다 배치실행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B146D1CB-8085-F6F3-E515-23E44B904641}"/>
              </a:ext>
            </a:extLst>
          </p:cNvPr>
          <p:cNvSpPr txBox="1"/>
          <p:nvPr/>
        </p:nvSpPr>
        <p:spPr>
          <a:xfrm>
            <a:off x="16541892" y="1687824"/>
            <a:ext cx="10727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UPDATE ad_stats_hourly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895DD6DC-5EB5-9777-BA0C-1AF9B98E624D}"/>
              </a:ext>
            </a:extLst>
          </p:cNvPr>
          <p:cNvSpPr txBox="1"/>
          <p:nvPr/>
        </p:nvSpPr>
        <p:spPr>
          <a:xfrm>
            <a:off x="14373566" y="2989286"/>
            <a:ext cx="53251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DB CRUD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15F715FC-ED00-4CC5-E39F-DE3A41717D44}"/>
              </a:ext>
            </a:extLst>
          </p:cNvPr>
          <p:cNvSpPr txBox="1"/>
          <p:nvPr/>
        </p:nvSpPr>
        <p:spPr>
          <a:xfrm>
            <a:off x="14235539" y="3198034"/>
            <a:ext cx="79861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INSERT ad_event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D67284E4-294D-82FE-F9AC-147F4D324700}"/>
              </a:ext>
            </a:extLst>
          </p:cNvPr>
          <p:cNvSpPr txBox="1"/>
          <p:nvPr/>
        </p:nvSpPr>
        <p:spPr>
          <a:xfrm>
            <a:off x="-3408936" y="-2912337"/>
            <a:ext cx="168815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버전</a:t>
            </a:r>
            <a:r>
              <a:rPr kumimoji="1" lang="en-US" altLang="ko-KR" dirty="0"/>
              <a:t>2:</a:t>
            </a:r>
          </a:p>
          <a:p>
            <a:r>
              <a:rPr kumimoji="1" lang="en-US" altLang="ko-KR" dirty="0"/>
              <a:t>MySQL </a:t>
            </a:r>
            <a:r>
              <a:rPr kumimoji="1" lang="ko-KR" altLang="en-US" dirty="0"/>
              <a:t>및</a:t>
            </a:r>
            <a:endParaRPr kumimoji="1" lang="en-US" altLang="ko-KR" dirty="0"/>
          </a:p>
          <a:p>
            <a:r>
              <a:rPr kumimoji="1" lang="en-US" altLang="ko-KR" dirty="0"/>
              <a:t>Ad-batch</a:t>
            </a:r>
            <a:r>
              <a:rPr kumimoji="1" lang="ko-KR" altLang="en-US" dirty="0"/>
              <a:t> 추가</a:t>
            </a:r>
          </a:p>
        </p:txBody>
      </p:sp>
    </p:spTree>
    <p:extLst>
      <p:ext uri="{BB962C8B-B14F-4D97-AF65-F5344CB8AC3E}">
        <p14:creationId xmlns:p14="http://schemas.microsoft.com/office/powerpoint/2010/main" val="2931226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14C6D-8E8A-7C4A-D71C-48C36E821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931F74B-6B3E-90AB-87C7-2A471AE1B9FD}"/>
              </a:ext>
            </a:extLst>
          </p:cNvPr>
          <p:cNvSpPr/>
          <p:nvPr/>
        </p:nvSpPr>
        <p:spPr>
          <a:xfrm>
            <a:off x="-1321330" y="-2900941"/>
            <a:ext cx="2253543" cy="109075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3</a:t>
            </a:r>
            <a:r>
              <a:rPr kumimoji="1" lang="en-US" altLang="ko-KR" sz="1000" baseline="30000" dirty="0">
                <a:solidFill>
                  <a:sysClr val="windowText" lastClr="000000"/>
                </a:solidFill>
              </a:rPr>
              <a:t>rd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party App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AB66FE4-531E-5650-FC22-D791059F09D6}"/>
              </a:ext>
            </a:extLst>
          </p:cNvPr>
          <p:cNvSpPr/>
          <p:nvPr/>
        </p:nvSpPr>
        <p:spPr>
          <a:xfrm>
            <a:off x="-1075953" y="-1169089"/>
            <a:ext cx="1743472" cy="86000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ko-KR" altLang="en-US" sz="1000" dirty="0">
                <a:solidFill>
                  <a:sysClr val="windowText" lastClr="000000"/>
                </a:solidFill>
              </a:rPr>
              <a:t>광고화면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4803132-CE4B-76BA-AFD5-1FC68A906CDB}"/>
              </a:ext>
            </a:extLst>
          </p:cNvPr>
          <p:cNvSpPr/>
          <p:nvPr/>
        </p:nvSpPr>
        <p:spPr>
          <a:xfrm>
            <a:off x="-784122" y="676978"/>
            <a:ext cx="1198978" cy="48927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Adwhale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Sdk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4A8B113-9AC6-F50F-8A20-FF957BB8CBF5}"/>
              </a:ext>
            </a:extLst>
          </p:cNvPr>
          <p:cNvSpPr/>
          <p:nvPr/>
        </p:nvSpPr>
        <p:spPr>
          <a:xfrm>
            <a:off x="-562275" y="3505867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광고요청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6A721F3-8ABC-063B-B09F-61C8AAD2F33F}"/>
              </a:ext>
            </a:extLst>
          </p:cNvPr>
          <p:cNvSpPr/>
          <p:nvPr/>
        </p:nvSpPr>
        <p:spPr>
          <a:xfrm>
            <a:off x="-570498" y="4033785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광고응답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4A919A6-6963-5340-CD19-0A6644CEBBD9}"/>
              </a:ext>
            </a:extLst>
          </p:cNvPr>
          <p:cNvSpPr/>
          <p:nvPr/>
        </p:nvSpPr>
        <p:spPr>
          <a:xfrm>
            <a:off x="1289324" y="-2894471"/>
            <a:ext cx="18370276" cy="1066687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adwhale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-ad-platform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AF65E99-EB46-7EA6-FA1F-C54D6E46BDC3}"/>
              </a:ext>
            </a:extLst>
          </p:cNvPr>
          <p:cNvSpPr/>
          <p:nvPr/>
        </p:nvSpPr>
        <p:spPr>
          <a:xfrm>
            <a:off x="8441510" y="-2891887"/>
            <a:ext cx="3658947" cy="6954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ad-common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3745C77-5E28-E019-EB5E-A3C7014E03F7}"/>
              </a:ext>
            </a:extLst>
          </p:cNvPr>
          <p:cNvSpPr/>
          <p:nvPr/>
        </p:nvSpPr>
        <p:spPr>
          <a:xfrm>
            <a:off x="8517819" y="-2629012"/>
            <a:ext cx="1146935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AdRequestEvent</a:t>
            </a:r>
            <a:endParaRPr kumimoji="1"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772F604-0BC9-96EC-80E5-B185AD200CA7}"/>
              </a:ext>
            </a:extLst>
          </p:cNvPr>
          <p:cNvSpPr/>
          <p:nvPr/>
        </p:nvSpPr>
        <p:spPr>
          <a:xfrm>
            <a:off x="10868827" y="-2639790"/>
            <a:ext cx="1146935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AdTrackingEvent</a:t>
            </a:r>
            <a:endParaRPr kumimoji="1" lang="ko-KR" altLang="en-US" sz="10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F1792B5-F02F-895F-0315-E1966DCE108F}"/>
              </a:ext>
            </a:extLst>
          </p:cNvPr>
          <p:cNvSpPr/>
          <p:nvPr/>
        </p:nvSpPr>
        <p:spPr>
          <a:xfrm>
            <a:off x="9749450" y="-2633495"/>
            <a:ext cx="1034681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AdTopicEnum</a:t>
            </a:r>
            <a:endParaRPr kumimoji="1"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EBA73E0-5AED-2DB0-3FEA-91B71BF1DEF9}"/>
              </a:ext>
            </a:extLst>
          </p:cNvPr>
          <p:cNvSpPr/>
          <p:nvPr/>
        </p:nvSpPr>
        <p:spPr>
          <a:xfrm>
            <a:off x="6746218" y="-1169090"/>
            <a:ext cx="1732582" cy="860107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A6DA17E-7173-CB6F-BE52-10E7AE71B2F4}"/>
              </a:ext>
            </a:extLst>
          </p:cNvPr>
          <p:cNvSpPr/>
          <p:nvPr/>
        </p:nvSpPr>
        <p:spPr>
          <a:xfrm>
            <a:off x="6979754" y="5070997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</a:t>
            </a:r>
            <a:endParaRPr kumimoji="1" lang="ko-KR" altLang="en-US" sz="1000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0D6148F-23E0-2C48-0FDF-4031A6FBF231}"/>
              </a:ext>
            </a:extLst>
          </p:cNvPr>
          <p:cNvSpPr/>
          <p:nvPr/>
        </p:nvSpPr>
        <p:spPr>
          <a:xfrm>
            <a:off x="6979754" y="6578514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adwhale-kafka-ui</a:t>
            </a:r>
            <a:endParaRPr kumimoji="1" lang="ko-KR" altLang="en-US" sz="10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31CBCC2-09BA-ADC6-25C2-1063B97D19A3}"/>
              </a:ext>
            </a:extLst>
          </p:cNvPr>
          <p:cNvSpPr/>
          <p:nvPr/>
        </p:nvSpPr>
        <p:spPr>
          <a:xfrm>
            <a:off x="4422757" y="-1169089"/>
            <a:ext cx="2023708" cy="68255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Port:8081)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9" name="원통[C] 18">
            <a:extLst>
              <a:ext uri="{FF2B5EF4-FFF2-40B4-BE49-F238E27FC236}">
                <a16:creationId xmlns:a16="http://schemas.microsoft.com/office/drawing/2014/main" id="{6393ED9E-755E-8F0D-EBE8-C8D93123E0EF}"/>
              </a:ext>
            </a:extLst>
          </p:cNvPr>
          <p:cNvSpPr/>
          <p:nvPr/>
        </p:nvSpPr>
        <p:spPr>
          <a:xfrm>
            <a:off x="4628169" y="676978"/>
            <a:ext cx="1570244" cy="4892708"/>
          </a:xfrm>
          <a:prstGeom prst="can">
            <a:avLst>
              <a:gd name="adj" fmla="val 8809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</a:t>
            </a:r>
          </a:p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Server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93C49E2-7AD9-3D88-8FA5-818978096D6F}"/>
              </a:ext>
            </a:extLst>
          </p:cNvPr>
          <p:cNvSpPr/>
          <p:nvPr/>
        </p:nvSpPr>
        <p:spPr>
          <a:xfrm>
            <a:off x="4815608" y="3507407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AdController</a:t>
            </a:r>
            <a:endParaRPr kumimoji="1" lang="ko-KR" altLang="en-US" sz="10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3DC3B16-B4D0-E059-428E-C01B89C87A30}"/>
              </a:ext>
            </a:extLst>
          </p:cNvPr>
          <p:cNvSpPr/>
          <p:nvPr/>
        </p:nvSpPr>
        <p:spPr>
          <a:xfrm>
            <a:off x="4815608" y="4033785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AdService</a:t>
            </a:r>
            <a:endParaRPr kumimoji="1" lang="ko-KR" altLang="en-US" sz="10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69C77F3-7164-542B-BD03-4E7FAF7B14C9}"/>
              </a:ext>
            </a:extLst>
          </p:cNvPr>
          <p:cNvSpPr/>
          <p:nvPr/>
        </p:nvSpPr>
        <p:spPr>
          <a:xfrm>
            <a:off x="4815608" y="4560163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AdEventProducer</a:t>
            </a:r>
            <a:endParaRPr kumimoji="1" lang="ko-KR" altLang="en-US" sz="10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64D4BA1-8A55-4287-9C4F-3A0781C22D1C}"/>
              </a:ext>
            </a:extLst>
          </p:cNvPr>
          <p:cNvSpPr/>
          <p:nvPr/>
        </p:nvSpPr>
        <p:spPr>
          <a:xfrm>
            <a:off x="4815608" y="1687824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AdApiApplication</a:t>
            </a:r>
            <a:endParaRPr kumimoji="1" lang="ko-KR" altLang="en-US" sz="1000" dirty="0"/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73AADE2-F025-29B8-0FCD-EB7FFB235878}"/>
              </a:ext>
            </a:extLst>
          </p:cNvPr>
          <p:cNvCxnSpPr>
            <a:stCxn id="23" idx="2"/>
            <a:endCxn id="20" idx="0"/>
          </p:cNvCxnSpPr>
          <p:nvPr/>
        </p:nvCxnSpPr>
        <p:spPr>
          <a:xfrm>
            <a:off x="5414386" y="2044505"/>
            <a:ext cx="0" cy="1462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A5E370A-AEC1-83E2-A575-3E4AC11DCD5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5414386" y="3864088"/>
            <a:ext cx="0" cy="16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2969A55C-F130-3AE0-8C32-E668FF301D6D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>
            <a:off x="5414386" y="4390466"/>
            <a:ext cx="0" cy="16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6914A8D-E3FB-2B4A-FFB6-4700B9FDB881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5413291" y="4916844"/>
            <a:ext cx="1095" cy="1512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64D62AC-9D13-3872-A549-A7B9FF380074}"/>
              </a:ext>
            </a:extLst>
          </p:cNvPr>
          <p:cNvSpPr/>
          <p:nvPr/>
        </p:nvSpPr>
        <p:spPr>
          <a:xfrm>
            <a:off x="4815608" y="5068129"/>
            <a:ext cx="1197556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kafka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2019C27B-1E83-1B79-3268-9DBA8CA5448E}"/>
              </a:ext>
            </a:extLst>
          </p:cNvPr>
          <p:cNvCxnSpPr>
            <a:cxnSpLocks/>
            <a:stCxn id="31" idx="3"/>
            <a:endCxn id="16" idx="1"/>
          </p:cNvCxnSpPr>
          <p:nvPr/>
        </p:nvCxnSpPr>
        <p:spPr>
          <a:xfrm flipV="1">
            <a:off x="6013164" y="5249338"/>
            <a:ext cx="966590" cy="5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73DA8D9-CACF-8D86-54DF-BD45FF974698}"/>
              </a:ext>
            </a:extLst>
          </p:cNvPr>
          <p:cNvSpPr/>
          <p:nvPr/>
        </p:nvSpPr>
        <p:spPr>
          <a:xfrm>
            <a:off x="8931537" y="-1169090"/>
            <a:ext cx="4744705" cy="860107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ad-log-consumer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34" name="원통[C] 33">
            <a:extLst>
              <a:ext uri="{FF2B5EF4-FFF2-40B4-BE49-F238E27FC236}">
                <a16:creationId xmlns:a16="http://schemas.microsoft.com/office/drawing/2014/main" id="{52A4A952-6B0C-DC0C-A1DD-2DF78DFD7CE7}"/>
              </a:ext>
            </a:extLst>
          </p:cNvPr>
          <p:cNvSpPr/>
          <p:nvPr/>
        </p:nvSpPr>
        <p:spPr>
          <a:xfrm>
            <a:off x="9202947" y="676978"/>
            <a:ext cx="2805632" cy="6681313"/>
          </a:xfrm>
          <a:prstGeom prst="can">
            <a:avLst>
              <a:gd name="adj" fmla="val 8527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ad-log-consumer App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A3D0263-BC62-C35E-8C36-83E3D977367A}"/>
              </a:ext>
            </a:extLst>
          </p:cNvPr>
          <p:cNvSpPr/>
          <p:nvPr/>
        </p:nvSpPr>
        <p:spPr>
          <a:xfrm>
            <a:off x="9551984" y="5584268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AdLogConsumer</a:t>
            </a:r>
            <a:endParaRPr kumimoji="1" lang="ko-KR" altLang="en-US" sz="1000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F7EE70B-C7F8-D122-1F7F-216E87ADD20A}"/>
              </a:ext>
            </a:extLst>
          </p:cNvPr>
          <p:cNvSpPr/>
          <p:nvPr/>
        </p:nvSpPr>
        <p:spPr>
          <a:xfrm>
            <a:off x="9343266" y="1215344"/>
            <a:ext cx="2510450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AdLogConsumerApplication</a:t>
            </a:r>
            <a:endParaRPr kumimoji="1" lang="ko-KR" altLang="en-US" sz="10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037F977E-F786-A3A1-3717-BFFDA915B81B}"/>
              </a:ext>
            </a:extLst>
          </p:cNvPr>
          <p:cNvSpPr/>
          <p:nvPr/>
        </p:nvSpPr>
        <p:spPr>
          <a:xfrm>
            <a:off x="9551984" y="6578514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AdLogFileWriter</a:t>
            </a:r>
            <a:endParaRPr kumimoji="1" lang="ko-KR" altLang="en-US" sz="1000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A50D61D-B2FE-1DF1-F20F-FDADF5ABECB3}"/>
              </a:ext>
            </a:extLst>
          </p:cNvPr>
          <p:cNvCxnSpPr>
            <a:cxnSpLocks/>
            <a:stCxn id="35" idx="2"/>
            <a:endCxn id="75" idx="0"/>
          </p:cNvCxnSpPr>
          <p:nvPr/>
        </p:nvCxnSpPr>
        <p:spPr>
          <a:xfrm>
            <a:off x="10130296" y="5940949"/>
            <a:ext cx="1920" cy="1386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BD70AED-4B2F-789D-6472-1B79E8C3E2AF}"/>
              </a:ext>
            </a:extLst>
          </p:cNvPr>
          <p:cNvSpPr/>
          <p:nvPr/>
        </p:nvSpPr>
        <p:spPr>
          <a:xfrm>
            <a:off x="9541751" y="5068129"/>
            <a:ext cx="1177090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kafka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3E375DA-FB6F-DD29-2C7B-5149B6A400E3}"/>
              </a:ext>
            </a:extLst>
          </p:cNvPr>
          <p:cNvCxnSpPr>
            <a:cxnSpLocks/>
            <a:stCxn id="40" idx="2"/>
            <a:endCxn id="35" idx="0"/>
          </p:cNvCxnSpPr>
          <p:nvPr/>
        </p:nvCxnSpPr>
        <p:spPr>
          <a:xfrm>
            <a:off x="10130296" y="5441130"/>
            <a:ext cx="0" cy="143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F406924-7FEC-2696-49CF-E19F7CDC232E}"/>
              </a:ext>
            </a:extLst>
          </p:cNvPr>
          <p:cNvCxnSpPr>
            <a:cxnSpLocks/>
            <a:stCxn id="16" idx="3"/>
            <a:endCxn id="40" idx="1"/>
          </p:cNvCxnSpPr>
          <p:nvPr/>
        </p:nvCxnSpPr>
        <p:spPr>
          <a:xfrm>
            <a:off x="8276646" y="5249338"/>
            <a:ext cx="1265105" cy="5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6A93B96-45E4-FE3F-DBB1-7AD595D17C07}"/>
              </a:ext>
            </a:extLst>
          </p:cNvPr>
          <p:cNvCxnSpPr>
            <a:cxnSpLocks/>
            <a:stCxn id="38" idx="3"/>
            <a:endCxn id="76" idx="1"/>
          </p:cNvCxnSpPr>
          <p:nvPr/>
        </p:nvCxnSpPr>
        <p:spPr>
          <a:xfrm>
            <a:off x="10708608" y="6756855"/>
            <a:ext cx="1493824" cy="2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106AD63-C868-6B83-3A18-AEB72379FA7D}"/>
              </a:ext>
            </a:extLst>
          </p:cNvPr>
          <p:cNvSpPr txBox="1"/>
          <p:nvPr/>
        </p:nvSpPr>
        <p:spPr>
          <a:xfrm>
            <a:off x="5905965" y="5061909"/>
            <a:ext cx="1192955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SEND KAFKA EVENT (9092)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AC288D8-C0D4-AFD7-1440-140683932954}"/>
              </a:ext>
            </a:extLst>
          </p:cNvPr>
          <p:cNvSpPr txBox="1"/>
          <p:nvPr/>
        </p:nvSpPr>
        <p:spPr>
          <a:xfrm>
            <a:off x="8351621" y="5050249"/>
            <a:ext cx="106792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KAFKA LISTENER (9092)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6F78EFE-19E8-A8E4-23D9-F484CE57CAA2}"/>
              </a:ext>
            </a:extLst>
          </p:cNvPr>
          <p:cNvSpPr/>
          <p:nvPr/>
        </p:nvSpPr>
        <p:spPr>
          <a:xfrm>
            <a:off x="6973308" y="676978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adwhale-kafka-init</a:t>
            </a:r>
            <a:endParaRPr kumimoji="1" lang="ko-KR" altLang="en-US" sz="1000" dirty="0"/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06A96793-953E-87CC-5622-4346EC8606F4}"/>
              </a:ext>
            </a:extLst>
          </p:cNvPr>
          <p:cNvCxnSpPr>
            <a:cxnSpLocks/>
          </p:cNvCxnSpPr>
          <p:nvPr/>
        </p:nvCxnSpPr>
        <p:spPr>
          <a:xfrm>
            <a:off x="7546937" y="1033659"/>
            <a:ext cx="0" cy="42659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746234C9-99FD-3127-4E34-EE22E777F2E9}"/>
              </a:ext>
            </a:extLst>
          </p:cNvPr>
          <p:cNvSpPr/>
          <p:nvPr/>
        </p:nvSpPr>
        <p:spPr>
          <a:xfrm>
            <a:off x="-2797233" y="727728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C1A2AB22-4726-CFB4-2995-1BF3C7401E98}"/>
              </a:ext>
            </a:extLst>
          </p:cNvPr>
          <p:cNvSpPr/>
          <p:nvPr/>
        </p:nvSpPr>
        <p:spPr>
          <a:xfrm>
            <a:off x="-2797233" y="1266093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D8034C41-4FB2-AC9C-B789-F4F119D58397}"/>
              </a:ext>
            </a:extLst>
          </p:cNvPr>
          <p:cNvSpPr/>
          <p:nvPr/>
        </p:nvSpPr>
        <p:spPr>
          <a:xfrm>
            <a:off x="-2797233" y="1738573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ADBA53BB-46CF-AF56-93CB-400D7CA758E9}"/>
              </a:ext>
            </a:extLst>
          </p:cNvPr>
          <p:cNvSpPr/>
          <p:nvPr/>
        </p:nvSpPr>
        <p:spPr>
          <a:xfrm>
            <a:off x="-2797233" y="3556617"/>
            <a:ext cx="233916" cy="255181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8255D3A9-B04A-4206-AAA7-EE7ECEAF421C}"/>
              </a:ext>
            </a:extLst>
          </p:cNvPr>
          <p:cNvCxnSpPr>
            <a:cxnSpLocks/>
            <a:stCxn id="54" idx="6"/>
            <a:endCxn id="8" idx="1"/>
          </p:cNvCxnSpPr>
          <p:nvPr/>
        </p:nvCxnSpPr>
        <p:spPr>
          <a:xfrm>
            <a:off x="-2563317" y="3684208"/>
            <a:ext cx="2001042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타원 55">
            <a:extLst>
              <a:ext uri="{FF2B5EF4-FFF2-40B4-BE49-F238E27FC236}">
                <a16:creationId xmlns:a16="http://schemas.microsoft.com/office/drawing/2014/main" id="{2DDBB63B-E53E-43D2-7087-30FEAD24A14A}"/>
              </a:ext>
            </a:extLst>
          </p:cNvPr>
          <p:cNvSpPr/>
          <p:nvPr/>
        </p:nvSpPr>
        <p:spPr>
          <a:xfrm>
            <a:off x="-2797233" y="6629263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A9A5B6E-5B4E-6DD3-FB91-50644E9BD93B}"/>
              </a:ext>
            </a:extLst>
          </p:cNvPr>
          <p:cNvSpPr/>
          <p:nvPr/>
        </p:nvSpPr>
        <p:spPr>
          <a:xfrm>
            <a:off x="-570498" y="4560161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광고노출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30DD83E-DBA3-4077-A758-C3ACB08D1C86}"/>
              </a:ext>
            </a:extLst>
          </p:cNvPr>
          <p:cNvCxnSpPr>
            <a:cxnSpLocks/>
            <a:stCxn id="9" idx="2"/>
            <a:endCxn id="58" idx="0"/>
          </p:cNvCxnSpPr>
          <p:nvPr/>
        </p:nvCxnSpPr>
        <p:spPr>
          <a:xfrm>
            <a:off x="-213387" y="4390466"/>
            <a:ext cx="0" cy="16969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7D28EBD2-7113-2396-6F34-CEE304006956}"/>
              </a:ext>
            </a:extLst>
          </p:cNvPr>
          <p:cNvSpPr/>
          <p:nvPr/>
        </p:nvSpPr>
        <p:spPr>
          <a:xfrm>
            <a:off x="-563852" y="5095182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광고클릭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7745662C-6A40-56A8-ADD4-BC1DA1939380}"/>
              </a:ext>
            </a:extLst>
          </p:cNvPr>
          <p:cNvSpPr/>
          <p:nvPr/>
        </p:nvSpPr>
        <p:spPr>
          <a:xfrm>
            <a:off x="-2797233" y="5146136"/>
            <a:ext cx="233916" cy="255181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4EFE1446-496E-B834-1B01-10D9A5627E2A}"/>
              </a:ext>
            </a:extLst>
          </p:cNvPr>
          <p:cNvCxnSpPr>
            <a:cxnSpLocks/>
            <a:stCxn id="61" idx="6"/>
            <a:endCxn id="60" idx="1"/>
          </p:cNvCxnSpPr>
          <p:nvPr/>
        </p:nvCxnSpPr>
        <p:spPr>
          <a:xfrm flipV="1">
            <a:off x="-2563317" y="5273523"/>
            <a:ext cx="1999465" cy="20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9BB9EDB4-664E-0544-1B6F-BBE324445F83}"/>
              </a:ext>
            </a:extLst>
          </p:cNvPr>
          <p:cNvSpPr txBox="1"/>
          <p:nvPr/>
        </p:nvSpPr>
        <p:spPr>
          <a:xfrm>
            <a:off x="-3718131" y="997413"/>
            <a:ext cx="20553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1.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Kafka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docker </a:t>
            </a:r>
            <a:r>
              <a:rPr kumimoji="1" lang="ko-KR" altLang="en-US" sz="1000" dirty="0">
                <a:solidFill>
                  <a:srgbClr val="0070C0"/>
                </a:solidFill>
              </a:rPr>
              <a:t>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9092)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EC70636-D7FE-D911-10C5-E3CF50F12A0A}"/>
              </a:ext>
            </a:extLst>
          </p:cNvPr>
          <p:cNvSpPr txBox="1"/>
          <p:nvPr/>
        </p:nvSpPr>
        <p:spPr>
          <a:xfrm>
            <a:off x="-3593898" y="1517080"/>
            <a:ext cx="18069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2.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ad-log-consumer </a:t>
            </a:r>
            <a:r>
              <a:rPr kumimoji="1" lang="ko-KR" altLang="en-US" sz="1000" dirty="0">
                <a:solidFill>
                  <a:srgbClr val="0070C0"/>
                </a:solidFill>
              </a:rPr>
              <a:t>앱 기동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483F51-6884-2962-5282-63FDD96BEFEF}"/>
              </a:ext>
            </a:extLst>
          </p:cNvPr>
          <p:cNvSpPr txBox="1"/>
          <p:nvPr/>
        </p:nvSpPr>
        <p:spPr>
          <a:xfrm>
            <a:off x="-3679659" y="2011287"/>
            <a:ext cx="19784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3.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</a:t>
            </a:r>
            <a:r>
              <a:rPr kumimoji="1" lang="en-US" altLang="ko-KR" sz="1000" dirty="0" err="1">
                <a:solidFill>
                  <a:srgbClr val="0070C0"/>
                </a:solidFill>
              </a:rPr>
              <a:t>api</a:t>
            </a:r>
            <a:r>
              <a:rPr kumimoji="1" lang="en-US" altLang="ko-KR" sz="1000" dirty="0">
                <a:solidFill>
                  <a:srgbClr val="0070C0"/>
                </a:solidFill>
              </a:rPr>
              <a:t> </a:t>
            </a:r>
            <a:r>
              <a:rPr kumimoji="1" lang="ko-KR" altLang="en-US" sz="1000" dirty="0">
                <a:solidFill>
                  <a:srgbClr val="0070C0"/>
                </a:solidFill>
              </a:rPr>
              <a:t>서버 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8081)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C93BB92-6AFE-5317-407E-EDE3E72D57E8}"/>
              </a:ext>
            </a:extLst>
          </p:cNvPr>
          <p:cNvSpPr txBox="1"/>
          <p:nvPr/>
        </p:nvSpPr>
        <p:spPr>
          <a:xfrm>
            <a:off x="-3262077" y="3823814"/>
            <a:ext cx="11432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chemeClr val="accent2"/>
                </a:solidFill>
              </a:rPr>
              <a:t>7.</a:t>
            </a:r>
            <a:r>
              <a:rPr kumimoji="1" lang="ko-KR" altLang="en-US" sz="1000" dirty="0">
                <a:solidFill>
                  <a:schemeClr val="accent2"/>
                </a:solidFill>
              </a:rPr>
              <a:t> 광고화면 진입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3395C6A-363F-9F85-C962-8FC7F217CD2A}"/>
              </a:ext>
            </a:extLst>
          </p:cNvPr>
          <p:cNvSpPr txBox="1"/>
          <p:nvPr/>
        </p:nvSpPr>
        <p:spPr>
          <a:xfrm>
            <a:off x="-3262077" y="5400771"/>
            <a:ext cx="11432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chemeClr val="accent2"/>
                </a:solidFill>
              </a:rPr>
              <a:t>8.</a:t>
            </a:r>
            <a:r>
              <a:rPr kumimoji="1" lang="ko-KR" altLang="en-US" sz="1000" dirty="0">
                <a:solidFill>
                  <a:schemeClr val="accent2"/>
                </a:solidFill>
              </a:rPr>
              <a:t> 광고화면 클릭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7B499C5-AA0C-6CBA-8276-D287FA086C8E}"/>
              </a:ext>
            </a:extLst>
          </p:cNvPr>
          <p:cNvSpPr txBox="1"/>
          <p:nvPr/>
        </p:nvSpPr>
        <p:spPr>
          <a:xfrm>
            <a:off x="-3597104" y="6889852"/>
            <a:ext cx="18133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6.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Kafka </a:t>
            </a:r>
            <a:r>
              <a:rPr kumimoji="1" lang="en-US" altLang="ko-KR" sz="1000" dirty="0" err="1">
                <a:solidFill>
                  <a:srgbClr val="0070C0"/>
                </a:solidFill>
              </a:rPr>
              <a:t>ui</a:t>
            </a:r>
            <a:r>
              <a:rPr kumimoji="1" lang="en-US" altLang="ko-KR" sz="1000" dirty="0">
                <a:solidFill>
                  <a:srgbClr val="0070C0"/>
                </a:solidFill>
              </a:rPr>
              <a:t> </a:t>
            </a:r>
            <a:r>
              <a:rPr kumimoji="1" lang="ko-KR" altLang="en-US" sz="1000" dirty="0">
                <a:solidFill>
                  <a:srgbClr val="0070C0"/>
                </a:solidFill>
              </a:rPr>
              <a:t>접속 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8989)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462A68D0-440F-4F55-F0AA-7CCF0E38EEC8}"/>
              </a:ext>
            </a:extLst>
          </p:cNvPr>
          <p:cNvSpPr/>
          <p:nvPr/>
        </p:nvSpPr>
        <p:spPr>
          <a:xfrm>
            <a:off x="7020965" y="-2894472"/>
            <a:ext cx="1128772" cy="6889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Settings.gradle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70" name="꺾인 연결선[E] 69">
            <a:extLst>
              <a:ext uri="{FF2B5EF4-FFF2-40B4-BE49-F238E27FC236}">
                <a16:creationId xmlns:a16="http://schemas.microsoft.com/office/drawing/2014/main" id="{D79CE2C6-5778-2CE8-311F-7F0B4B3679F9}"/>
              </a:ext>
            </a:extLst>
          </p:cNvPr>
          <p:cNvCxnSpPr>
            <a:cxnSpLocks/>
            <a:stCxn id="69" idx="2"/>
            <a:endCxn id="18" idx="0"/>
          </p:cNvCxnSpPr>
          <p:nvPr/>
        </p:nvCxnSpPr>
        <p:spPr>
          <a:xfrm rot="5400000">
            <a:off x="5991770" y="-2762671"/>
            <a:ext cx="1036423" cy="2150740"/>
          </a:xfrm>
          <a:prstGeom prst="bentConnector3">
            <a:avLst>
              <a:gd name="adj1" fmla="val 26547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꺾인 연결선[E] 70">
            <a:extLst>
              <a:ext uri="{FF2B5EF4-FFF2-40B4-BE49-F238E27FC236}">
                <a16:creationId xmlns:a16="http://schemas.microsoft.com/office/drawing/2014/main" id="{938BBD18-C054-071B-EE75-F1796CE1637B}"/>
              </a:ext>
            </a:extLst>
          </p:cNvPr>
          <p:cNvCxnSpPr>
            <a:cxnSpLocks/>
            <a:stCxn id="69" idx="2"/>
            <a:endCxn id="33" idx="0"/>
          </p:cNvCxnSpPr>
          <p:nvPr/>
        </p:nvCxnSpPr>
        <p:spPr>
          <a:xfrm rot="16200000" flipH="1">
            <a:off x="8926409" y="-3546571"/>
            <a:ext cx="1036422" cy="3718539"/>
          </a:xfrm>
          <a:prstGeom prst="bentConnector3">
            <a:avLst>
              <a:gd name="adj1" fmla="val 26547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5A4B3C55-38ED-4F45-3009-71935EFDAFD9}"/>
              </a:ext>
            </a:extLst>
          </p:cNvPr>
          <p:cNvCxnSpPr>
            <a:cxnSpLocks/>
            <a:stCxn id="69" idx="3"/>
            <a:endCxn id="11" idx="1"/>
          </p:cNvCxnSpPr>
          <p:nvPr/>
        </p:nvCxnSpPr>
        <p:spPr>
          <a:xfrm>
            <a:off x="8149737" y="-2549992"/>
            <a:ext cx="291773" cy="5819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꺾인 연결선[E] 72">
            <a:extLst>
              <a:ext uri="{FF2B5EF4-FFF2-40B4-BE49-F238E27FC236}">
                <a16:creationId xmlns:a16="http://schemas.microsoft.com/office/drawing/2014/main" id="{FB034287-C4AF-F784-04E0-6AA42DAD7B85}"/>
              </a:ext>
            </a:extLst>
          </p:cNvPr>
          <p:cNvCxnSpPr>
            <a:cxnSpLocks/>
            <a:stCxn id="102" idx="2"/>
            <a:endCxn id="15" idx="0"/>
          </p:cNvCxnSpPr>
          <p:nvPr/>
        </p:nvCxnSpPr>
        <p:spPr>
          <a:xfrm rot="16200000" flipH="1">
            <a:off x="5876519" y="-2905081"/>
            <a:ext cx="1032415" cy="2439566"/>
          </a:xfrm>
          <a:prstGeom prst="bentConnector3">
            <a:avLst>
              <a:gd name="adj1" fmla="val 64575"/>
            </a:avLst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2F1160AC-5B17-6D9B-B4D7-3BF57CCF0259}"/>
              </a:ext>
            </a:extLst>
          </p:cNvPr>
          <p:cNvSpPr/>
          <p:nvPr/>
        </p:nvSpPr>
        <p:spPr>
          <a:xfrm>
            <a:off x="9553904" y="6079640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KafkaErrorConfig</a:t>
            </a:r>
            <a:endParaRPr kumimoji="1" lang="en-US" altLang="ko-KR" sz="1000" dirty="0"/>
          </a:p>
          <a:p>
            <a:pPr algn="ctr"/>
            <a:r>
              <a:rPr kumimoji="1" lang="en-US" altLang="ko-KR" sz="1000" dirty="0"/>
              <a:t>(DLQ)</a:t>
            </a:r>
            <a:endParaRPr kumimoji="1" lang="ko-KR" altLang="en-US" sz="1000" dirty="0"/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BDD7865A-2E12-9D94-E241-1C95B2CC3C6D}"/>
              </a:ext>
            </a:extLst>
          </p:cNvPr>
          <p:cNvSpPr/>
          <p:nvPr/>
        </p:nvSpPr>
        <p:spPr>
          <a:xfrm>
            <a:off x="12202432" y="6580834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*-{topic</a:t>
            </a:r>
            <a:r>
              <a:rPr kumimoji="1" lang="ko-KR" altLang="en-US" sz="1000" dirty="0"/>
              <a:t>명</a:t>
            </a:r>
            <a:r>
              <a:rPr kumimoji="1" lang="en-US" altLang="ko-KR" sz="1000" dirty="0"/>
              <a:t>}.log</a:t>
            </a:r>
            <a:endParaRPr kumimoji="1" lang="ko-KR" altLang="en-US" sz="1000" dirty="0"/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46B8A3BA-AFDF-DF3E-6756-24A56EC411D0}"/>
              </a:ext>
            </a:extLst>
          </p:cNvPr>
          <p:cNvSpPr/>
          <p:nvPr/>
        </p:nvSpPr>
        <p:spPr>
          <a:xfrm>
            <a:off x="6979754" y="6079639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ad-request-dlq-0/*.log</a:t>
            </a:r>
            <a:endParaRPr kumimoji="1" lang="ko-KR" altLang="en-US" sz="1000" dirty="0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0899F72-BE47-1BC9-F0B2-4057B00CF018}"/>
              </a:ext>
            </a:extLst>
          </p:cNvPr>
          <p:cNvSpPr/>
          <p:nvPr/>
        </p:nvSpPr>
        <p:spPr>
          <a:xfrm>
            <a:off x="6979754" y="5584268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ad-request-0/*.log</a:t>
            </a:r>
            <a:endParaRPr kumimoji="1"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CCDC1DF3-0743-CC4E-A5FC-3CBCCC663E03}"/>
              </a:ext>
            </a:extLst>
          </p:cNvPr>
          <p:cNvCxnSpPr>
            <a:cxnSpLocks/>
            <a:stCxn id="16" idx="2"/>
            <a:endCxn id="78" idx="0"/>
          </p:cNvCxnSpPr>
          <p:nvPr/>
        </p:nvCxnSpPr>
        <p:spPr>
          <a:xfrm>
            <a:off x="7628200" y="5427678"/>
            <a:ext cx="0" cy="156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0" name="꺾인 연결선[E] 79">
            <a:extLst>
              <a:ext uri="{FF2B5EF4-FFF2-40B4-BE49-F238E27FC236}">
                <a16:creationId xmlns:a16="http://schemas.microsoft.com/office/drawing/2014/main" id="{01C66D34-B6BE-EEDF-377C-AF177762B6AE}"/>
              </a:ext>
            </a:extLst>
          </p:cNvPr>
          <p:cNvCxnSpPr>
            <a:cxnSpLocks/>
            <a:stCxn id="75" idx="3"/>
            <a:endCxn id="16" idx="0"/>
          </p:cNvCxnSpPr>
          <p:nvPr/>
        </p:nvCxnSpPr>
        <p:spPr>
          <a:xfrm flipH="1" flipV="1">
            <a:off x="7628200" y="5070997"/>
            <a:ext cx="3082328" cy="1186984"/>
          </a:xfrm>
          <a:prstGeom prst="bentConnector4">
            <a:avLst>
              <a:gd name="adj1" fmla="val -7416"/>
              <a:gd name="adj2" fmla="val 134331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1" name="꺾인 연결선[E] 80">
            <a:extLst>
              <a:ext uri="{FF2B5EF4-FFF2-40B4-BE49-F238E27FC236}">
                <a16:creationId xmlns:a16="http://schemas.microsoft.com/office/drawing/2014/main" id="{D4C1E9E6-77DC-A781-1D6C-2C39955A809E}"/>
              </a:ext>
            </a:extLst>
          </p:cNvPr>
          <p:cNvCxnSpPr>
            <a:cxnSpLocks/>
          </p:cNvCxnSpPr>
          <p:nvPr/>
        </p:nvCxnSpPr>
        <p:spPr>
          <a:xfrm>
            <a:off x="8276646" y="5299216"/>
            <a:ext cx="12700" cy="1008642"/>
          </a:xfrm>
          <a:prstGeom prst="bentConnector3">
            <a:avLst>
              <a:gd name="adj1" fmla="val 883638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07156156-5340-A2D1-E27C-07DC97FE80AE}"/>
              </a:ext>
            </a:extLst>
          </p:cNvPr>
          <p:cNvCxnSpPr>
            <a:cxnSpLocks/>
          </p:cNvCxnSpPr>
          <p:nvPr/>
        </p:nvCxnSpPr>
        <p:spPr>
          <a:xfrm>
            <a:off x="8276646" y="6307858"/>
            <a:ext cx="12700" cy="498875"/>
          </a:xfrm>
          <a:prstGeom prst="bentConnector3">
            <a:avLst>
              <a:gd name="adj1" fmla="val 883638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3" name="꺾인 연결선[E] 82">
            <a:extLst>
              <a:ext uri="{FF2B5EF4-FFF2-40B4-BE49-F238E27FC236}">
                <a16:creationId xmlns:a16="http://schemas.microsoft.com/office/drawing/2014/main" id="{FBFA98DB-A8BC-269A-2604-851BCEECFAA4}"/>
              </a:ext>
            </a:extLst>
          </p:cNvPr>
          <p:cNvCxnSpPr>
            <a:cxnSpLocks/>
            <a:stCxn id="78" idx="1"/>
            <a:endCxn id="17" idx="0"/>
          </p:cNvCxnSpPr>
          <p:nvPr/>
        </p:nvCxnSpPr>
        <p:spPr>
          <a:xfrm rot="10800000" flipH="1" flipV="1">
            <a:off x="6979754" y="5762608"/>
            <a:ext cx="648446" cy="815905"/>
          </a:xfrm>
          <a:prstGeom prst="bentConnector4">
            <a:avLst>
              <a:gd name="adj1" fmla="val -14743"/>
              <a:gd name="adj2" fmla="val 87419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15876EBF-D425-C384-8690-7FD7D7BBA1A2}"/>
              </a:ext>
            </a:extLst>
          </p:cNvPr>
          <p:cNvCxnSpPr>
            <a:cxnSpLocks/>
            <a:stCxn id="35" idx="1"/>
            <a:endCxn id="38" idx="1"/>
          </p:cNvCxnSpPr>
          <p:nvPr/>
        </p:nvCxnSpPr>
        <p:spPr>
          <a:xfrm rot="10800000" flipV="1">
            <a:off x="9551984" y="5762609"/>
            <a:ext cx="12700" cy="994246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0B1D9C4E-3005-501C-D2AF-004FBD31B0A6}"/>
              </a:ext>
            </a:extLst>
          </p:cNvPr>
          <p:cNvSpPr/>
          <p:nvPr/>
        </p:nvSpPr>
        <p:spPr>
          <a:xfrm>
            <a:off x="6973308" y="5569686"/>
            <a:ext cx="832327" cy="86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500" b="1" dirty="0"/>
              <a:t>디폴트 보관기간</a:t>
            </a:r>
            <a:r>
              <a:rPr kumimoji="1" lang="en-US" altLang="ko-KR" sz="500" b="1" dirty="0"/>
              <a:t>:</a:t>
            </a:r>
            <a:r>
              <a:rPr kumimoji="1" lang="ko-KR" altLang="en-US" sz="500" b="1" dirty="0"/>
              <a:t> </a:t>
            </a:r>
            <a:r>
              <a:rPr kumimoji="1" lang="en-US" altLang="ko-KR" sz="500" b="1" dirty="0"/>
              <a:t>7</a:t>
            </a:r>
            <a:r>
              <a:rPr kumimoji="1" lang="ko-KR" altLang="en-US" sz="500" b="1" dirty="0"/>
              <a:t>일</a:t>
            </a: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EF449FDA-C811-6DCC-125E-5C01F54FEED2}"/>
              </a:ext>
            </a:extLst>
          </p:cNvPr>
          <p:cNvSpPr/>
          <p:nvPr/>
        </p:nvSpPr>
        <p:spPr>
          <a:xfrm>
            <a:off x="6973308" y="6062481"/>
            <a:ext cx="832327" cy="8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500" b="1" dirty="0"/>
              <a:t>디폴트 보관기간</a:t>
            </a:r>
            <a:r>
              <a:rPr kumimoji="1" lang="en-US" altLang="ko-KR" sz="500" b="1" dirty="0"/>
              <a:t>:</a:t>
            </a:r>
            <a:r>
              <a:rPr kumimoji="1" lang="ko-KR" altLang="en-US" sz="500" b="1" dirty="0"/>
              <a:t> </a:t>
            </a:r>
            <a:r>
              <a:rPr kumimoji="1" lang="en-US" altLang="ko-KR" sz="500" b="1" dirty="0"/>
              <a:t>7</a:t>
            </a:r>
            <a:r>
              <a:rPr kumimoji="1" lang="ko-KR" altLang="en-US" sz="500" b="1" dirty="0"/>
              <a:t>일</a:t>
            </a:r>
          </a:p>
        </p:txBody>
      </p:sp>
      <p:sp>
        <p:nvSpPr>
          <p:cNvPr id="88" name="번개[L] 87">
            <a:extLst>
              <a:ext uri="{FF2B5EF4-FFF2-40B4-BE49-F238E27FC236}">
                <a16:creationId xmlns:a16="http://schemas.microsoft.com/office/drawing/2014/main" id="{AF4D00CE-1C1F-9710-7B0C-5C8293E13337}"/>
              </a:ext>
            </a:extLst>
          </p:cNvPr>
          <p:cNvSpPr/>
          <p:nvPr/>
        </p:nvSpPr>
        <p:spPr>
          <a:xfrm>
            <a:off x="6670273" y="308605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89" name="번개[L] 88">
            <a:extLst>
              <a:ext uri="{FF2B5EF4-FFF2-40B4-BE49-F238E27FC236}">
                <a16:creationId xmlns:a16="http://schemas.microsoft.com/office/drawing/2014/main" id="{AF722351-CCBC-3F26-9D9E-36F774DDA2E0}"/>
              </a:ext>
            </a:extLst>
          </p:cNvPr>
          <p:cNvSpPr/>
          <p:nvPr/>
        </p:nvSpPr>
        <p:spPr>
          <a:xfrm>
            <a:off x="8867957" y="910711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90" name="모서리가 둥근 사각형 설명선[R] 89">
            <a:extLst>
              <a:ext uri="{FF2B5EF4-FFF2-40B4-BE49-F238E27FC236}">
                <a16:creationId xmlns:a16="http://schemas.microsoft.com/office/drawing/2014/main" id="{C76D5743-2F0C-3DD5-149F-C9C36755D9C6}"/>
              </a:ext>
            </a:extLst>
          </p:cNvPr>
          <p:cNvSpPr/>
          <p:nvPr/>
        </p:nvSpPr>
        <p:spPr>
          <a:xfrm>
            <a:off x="6215286" y="4863457"/>
            <a:ext cx="631082" cy="161654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600" dirty="0" err="1">
                <a:solidFill>
                  <a:schemeClr val="tx1"/>
                </a:solidFill>
              </a:rPr>
              <a:t>버퍼큐사용</a:t>
            </a:r>
            <a:endParaRPr kumimoji="1"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91" name="모서리가 둥근 사각형 설명선[R] 90">
            <a:extLst>
              <a:ext uri="{FF2B5EF4-FFF2-40B4-BE49-F238E27FC236}">
                <a16:creationId xmlns:a16="http://schemas.microsoft.com/office/drawing/2014/main" id="{C0016F83-0886-D297-D06A-A2928012FDA7}"/>
              </a:ext>
            </a:extLst>
          </p:cNvPr>
          <p:cNvSpPr/>
          <p:nvPr/>
        </p:nvSpPr>
        <p:spPr>
          <a:xfrm>
            <a:off x="8606574" y="4814959"/>
            <a:ext cx="631082" cy="161654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chemeClr val="tx1"/>
                </a:solidFill>
              </a:rPr>
              <a:t>polling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C82E6A6D-7EB6-6FDB-0A91-0354C676AD66}"/>
              </a:ext>
            </a:extLst>
          </p:cNvPr>
          <p:cNvSpPr/>
          <p:nvPr/>
        </p:nvSpPr>
        <p:spPr>
          <a:xfrm>
            <a:off x="4422757" y="5777579"/>
            <a:ext cx="2023708" cy="3388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Port:8082)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35FD14EC-7E70-22DF-F130-C85AA9158384}"/>
              </a:ext>
            </a:extLst>
          </p:cNvPr>
          <p:cNvSpPr/>
          <p:nvPr/>
        </p:nvSpPr>
        <p:spPr>
          <a:xfrm>
            <a:off x="4422757" y="6226508"/>
            <a:ext cx="2023708" cy="3388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Port:8083)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0C60C0F-E465-3DBD-E8A2-ACC64496B267}"/>
              </a:ext>
            </a:extLst>
          </p:cNvPr>
          <p:cNvSpPr txBox="1"/>
          <p:nvPr/>
        </p:nvSpPr>
        <p:spPr>
          <a:xfrm>
            <a:off x="5306531" y="6497896"/>
            <a:ext cx="2135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/>
              <a:t>.</a:t>
            </a:r>
          </a:p>
          <a:p>
            <a:r>
              <a:rPr kumimoji="1" lang="en-US" altLang="ko-KR" sz="1000" dirty="0"/>
              <a:t>.</a:t>
            </a:r>
          </a:p>
          <a:p>
            <a:r>
              <a:rPr kumimoji="1" lang="en-US" altLang="ko-KR" sz="1000" dirty="0"/>
              <a:t>.</a:t>
            </a:r>
          </a:p>
        </p:txBody>
      </p:sp>
      <p:sp>
        <p:nvSpPr>
          <p:cNvPr id="99" name="모서리가 둥근 사각형 설명선[R] 98">
            <a:extLst>
              <a:ext uri="{FF2B5EF4-FFF2-40B4-BE49-F238E27FC236}">
                <a16:creationId xmlns:a16="http://schemas.microsoft.com/office/drawing/2014/main" id="{EF81A701-C680-6A16-EC93-A112F607D241}"/>
              </a:ext>
            </a:extLst>
          </p:cNvPr>
          <p:cNvSpPr/>
          <p:nvPr/>
        </p:nvSpPr>
        <p:spPr>
          <a:xfrm>
            <a:off x="10804538" y="165659"/>
            <a:ext cx="2694786" cy="597115"/>
          </a:xfrm>
          <a:prstGeom prst="wedgeRoundRectCallout">
            <a:avLst>
              <a:gd name="adj1" fmla="val -21596"/>
              <a:gd name="adj2" fmla="val 139301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ad-log-consumer </a:t>
            </a:r>
            <a:r>
              <a:rPr kumimoji="1" lang="ko-KR" altLang="en-US" sz="600" dirty="0">
                <a:solidFill>
                  <a:srgbClr val="FF0000"/>
                </a:solidFill>
              </a:rPr>
              <a:t>장애대응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200(</a:t>
            </a:r>
            <a:r>
              <a:rPr kumimoji="1" lang="ko-KR" altLang="en-US" sz="600" dirty="0">
                <a:solidFill>
                  <a:srgbClr val="FF0000"/>
                </a:solidFill>
              </a:rPr>
              <a:t>비동기처리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503(</a:t>
            </a:r>
            <a:r>
              <a:rPr kumimoji="1" lang="ko-KR" altLang="en-US" sz="600" dirty="0">
                <a:solidFill>
                  <a:srgbClr val="FF0000"/>
                </a:solidFill>
              </a:rPr>
              <a:t>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eventId</a:t>
            </a:r>
            <a:r>
              <a:rPr kumimoji="1" lang="ko-KR" altLang="en-US" sz="600" dirty="0">
                <a:solidFill>
                  <a:srgbClr val="FF0000"/>
                </a:solidFill>
              </a:rPr>
              <a:t>로 중복처리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1)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Docker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에</a:t>
            </a:r>
            <a:r>
              <a:rPr kumimoji="1" lang="ko-KR" altLang="en-US" sz="600" dirty="0">
                <a:solidFill>
                  <a:srgbClr val="FF0000"/>
                </a:solidFill>
              </a:rPr>
              <a:t> 메시지 쌓이고 </a:t>
            </a:r>
            <a:r>
              <a:rPr kumimoji="1" lang="en-US" altLang="ko-KR" sz="600" dirty="0">
                <a:solidFill>
                  <a:srgbClr val="FF0000"/>
                </a:solidFill>
              </a:rPr>
              <a:t>&gt;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ad-log-consumer </a:t>
            </a:r>
            <a:r>
              <a:rPr kumimoji="1" lang="ko-KR" altLang="en-US" sz="600" dirty="0">
                <a:solidFill>
                  <a:srgbClr val="FF0000"/>
                </a:solidFill>
              </a:rPr>
              <a:t>가 켜지면 마지막 기록된 </a:t>
            </a:r>
            <a:r>
              <a:rPr kumimoji="1" lang="en-US" altLang="ko-KR" sz="600" dirty="0">
                <a:solidFill>
                  <a:srgbClr val="FF0000"/>
                </a:solidFill>
              </a:rPr>
              <a:t>offset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부터</a:t>
            </a:r>
            <a:r>
              <a:rPr kumimoji="1" lang="ko-KR" altLang="en-US" sz="600" dirty="0">
                <a:solidFill>
                  <a:srgbClr val="FF0000"/>
                </a:solidFill>
              </a:rPr>
              <a:t> 밀린 메시지를 전부 처리</a:t>
            </a:r>
            <a:endParaRPr kumimoji="1" lang="en-US" altLang="ko-KR" sz="600" dirty="0">
              <a:solidFill>
                <a:srgbClr val="FF0000"/>
              </a:solidFill>
            </a:endParaRPr>
          </a:p>
        </p:txBody>
      </p:sp>
      <p:sp>
        <p:nvSpPr>
          <p:cNvPr id="100" name="모서리가 둥근 사각형 설명선[R] 99">
            <a:extLst>
              <a:ext uri="{FF2B5EF4-FFF2-40B4-BE49-F238E27FC236}">
                <a16:creationId xmlns:a16="http://schemas.microsoft.com/office/drawing/2014/main" id="{4531D406-B1AE-E12D-FBDA-634D0A373A16}"/>
              </a:ext>
            </a:extLst>
          </p:cNvPr>
          <p:cNvSpPr/>
          <p:nvPr/>
        </p:nvSpPr>
        <p:spPr>
          <a:xfrm>
            <a:off x="7112816" y="-103725"/>
            <a:ext cx="3408571" cy="708170"/>
          </a:xfrm>
          <a:prstGeom prst="wedgeRoundRectCallout">
            <a:avLst>
              <a:gd name="adj1" fmla="val -38134"/>
              <a:gd name="adj2" fmla="val 61200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Docker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en-US" altLang="ko-KR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>
                <a:solidFill>
                  <a:srgbClr val="FF0000"/>
                </a:solidFill>
              </a:rPr>
              <a:t>장애대응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200(</a:t>
            </a:r>
            <a:r>
              <a:rPr kumimoji="1" lang="ko-KR" altLang="en-US" sz="600" dirty="0">
                <a:solidFill>
                  <a:srgbClr val="FF0000"/>
                </a:solidFill>
              </a:rPr>
              <a:t>비동기처리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503(</a:t>
            </a:r>
            <a:r>
              <a:rPr kumimoji="1" lang="ko-KR" altLang="en-US" sz="600" dirty="0">
                <a:solidFill>
                  <a:srgbClr val="FF0000"/>
                </a:solidFill>
              </a:rPr>
              <a:t>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eventId</a:t>
            </a:r>
            <a:r>
              <a:rPr kumimoji="1" lang="ko-KR" altLang="en-US" sz="600" dirty="0">
                <a:solidFill>
                  <a:srgbClr val="FF0000"/>
                </a:solidFill>
              </a:rPr>
              <a:t>로 중복처리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Kafka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여러대</a:t>
            </a:r>
            <a:r>
              <a:rPr kumimoji="1" lang="ko-KR" altLang="en-US" sz="600" dirty="0">
                <a:solidFill>
                  <a:srgbClr val="FF0000"/>
                </a:solidFill>
              </a:rPr>
              <a:t> 두기</a:t>
            </a:r>
            <a:r>
              <a:rPr kumimoji="1" lang="en-US" altLang="ko-KR" sz="600" dirty="0">
                <a:solidFill>
                  <a:srgbClr val="FF0000"/>
                </a:solidFill>
              </a:rPr>
              <a:t>(</a:t>
            </a:r>
            <a:r>
              <a:rPr kumimoji="1" lang="ko-KR" altLang="en-US" sz="600" dirty="0">
                <a:solidFill>
                  <a:srgbClr val="FF0000"/>
                </a:solidFill>
              </a:rPr>
              <a:t>추후예정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1)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에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>
                <a:solidFill>
                  <a:srgbClr val="FF0000"/>
                </a:solidFill>
              </a:rPr>
              <a:t>가 붙어있는 상태에서 잠깐 죽는 경우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2</a:t>
            </a:r>
            <a:r>
              <a:rPr kumimoji="1" lang="ko-KR" altLang="en-US" sz="600" dirty="0">
                <a:solidFill>
                  <a:srgbClr val="FF0000"/>
                </a:solidFill>
              </a:rPr>
              <a:t>분 안에 돌아오면 유실</a:t>
            </a:r>
            <a:r>
              <a:rPr kumimoji="1" lang="en-US" altLang="ko-KR" sz="600" dirty="0">
                <a:solidFill>
                  <a:srgbClr val="FF0000"/>
                </a:solidFill>
              </a:rPr>
              <a:t>x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2) Kafka</a:t>
            </a:r>
            <a:r>
              <a:rPr kumimoji="1" lang="ko-KR" altLang="en-US" sz="600" dirty="0">
                <a:solidFill>
                  <a:srgbClr val="FF0000"/>
                </a:solidFill>
              </a:rPr>
              <a:t>가 죽은 상태에서 </a:t>
            </a:r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ko-KR" altLang="en-US" sz="600" dirty="0">
                <a:solidFill>
                  <a:srgbClr val="FF0000"/>
                </a:solidFill>
              </a:rPr>
              <a:t> 켠 경우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max.block.ms</a:t>
            </a:r>
            <a:r>
              <a:rPr kumimoji="1" lang="ko-KR" altLang="en-US" sz="600" dirty="0">
                <a:solidFill>
                  <a:srgbClr val="FF0000"/>
                </a:solidFill>
              </a:rPr>
              <a:t>설정 </a:t>
            </a:r>
            <a:r>
              <a:rPr kumimoji="1" lang="en-US" altLang="ko-KR" sz="600" dirty="0">
                <a:solidFill>
                  <a:srgbClr val="FF0000"/>
                </a:solidFill>
              </a:rPr>
              <a:t>3</a:t>
            </a:r>
            <a:r>
              <a:rPr kumimoji="1" lang="ko-KR" altLang="en-US" sz="600" dirty="0">
                <a:solidFill>
                  <a:srgbClr val="FF0000"/>
                </a:solidFill>
              </a:rPr>
              <a:t>초씩 느려지고 이벤트 유실됨</a:t>
            </a:r>
            <a:r>
              <a:rPr kumimoji="1" lang="en-US" altLang="ko-KR" sz="600" dirty="0">
                <a:solidFill>
                  <a:srgbClr val="FF0000"/>
                </a:solidFill>
              </a:rPr>
              <a:t>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endParaRPr kumimoji="1" lang="en-US" altLang="ko-KR" sz="600" dirty="0">
              <a:solidFill>
                <a:srgbClr val="FF0000"/>
              </a:solidFill>
            </a:endParaRP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48FFFB05-1658-D908-8F41-D4B413B36960}"/>
              </a:ext>
            </a:extLst>
          </p:cNvPr>
          <p:cNvSpPr/>
          <p:nvPr/>
        </p:nvSpPr>
        <p:spPr>
          <a:xfrm>
            <a:off x="4422757" y="-2894474"/>
            <a:ext cx="1494255" cy="28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Nginx/ad-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api.conf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1631DDF3-F030-81BC-1617-F9001F91C7DB}"/>
              </a:ext>
            </a:extLst>
          </p:cNvPr>
          <p:cNvSpPr/>
          <p:nvPr/>
        </p:nvSpPr>
        <p:spPr>
          <a:xfrm>
            <a:off x="4425815" y="-2489505"/>
            <a:ext cx="1494255" cy="28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compose.yml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EACAB342-B379-7B40-267B-5B8865B523D2}"/>
              </a:ext>
            </a:extLst>
          </p:cNvPr>
          <p:cNvSpPr/>
          <p:nvPr/>
        </p:nvSpPr>
        <p:spPr>
          <a:xfrm>
            <a:off x="1691288" y="-1170126"/>
            <a:ext cx="1732582" cy="860107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A2C8CF63-A238-9995-DB04-19B4AB0926D1}"/>
              </a:ext>
            </a:extLst>
          </p:cNvPr>
          <p:cNvSpPr/>
          <p:nvPr/>
        </p:nvSpPr>
        <p:spPr>
          <a:xfrm>
            <a:off x="1924937" y="3502669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adwhale-lb</a:t>
            </a:r>
            <a:r>
              <a:rPr kumimoji="1" lang="en-US" altLang="ko-KR" sz="1000" dirty="0"/>
              <a:t>(nginx)</a:t>
            </a:r>
            <a:endParaRPr kumimoji="1" lang="ko-KR" altLang="en-US" sz="1000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0D010F05-55E8-A407-A240-9336C3832B9A}"/>
              </a:ext>
            </a:extLst>
          </p:cNvPr>
          <p:cNvCxnSpPr>
            <a:cxnSpLocks/>
            <a:stCxn id="21" idx="1"/>
            <a:endCxn id="9" idx="3"/>
          </p:cNvCxnSpPr>
          <p:nvPr/>
        </p:nvCxnSpPr>
        <p:spPr>
          <a:xfrm flipH="1">
            <a:off x="143724" y="4212126"/>
            <a:ext cx="46718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B16FBEC-CF4B-F633-6F1A-AB5AC864E809}"/>
              </a:ext>
            </a:extLst>
          </p:cNvPr>
          <p:cNvSpPr txBox="1"/>
          <p:nvPr/>
        </p:nvSpPr>
        <p:spPr>
          <a:xfrm>
            <a:off x="136963" y="3479479"/>
            <a:ext cx="179247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[POST] Http://localhost:8080/v1/ad/request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2B3F69B4-53A4-6374-474F-D852BB1E2222}"/>
              </a:ext>
            </a:extLst>
          </p:cNvPr>
          <p:cNvCxnSpPr>
            <a:cxnSpLocks/>
            <a:stCxn id="48" idx="6"/>
            <a:endCxn id="46" idx="1"/>
          </p:cNvCxnSpPr>
          <p:nvPr/>
        </p:nvCxnSpPr>
        <p:spPr>
          <a:xfrm>
            <a:off x="-2563317" y="855319"/>
            <a:ext cx="953662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2185943-D463-44EB-859F-ED5056579AC0}"/>
              </a:ext>
            </a:extLst>
          </p:cNvPr>
          <p:cNvCxnSpPr>
            <a:cxnSpLocks/>
            <a:stCxn id="49" idx="6"/>
            <a:endCxn id="36" idx="1"/>
          </p:cNvCxnSpPr>
          <p:nvPr/>
        </p:nvCxnSpPr>
        <p:spPr>
          <a:xfrm>
            <a:off x="-2563317" y="1393684"/>
            <a:ext cx="11906583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7D31F751-68A4-05CA-EC57-4D5E028EBEB7}"/>
              </a:ext>
            </a:extLst>
          </p:cNvPr>
          <p:cNvCxnSpPr>
            <a:cxnSpLocks/>
            <a:stCxn id="50" idx="6"/>
            <a:endCxn id="23" idx="1"/>
          </p:cNvCxnSpPr>
          <p:nvPr/>
        </p:nvCxnSpPr>
        <p:spPr>
          <a:xfrm>
            <a:off x="-2563317" y="1866164"/>
            <a:ext cx="7378925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7380AC2B-0ACE-89FD-4D1F-32D7D799B25A}"/>
              </a:ext>
            </a:extLst>
          </p:cNvPr>
          <p:cNvSpPr txBox="1"/>
          <p:nvPr/>
        </p:nvSpPr>
        <p:spPr>
          <a:xfrm>
            <a:off x="2173887" y="4228407"/>
            <a:ext cx="74571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requestId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adId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placementUid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creativeUrl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landingUrl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88CA1B74-9136-5BD0-2D2B-717FECFDD257}"/>
              </a:ext>
            </a:extLst>
          </p:cNvPr>
          <p:cNvCxnSpPr>
            <a:cxnSpLocks/>
            <a:stCxn id="8" idx="3"/>
            <a:endCxn id="127" idx="1"/>
          </p:cNvCxnSpPr>
          <p:nvPr/>
        </p:nvCxnSpPr>
        <p:spPr>
          <a:xfrm flipV="1">
            <a:off x="151947" y="3681010"/>
            <a:ext cx="1772990" cy="3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5ABD8C5B-34FB-0F54-5C17-95DE991AC7A9}"/>
              </a:ext>
            </a:extLst>
          </p:cNvPr>
          <p:cNvCxnSpPr>
            <a:cxnSpLocks/>
            <a:stCxn id="127" idx="3"/>
            <a:endCxn id="20" idx="1"/>
          </p:cNvCxnSpPr>
          <p:nvPr/>
        </p:nvCxnSpPr>
        <p:spPr>
          <a:xfrm>
            <a:off x="3221829" y="3681010"/>
            <a:ext cx="1593779" cy="4738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3122DD47-C9B9-4CEB-A480-DAB31EA7A18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21829" y="-2819924"/>
            <a:ext cx="1200928" cy="6431484"/>
          </a:xfrm>
          <a:prstGeom prst="bentConnector3">
            <a:avLst>
              <a:gd name="adj1" fmla="val 73131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번개[L] 86">
            <a:extLst>
              <a:ext uri="{FF2B5EF4-FFF2-40B4-BE49-F238E27FC236}">
                <a16:creationId xmlns:a16="http://schemas.microsoft.com/office/drawing/2014/main" id="{D3BA1219-A13D-20C2-C17E-5E7AFB18C882}"/>
              </a:ext>
            </a:extLst>
          </p:cNvPr>
          <p:cNvSpPr/>
          <p:nvPr/>
        </p:nvSpPr>
        <p:spPr>
          <a:xfrm>
            <a:off x="1842093" y="3204328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98" name="모서리가 둥근 사각형 설명선[R] 97">
            <a:extLst>
              <a:ext uri="{FF2B5EF4-FFF2-40B4-BE49-F238E27FC236}">
                <a16:creationId xmlns:a16="http://schemas.microsoft.com/office/drawing/2014/main" id="{A9D3E13D-0D99-6F3E-4061-EC3585D6E361}"/>
              </a:ext>
            </a:extLst>
          </p:cNvPr>
          <p:cNvSpPr/>
          <p:nvPr/>
        </p:nvSpPr>
        <p:spPr>
          <a:xfrm>
            <a:off x="383686" y="2782956"/>
            <a:ext cx="2067971" cy="388601"/>
          </a:xfrm>
          <a:prstGeom prst="wedgeRoundRectCallout">
            <a:avLst>
              <a:gd name="adj1" fmla="val 24679"/>
              <a:gd name="adj2" fmla="val 76140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en-US" altLang="ko-KR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>
                <a:solidFill>
                  <a:srgbClr val="FF0000"/>
                </a:solidFill>
              </a:rPr>
              <a:t>서버 장애대응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응답</a:t>
            </a:r>
            <a:r>
              <a:rPr kumimoji="1" lang="en-US" altLang="ko-KR" sz="600" dirty="0">
                <a:solidFill>
                  <a:srgbClr val="FF0000"/>
                </a:solidFill>
              </a:rPr>
              <a:t>x,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>
                <a:solidFill>
                  <a:srgbClr val="FF0000"/>
                </a:solidFill>
              </a:rPr>
              <a:t>메시지</a:t>
            </a:r>
            <a:r>
              <a:rPr kumimoji="1" lang="en-US" altLang="ko-KR" sz="600" dirty="0">
                <a:solidFill>
                  <a:srgbClr val="FF0000"/>
                </a:solidFill>
              </a:rPr>
              <a:t>x</a:t>
            </a:r>
            <a:r>
              <a:rPr kumimoji="1" lang="ko-KR" altLang="en-US" sz="600" dirty="0">
                <a:solidFill>
                  <a:srgbClr val="FF0000"/>
                </a:solidFill>
              </a:rPr>
              <a:t> 일 경우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로드밸런서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nginx </a:t>
            </a:r>
            <a:r>
              <a:rPr kumimoji="1" lang="ko-KR" altLang="en-US" sz="600" dirty="0">
                <a:solidFill>
                  <a:srgbClr val="FF0000"/>
                </a:solidFill>
              </a:rPr>
              <a:t>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503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</a:t>
            </a: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5DB71919-E43A-8EB7-B4F7-54AB7439822D}"/>
              </a:ext>
            </a:extLst>
          </p:cNvPr>
          <p:cNvSpPr/>
          <p:nvPr/>
        </p:nvSpPr>
        <p:spPr>
          <a:xfrm>
            <a:off x="1925188" y="2307721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adwhale-lb</a:t>
            </a:r>
            <a:r>
              <a:rPr kumimoji="1" lang="en-US" altLang="ko-KR" sz="1000" dirty="0"/>
              <a:t>(nginx)</a:t>
            </a:r>
            <a:endParaRPr kumimoji="1" lang="ko-KR" altLang="en-US" sz="1000" dirty="0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D6DCFF4A-1E64-3560-3B14-EFB315887EEA}"/>
              </a:ext>
            </a:extLst>
          </p:cNvPr>
          <p:cNvSpPr/>
          <p:nvPr/>
        </p:nvSpPr>
        <p:spPr>
          <a:xfrm>
            <a:off x="-2797233" y="2354222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730B3E46-1C65-7FF9-A8A8-C6DFF3EB82CE}"/>
              </a:ext>
            </a:extLst>
          </p:cNvPr>
          <p:cNvSpPr txBox="1"/>
          <p:nvPr/>
        </p:nvSpPr>
        <p:spPr>
          <a:xfrm>
            <a:off x="-3729352" y="2626936"/>
            <a:ext cx="207781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4.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Loadbalancer </a:t>
            </a:r>
            <a:r>
              <a:rPr kumimoji="1" lang="ko-KR" altLang="en-US" sz="1000" dirty="0">
                <a:solidFill>
                  <a:srgbClr val="0070C0"/>
                </a:solidFill>
              </a:rPr>
              <a:t>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8080)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6FDB8E62-C35C-A4E7-03C1-CFD085445D1B}"/>
              </a:ext>
            </a:extLst>
          </p:cNvPr>
          <p:cNvCxnSpPr>
            <a:cxnSpLocks/>
            <a:stCxn id="138" idx="6"/>
            <a:endCxn id="136" idx="1"/>
          </p:cNvCxnSpPr>
          <p:nvPr/>
        </p:nvCxnSpPr>
        <p:spPr>
          <a:xfrm>
            <a:off x="-2563317" y="2481813"/>
            <a:ext cx="4488505" cy="4249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2B28639-55C5-3EC5-4DED-FF0F7BD67FA0}"/>
              </a:ext>
            </a:extLst>
          </p:cNvPr>
          <p:cNvSpPr txBox="1"/>
          <p:nvPr/>
        </p:nvSpPr>
        <p:spPr>
          <a:xfrm>
            <a:off x="2285592" y="4019486"/>
            <a:ext cx="5357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JSON</a:t>
            </a:r>
            <a:r>
              <a:rPr kumimoji="1" lang="ko-KR" altLang="en-US" sz="600" b="1" dirty="0">
                <a:solidFill>
                  <a:schemeClr val="accent2"/>
                </a:solidFill>
              </a:rPr>
              <a:t>객체</a:t>
            </a:r>
          </a:p>
        </p:txBody>
      </p:sp>
      <p:cxnSp>
        <p:nvCxnSpPr>
          <p:cNvPr id="151" name="직선 화살표 연결선 150">
            <a:extLst>
              <a:ext uri="{FF2B5EF4-FFF2-40B4-BE49-F238E27FC236}">
                <a16:creationId xmlns:a16="http://schemas.microsoft.com/office/drawing/2014/main" id="{B2137908-038E-1049-CEC7-51D7D9884366}"/>
              </a:ext>
            </a:extLst>
          </p:cNvPr>
          <p:cNvCxnSpPr>
            <a:stCxn id="136" idx="2"/>
            <a:endCxn id="127" idx="0"/>
          </p:cNvCxnSpPr>
          <p:nvPr/>
        </p:nvCxnSpPr>
        <p:spPr>
          <a:xfrm flipH="1">
            <a:off x="2573383" y="2664402"/>
            <a:ext cx="251" cy="838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2" name="타원 151">
            <a:extLst>
              <a:ext uri="{FF2B5EF4-FFF2-40B4-BE49-F238E27FC236}">
                <a16:creationId xmlns:a16="http://schemas.microsoft.com/office/drawing/2014/main" id="{33A6654C-5A69-E849-B125-01F1EA2DDD59}"/>
              </a:ext>
            </a:extLst>
          </p:cNvPr>
          <p:cNvSpPr/>
          <p:nvPr/>
        </p:nvSpPr>
        <p:spPr>
          <a:xfrm>
            <a:off x="-2797233" y="5824556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BB5EC17A-C672-340A-F2F5-554627A31C6F}"/>
              </a:ext>
            </a:extLst>
          </p:cNvPr>
          <p:cNvSpPr txBox="1"/>
          <p:nvPr/>
        </p:nvSpPr>
        <p:spPr>
          <a:xfrm>
            <a:off x="-3679659" y="6097270"/>
            <a:ext cx="19784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3.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</a:t>
            </a:r>
            <a:r>
              <a:rPr kumimoji="1" lang="en-US" altLang="ko-KR" sz="1000" dirty="0" err="1">
                <a:solidFill>
                  <a:srgbClr val="0070C0"/>
                </a:solidFill>
              </a:rPr>
              <a:t>api</a:t>
            </a:r>
            <a:r>
              <a:rPr kumimoji="1" lang="en-US" altLang="ko-KR" sz="1000" dirty="0">
                <a:solidFill>
                  <a:srgbClr val="0070C0"/>
                </a:solidFill>
              </a:rPr>
              <a:t> </a:t>
            </a:r>
            <a:r>
              <a:rPr kumimoji="1" lang="ko-KR" altLang="en-US" sz="1000" dirty="0">
                <a:solidFill>
                  <a:srgbClr val="0070C0"/>
                </a:solidFill>
              </a:rPr>
              <a:t>서버 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8082)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cxnSp>
        <p:nvCxnSpPr>
          <p:cNvPr id="154" name="직선 화살표 연결선 153">
            <a:extLst>
              <a:ext uri="{FF2B5EF4-FFF2-40B4-BE49-F238E27FC236}">
                <a16:creationId xmlns:a16="http://schemas.microsoft.com/office/drawing/2014/main" id="{44EC949E-8256-B226-0728-C05E6D9ED8AC}"/>
              </a:ext>
            </a:extLst>
          </p:cNvPr>
          <p:cNvCxnSpPr>
            <a:cxnSpLocks/>
            <a:stCxn id="152" idx="6"/>
            <a:endCxn id="93" idx="1"/>
          </p:cNvCxnSpPr>
          <p:nvPr/>
        </p:nvCxnSpPr>
        <p:spPr>
          <a:xfrm flipV="1">
            <a:off x="-2563317" y="5947004"/>
            <a:ext cx="6986074" cy="5143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C40BC96-20C2-D674-2CBC-46A49DF97541}"/>
              </a:ext>
            </a:extLst>
          </p:cNvPr>
          <p:cNvCxnSpPr>
            <a:cxnSpLocks/>
            <a:stCxn id="56" idx="6"/>
            <a:endCxn id="17" idx="1"/>
          </p:cNvCxnSpPr>
          <p:nvPr/>
        </p:nvCxnSpPr>
        <p:spPr>
          <a:xfrm>
            <a:off x="-2563317" y="6756854"/>
            <a:ext cx="9543071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모서리가 둥근 사각형 설명선[R] 95">
            <a:extLst>
              <a:ext uri="{FF2B5EF4-FFF2-40B4-BE49-F238E27FC236}">
                <a16:creationId xmlns:a16="http://schemas.microsoft.com/office/drawing/2014/main" id="{E458C81F-74BC-48C4-8D8B-C72F73A00944}"/>
              </a:ext>
            </a:extLst>
          </p:cNvPr>
          <p:cNvSpPr/>
          <p:nvPr/>
        </p:nvSpPr>
        <p:spPr>
          <a:xfrm>
            <a:off x="3594589" y="3363748"/>
            <a:ext cx="761673" cy="184666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600" dirty="0" err="1">
                <a:solidFill>
                  <a:schemeClr val="tx1"/>
                </a:solidFill>
              </a:rPr>
              <a:t>라운드로빈사용</a:t>
            </a:r>
            <a:endParaRPr kumimoji="1" lang="en-US" altLang="ko-KR" sz="600" dirty="0">
              <a:solidFill>
                <a:schemeClr val="tx1"/>
              </a:solidFill>
            </a:endParaRPr>
          </a:p>
        </p:txBody>
      </p:sp>
      <p:cxnSp>
        <p:nvCxnSpPr>
          <p:cNvPr id="164" name="꺾인 연결선[E] 163">
            <a:extLst>
              <a:ext uri="{FF2B5EF4-FFF2-40B4-BE49-F238E27FC236}">
                <a16:creationId xmlns:a16="http://schemas.microsoft.com/office/drawing/2014/main" id="{601810D6-657B-B04B-5A95-15F19B04EC7B}"/>
              </a:ext>
            </a:extLst>
          </p:cNvPr>
          <p:cNvCxnSpPr>
            <a:cxnSpLocks/>
            <a:stCxn id="102" idx="2"/>
            <a:endCxn id="126" idx="0"/>
          </p:cNvCxnSpPr>
          <p:nvPr/>
        </p:nvCxnSpPr>
        <p:spPr>
          <a:xfrm rot="5400000">
            <a:off x="3349572" y="-2993498"/>
            <a:ext cx="1031379" cy="2615364"/>
          </a:xfrm>
          <a:prstGeom prst="bentConnector3">
            <a:avLst>
              <a:gd name="adj1" fmla="val 64589"/>
            </a:avLst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직사각형 167">
            <a:extLst>
              <a:ext uri="{FF2B5EF4-FFF2-40B4-BE49-F238E27FC236}">
                <a16:creationId xmlns:a16="http://schemas.microsoft.com/office/drawing/2014/main" id="{8C47A2F4-A039-321F-9E0A-85B7F23CDFC9}"/>
              </a:ext>
            </a:extLst>
          </p:cNvPr>
          <p:cNvSpPr/>
          <p:nvPr/>
        </p:nvSpPr>
        <p:spPr>
          <a:xfrm>
            <a:off x="17346177" y="-1170125"/>
            <a:ext cx="2020910" cy="860107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69" name="직사각형 168">
            <a:extLst>
              <a:ext uri="{FF2B5EF4-FFF2-40B4-BE49-F238E27FC236}">
                <a16:creationId xmlns:a16="http://schemas.microsoft.com/office/drawing/2014/main" id="{711480C5-7ADB-24DE-5E02-E072DEACA3A5}"/>
              </a:ext>
            </a:extLst>
          </p:cNvPr>
          <p:cNvSpPr/>
          <p:nvPr/>
        </p:nvSpPr>
        <p:spPr>
          <a:xfrm>
            <a:off x="17701090" y="-853883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adwhale-mysql</a:t>
            </a:r>
            <a:endParaRPr kumimoji="1" lang="ko-KR" altLang="en-US" sz="1000" dirty="0"/>
          </a:p>
        </p:txBody>
      </p:sp>
      <p:sp>
        <p:nvSpPr>
          <p:cNvPr id="170" name="원통[C] 169">
            <a:extLst>
              <a:ext uri="{FF2B5EF4-FFF2-40B4-BE49-F238E27FC236}">
                <a16:creationId xmlns:a16="http://schemas.microsoft.com/office/drawing/2014/main" id="{E17550DC-DFD3-A8C5-DCB3-9C7A123B63C0}"/>
              </a:ext>
            </a:extLst>
          </p:cNvPr>
          <p:cNvSpPr/>
          <p:nvPr/>
        </p:nvSpPr>
        <p:spPr>
          <a:xfrm>
            <a:off x="17491010" y="1321239"/>
            <a:ext cx="1717051" cy="3723750"/>
          </a:xfrm>
          <a:prstGeom prst="can">
            <a:avLst>
              <a:gd name="adj" fmla="val 8527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adwhale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-db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88" name="타원 187">
            <a:extLst>
              <a:ext uri="{FF2B5EF4-FFF2-40B4-BE49-F238E27FC236}">
                <a16:creationId xmlns:a16="http://schemas.microsoft.com/office/drawing/2014/main" id="{A3FFB5A4-E012-7131-BB06-BB560971CEEA}"/>
              </a:ext>
            </a:extLst>
          </p:cNvPr>
          <p:cNvSpPr/>
          <p:nvPr/>
        </p:nvSpPr>
        <p:spPr>
          <a:xfrm>
            <a:off x="-2797233" y="-800905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AFA20AE0-DAF7-8DFE-BAE8-02317151A62E}"/>
              </a:ext>
            </a:extLst>
          </p:cNvPr>
          <p:cNvSpPr txBox="1"/>
          <p:nvPr/>
        </p:nvSpPr>
        <p:spPr>
          <a:xfrm>
            <a:off x="-3765420" y="-531220"/>
            <a:ext cx="21499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5.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MySQL docker </a:t>
            </a:r>
            <a:r>
              <a:rPr kumimoji="1" lang="ko-KR" altLang="en-US" sz="1000" dirty="0">
                <a:solidFill>
                  <a:srgbClr val="0070C0"/>
                </a:solidFill>
              </a:rPr>
              <a:t>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3306)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A8B58062-D4E5-F4F5-D863-D24EF38B3D55}"/>
              </a:ext>
            </a:extLst>
          </p:cNvPr>
          <p:cNvCxnSpPr>
            <a:cxnSpLocks/>
            <a:stCxn id="169" idx="2"/>
            <a:endCxn id="170" idx="1"/>
          </p:cNvCxnSpPr>
          <p:nvPr/>
        </p:nvCxnSpPr>
        <p:spPr>
          <a:xfrm>
            <a:off x="18349536" y="-497202"/>
            <a:ext cx="0" cy="1818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4" name="직사각형 203">
            <a:extLst>
              <a:ext uri="{FF2B5EF4-FFF2-40B4-BE49-F238E27FC236}">
                <a16:creationId xmlns:a16="http://schemas.microsoft.com/office/drawing/2014/main" id="{BBE3FD9B-F2AF-A5DE-FC34-73FD9C84186A}"/>
              </a:ext>
            </a:extLst>
          </p:cNvPr>
          <p:cNvSpPr/>
          <p:nvPr/>
        </p:nvSpPr>
        <p:spPr>
          <a:xfrm>
            <a:off x="10399754" y="3561303"/>
            <a:ext cx="1443683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AdEventRepository</a:t>
            </a:r>
            <a:endParaRPr kumimoji="1" lang="ko-KR" altLang="en-US" sz="1000" dirty="0"/>
          </a:p>
        </p:txBody>
      </p:sp>
      <p:sp>
        <p:nvSpPr>
          <p:cNvPr id="205" name="직사각형 204">
            <a:extLst>
              <a:ext uri="{FF2B5EF4-FFF2-40B4-BE49-F238E27FC236}">
                <a16:creationId xmlns:a16="http://schemas.microsoft.com/office/drawing/2014/main" id="{844A9B6D-6F25-ADCA-A72B-177149B80BBF}"/>
              </a:ext>
            </a:extLst>
          </p:cNvPr>
          <p:cNvSpPr/>
          <p:nvPr/>
        </p:nvSpPr>
        <p:spPr>
          <a:xfrm>
            <a:off x="10388526" y="3000583"/>
            <a:ext cx="1469228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jdbc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35A4DB02-DDCA-A968-CD8A-0E0B39AE9D67}"/>
              </a:ext>
            </a:extLst>
          </p:cNvPr>
          <p:cNvSpPr txBox="1"/>
          <p:nvPr/>
        </p:nvSpPr>
        <p:spPr>
          <a:xfrm>
            <a:off x="8499503" y="4059244"/>
            <a:ext cx="92685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DB LISTENER (3306)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222" name="직사각형 221">
            <a:extLst>
              <a:ext uri="{FF2B5EF4-FFF2-40B4-BE49-F238E27FC236}">
                <a16:creationId xmlns:a16="http://schemas.microsoft.com/office/drawing/2014/main" id="{2B2C3C81-BB32-916C-F1EB-AD0EB9AB9B64}"/>
              </a:ext>
            </a:extLst>
          </p:cNvPr>
          <p:cNvSpPr/>
          <p:nvPr/>
        </p:nvSpPr>
        <p:spPr>
          <a:xfrm>
            <a:off x="10403954" y="4081251"/>
            <a:ext cx="1443683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AdEventDbConsumer</a:t>
            </a:r>
            <a:endParaRPr kumimoji="1" lang="ko-KR" altLang="en-US" sz="1000" dirty="0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E70A351E-53F4-903C-8099-06900AA9620A}"/>
              </a:ext>
            </a:extLst>
          </p:cNvPr>
          <p:cNvCxnSpPr>
            <a:cxnSpLocks/>
            <a:stCxn id="222" idx="0"/>
            <a:endCxn id="204" idx="2"/>
          </p:cNvCxnSpPr>
          <p:nvPr/>
        </p:nvCxnSpPr>
        <p:spPr>
          <a:xfrm flipH="1" flipV="1">
            <a:off x="11121596" y="3917984"/>
            <a:ext cx="4200" cy="163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33" name="꺾인 연결선[E] 232">
            <a:extLst>
              <a:ext uri="{FF2B5EF4-FFF2-40B4-BE49-F238E27FC236}">
                <a16:creationId xmlns:a16="http://schemas.microsoft.com/office/drawing/2014/main" id="{E035F962-DE62-84E2-508E-E9B34144FB10}"/>
              </a:ext>
            </a:extLst>
          </p:cNvPr>
          <p:cNvCxnSpPr>
            <a:cxnSpLocks/>
            <a:stCxn id="16" idx="3"/>
            <a:endCxn id="222" idx="1"/>
          </p:cNvCxnSpPr>
          <p:nvPr/>
        </p:nvCxnSpPr>
        <p:spPr>
          <a:xfrm flipV="1">
            <a:off x="8276646" y="4259592"/>
            <a:ext cx="2127308" cy="989746"/>
          </a:xfrm>
          <a:prstGeom prst="bentConnector3">
            <a:avLst>
              <a:gd name="adj1" fmla="val 3746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9287A9FF-F20A-D635-4D39-1F10443BEC23}"/>
              </a:ext>
            </a:extLst>
          </p:cNvPr>
          <p:cNvCxnSpPr>
            <a:cxnSpLocks/>
          </p:cNvCxnSpPr>
          <p:nvPr/>
        </p:nvCxnSpPr>
        <p:spPr>
          <a:xfrm>
            <a:off x="9921578" y="1572025"/>
            <a:ext cx="0" cy="35124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5F28BC28-C059-A745-7878-C846863DECF8}"/>
              </a:ext>
            </a:extLst>
          </p:cNvPr>
          <p:cNvCxnSpPr>
            <a:cxnSpLocks/>
            <a:stCxn id="204" idx="0"/>
            <a:endCxn id="205" idx="2"/>
          </p:cNvCxnSpPr>
          <p:nvPr/>
        </p:nvCxnSpPr>
        <p:spPr>
          <a:xfrm flipV="1">
            <a:off x="11121596" y="3373584"/>
            <a:ext cx="1544" cy="1877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60" name="직선 화살표 연결선 259">
            <a:extLst>
              <a:ext uri="{FF2B5EF4-FFF2-40B4-BE49-F238E27FC236}">
                <a16:creationId xmlns:a16="http://schemas.microsoft.com/office/drawing/2014/main" id="{7D4DD251-9991-60A7-0654-35110B7C5548}"/>
              </a:ext>
            </a:extLst>
          </p:cNvPr>
          <p:cNvCxnSpPr>
            <a:cxnSpLocks/>
            <a:endCxn id="205" idx="0"/>
          </p:cNvCxnSpPr>
          <p:nvPr/>
        </p:nvCxnSpPr>
        <p:spPr>
          <a:xfrm>
            <a:off x="11123140" y="1572025"/>
            <a:ext cx="0" cy="1428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표 263">
            <a:extLst>
              <a:ext uri="{FF2B5EF4-FFF2-40B4-BE49-F238E27FC236}">
                <a16:creationId xmlns:a16="http://schemas.microsoft.com/office/drawing/2014/main" id="{3F4DD81C-7CFC-A544-DC2E-FC6A75EF6CD6}"/>
              </a:ext>
            </a:extLst>
          </p:cNvPr>
          <p:cNvGraphicFramePr>
            <a:graphicFrameLocks noGrp="1"/>
          </p:cNvGraphicFramePr>
          <p:nvPr/>
        </p:nvGraphicFramePr>
        <p:xfrm>
          <a:off x="17608402" y="2258833"/>
          <a:ext cx="1457960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60403379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512224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34891184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92032768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6204638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8182935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29149594"/>
                    </a:ext>
                  </a:extLst>
                </a:gridCol>
              </a:tblGrid>
              <a:tr h="17905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706128"/>
                  </a:ext>
                </a:extLst>
              </a:tr>
              <a:tr h="17905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70320"/>
                  </a:ext>
                </a:extLst>
              </a:tr>
            </a:tbl>
          </a:graphicData>
        </a:graphic>
      </p:graphicFrame>
      <p:graphicFrame>
        <p:nvGraphicFramePr>
          <p:cNvPr id="265" name="표 264">
            <a:extLst>
              <a:ext uri="{FF2B5EF4-FFF2-40B4-BE49-F238E27FC236}">
                <a16:creationId xmlns:a16="http://schemas.microsoft.com/office/drawing/2014/main" id="{753B3DCA-1A78-27A3-6020-CCFFA4F0D362}"/>
              </a:ext>
            </a:extLst>
          </p:cNvPr>
          <p:cNvGraphicFramePr>
            <a:graphicFrameLocks noGrp="1"/>
          </p:cNvGraphicFramePr>
          <p:nvPr/>
        </p:nvGraphicFramePr>
        <p:xfrm>
          <a:off x="17608402" y="3716201"/>
          <a:ext cx="1457960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60403379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512224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34891184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92032768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6204638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8182935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29149594"/>
                    </a:ext>
                  </a:extLst>
                </a:gridCol>
              </a:tblGrid>
              <a:tr h="17905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706128"/>
                  </a:ext>
                </a:extLst>
              </a:tr>
              <a:tr h="17905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70320"/>
                  </a:ext>
                </a:extLst>
              </a:tr>
            </a:tbl>
          </a:graphicData>
        </a:graphic>
      </p:graphicFrame>
      <p:sp>
        <p:nvSpPr>
          <p:cNvPr id="266" name="TextBox 265">
            <a:extLst>
              <a:ext uri="{FF2B5EF4-FFF2-40B4-BE49-F238E27FC236}">
                <a16:creationId xmlns:a16="http://schemas.microsoft.com/office/drawing/2014/main" id="{77744D10-ACA1-A1C4-C1B4-F7CB1B5DE8D6}"/>
              </a:ext>
            </a:extLst>
          </p:cNvPr>
          <p:cNvSpPr txBox="1"/>
          <p:nvPr/>
        </p:nvSpPr>
        <p:spPr>
          <a:xfrm>
            <a:off x="17741300" y="2011287"/>
            <a:ext cx="1188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dirty="0"/>
              <a:t>&lt;&lt; ad_event &gt;&gt;</a:t>
            </a:r>
            <a:endParaRPr kumimoji="1" lang="ko-KR" altLang="en-US" sz="1000" b="1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EA4008C8-3BE3-E911-2446-FF4ABB7C91D3}"/>
              </a:ext>
            </a:extLst>
          </p:cNvPr>
          <p:cNvSpPr txBox="1"/>
          <p:nvPr/>
        </p:nvSpPr>
        <p:spPr>
          <a:xfrm>
            <a:off x="17558432" y="3461262"/>
            <a:ext cx="1582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dirty="0"/>
              <a:t>&lt;&lt; ad_stats_hourly &gt;&gt;</a:t>
            </a:r>
            <a:endParaRPr kumimoji="1" lang="ko-KR" altLang="en-US" sz="1000" b="1" dirty="0"/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49A2CDA5-E739-0887-7EF2-0A86EDA61B75}"/>
              </a:ext>
            </a:extLst>
          </p:cNvPr>
          <p:cNvSpPr txBox="1"/>
          <p:nvPr/>
        </p:nvSpPr>
        <p:spPr>
          <a:xfrm>
            <a:off x="8424135" y="5270226"/>
            <a:ext cx="94288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ad-log-writer (9092)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78E8C826-D1B5-C02F-09AB-942D88CA27CB}"/>
              </a:ext>
            </a:extLst>
          </p:cNvPr>
          <p:cNvSpPr txBox="1"/>
          <p:nvPr/>
        </p:nvSpPr>
        <p:spPr>
          <a:xfrm>
            <a:off x="8512563" y="4278255"/>
            <a:ext cx="909223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ad-db-writer (3306)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270" name="번개[L] 269">
            <a:extLst>
              <a:ext uri="{FF2B5EF4-FFF2-40B4-BE49-F238E27FC236}">
                <a16:creationId xmlns:a16="http://schemas.microsoft.com/office/drawing/2014/main" id="{C26CDDD6-F01B-00C7-3C89-1D4D839A39AE}"/>
              </a:ext>
            </a:extLst>
          </p:cNvPr>
          <p:cNvSpPr/>
          <p:nvPr/>
        </p:nvSpPr>
        <p:spPr>
          <a:xfrm>
            <a:off x="10179542" y="2608447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271" name="모서리가 둥근 사각형 설명선[R] 270">
            <a:extLst>
              <a:ext uri="{FF2B5EF4-FFF2-40B4-BE49-F238E27FC236}">
                <a16:creationId xmlns:a16="http://schemas.microsoft.com/office/drawing/2014/main" id="{34F3CBCD-03AE-1079-AC52-4252ACDD3D5F}"/>
              </a:ext>
            </a:extLst>
          </p:cNvPr>
          <p:cNvSpPr/>
          <p:nvPr/>
        </p:nvSpPr>
        <p:spPr>
          <a:xfrm>
            <a:off x="11345030" y="2288872"/>
            <a:ext cx="1714804" cy="319575"/>
          </a:xfrm>
          <a:prstGeom prst="wedgeRoundRectCallout">
            <a:avLst>
              <a:gd name="adj1" fmla="val -43072"/>
              <a:gd name="adj2" fmla="val 185824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 err="1">
                <a:solidFill>
                  <a:srgbClr val="FF0000"/>
                </a:solidFill>
              </a:rPr>
              <a:t>Adwhale</a:t>
            </a:r>
            <a:r>
              <a:rPr kumimoji="1" lang="en-US" altLang="ko-KR" sz="600" dirty="0">
                <a:solidFill>
                  <a:srgbClr val="FF0000"/>
                </a:solidFill>
              </a:rPr>
              <a:t>-db </a:t>
            </a:r>
            <a:r>
              <a:rPr kumimoji="1" lang="ko-KR" altLang="en-US" sz="600" dirty="0">
                <a:solidFill>
                  <a:srgbClr val="FF0000"/>
                </a:solidFill>
              </a:rPr>
              <a:t>장애대응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실패 시 </a:t>
            </a:r>
            <a:r>
              <a:rPr kumimoji="1" lang="en-US" altLang="ko-KR" sz="600" dirty="0">
                <a:solidFill>
                  <a:srgbClr val="FF0000"/>
                </a:solidFill>
              </a:rPr>
              <a:t>DB</a:t>
            </a:r>
            <a:r>
              <a:rPr kumimoji="1" lang="ko-KR" altLang="en-US" sz="600" dirty="0">
                <a:solidFill>
                  <a:srgbClr val="FF0000"/>
                </a:solidFill>
              </a:rPr>
              <a:t>가 살아날 때까지 계속 재시도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(1</a:t>
            </a:r>
            <a:r>
              <a:rPr kumimoji="1" lang="ko-KR" altLang="en-US" sz="600" dirty="0">
                <a:solidFill>
                  <a:srgbClr val="FF0000"/>
                </a:solidFill>
              </a:rPr>
              <a:t>초 </a:t>
            </a:r>
            <a:r>
              <a:rPr kumimoji="1" lang="en-US" altLang="ko-KR" sz="600" dirty="0">
                <a:solidFill>
                  <a:srgbClr val="FF0000"/>
                </a:solidFill>
              </a:rPr>
              <a:t>&gt;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2</a:t>
            </a:r>
            <a:r>
              <a:rPr kumimoji="1" lang="ko-KR" altLang="en-US" sz="600" dirty="0">
                <a:solidFill>
                  <a:srgbClr val="FF0000"/>
                </a:solidFill>
              </a:rPr>
              <a:t>초 </a:t>
            </a:r>
            <a:r>
              <a:rPr kumimoji="1" lang="en-US" altLang="ko-KR" sz="600" dirty="0">
                <a:solidFill>
                  <a:srgbClr val="FF0000"/>
                </a:solidFill>
              </a:rPr>
              <a:t>&gt;.4</a:t>
            </a:r>
            <a:r>
              <a:rPr kumimoji="1" lang="ko-KR" altLang="en-US" sz="600" dirty="0">
                <a:solidFill>
                  <a:srgbClr val="FF0000"/>
                </a:solidFill>
              </a:rPr>
              <a:t>초 </a:t>
            </a:r>
            <a:r>
              <a:rPr kumimoji="1" lang="en-US" altLang="ko-KR" sz="600" dirty="0">
                <a:solidFill>
                  <a:srgbClr val="FF0000"/>
                </a:solidFill>
              </a:rPr>
              <a:t>&gt;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…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&gt;</a:t>
            </a:r>
            <a:r>
              <a:rPr kumimoji="1" lang="ko-KR" altLang="en-US" sz="600" dirty="0">
                <a:solidFill>
                  <a:srgbClr val="FF0000"/>
                </a:solidFill>
              </a:rPr>
              <a:t> 최대 </a:t>
            </a:r>
            <a:r>
              <a:rPr kumimoji="1" lang="en-US" altLang="ko-KR" sz="600" dirty="0">
                <a:solidFill>
                  <a:srgbClr val="FF0000"/>
                </a:solidFill>
              </a:rPr>
              <a:t>30</a:t>
            </a:r>
            <a:r>
              <a:rPr kumimoji="1" lang="ko-KR" altLang="en-US" sz="600" dirty="0">
                <a:solidFill>
                  <a:srgbClr val="FF0000"/>
                </a:solidFill>
              </a:rPr>
              <a:t>초 간격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99CFA856-96FF-1874-5B82-641DB8824E81}"/>
              </a:ext>
            </a:extLst>
          </p:cNvPr>
          <p:cNvSpPr/>
          <p:nvPr/>
        </p:nvSpPr>
        <p:spPr>
          <a:xfrm>
            <a:off x="14096071" y="-1169090"/>
            <a:ext cx="2826118" cy="860107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ad-batch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190" name="직선 화살표 연결선 189">
            <a:extLst>
              <a:ext uri="{FF2B5EF4-FFF2-40B4-BE49-F238E27FC236}">
                <a16:creationId xmlns:a16="http://schemas.microsoft.com/office/drawing/2014/main" id="{E541A216-68AB-5C1E-3E87-DB161F3FEB1C}"/>
              </a:ext>
            </a:extLst>
          </p:cNvPr>
          <p:cNvCxnSpPr>
            <a:cxnSpLocks/>
            <a:stCxn id="188" idx="6"/>
            <a:endCxn id="169" idx="1"/>
          </p:cNvCxnSpPr>
          <p:nvPr/>
        </p:nvCxnSpPr>
        <p:spPr>
          <a:xfrm flipV="1">
            <a:off x="-2563317" y="-675542"/>
            <a:ext cx="20264407" cy="222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F66FED91-0622-0004-0A82-B26690269DE4}"/>
              </a:ext>
            </a:extLst>
          </p:cNvPr>
          <p:cNvCxnSpPr>
            <a:cxnSpLocks/>
            <a:stCxn id="205" idx="3"/>
            <a:endCxn id="170" idx="2"/>
          </p:cNvCxnSpPr>
          <p:nvPr/>
        </p:nvCxnSpPr>
        <p:spPr>
          <a:xfrm flipV="1">
            <a:off x="11857754" y="3183114"/>
            <a:ext cx="5633256" cy="3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75" name="꺾인 연결선[E] 274">
            <a:extLst>
              <a:ext uri="{FF2B5EF4-FFF2-40B4-BE49-F238E27FC236}">
                <a16:creationId xmlns:a16="http://schemas.microsoft.com/office/drawing/2014/main" id="{473AD237-1B26-DCEA-2092-3F07B03986C6}"/>
              </a:ext>
            </a:extLst>
          </p:cNvPr>
          <p:cNvCxnSpPr>
            <a:cxnSpLocks/>
            <a:stCxn id="102" idx="2"/>
            <a:endCxn id="168" idx="0"/>
          </p:cNvCxnSpPr>
          <p:nvPr/>
        </p:nvCxnSpPr>
        <p:spPr>
          <a:xfrm rot="16200000" flipH="1">
            <a:off x="11249097" y="-8277660"/>
            <a:ext cx="1031380" cy="13183689"/>
          </a:xfrm>
          <a:prstGeom prst="bentConnector3">
            <a:avLst>
              <a:gd name="adj1" fmla="val 64589"/>
            </a:avLst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꺾인 연결선[E] 280">
            <a:extLst>
              <a:ext uri="{FF2B5EF4-FFF2-40B4-BE49-F238E27FC236}">
                <a16:creationId xmlns:a16="http://schemas.microsoft.com/office/drawing/2014/main" id="{A4B0A7C3-90D9-F688-4AF0-2D4A80184947}"/>
              </a:ext>
            </a:extLst>
          </p:cNvPr>
          <p:cNvCxnSpPr>
            <a:cxnSpLocks/>
            <a:stCxn id="69" idx="2"/>
            <a:endCxn id="272" idx="0"/>
          </p:cNvCxnSpPr>
          <p:nvPr/>
        </p:nvCxnSpPr>
        <p:spPr>
          <a:xfrm rot="16200000" flipH="1">
            <a:off x="11029029" y="-5649191"/>
            <a:ext cx="1036422" cy="7923779"/>
          </a:xfrm>
          <a:prstGeom prst="bentConnector3">
            <a:avLst>
              <a:gd name="adj1" fmla="val 26547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5" name="직사각형 284">
            <a:extLst>
              <a:ext uri="{FF2B5EF4-FFF2-40B4-BE49-F238E27FC236}">
                <a16:creationId xmlns:a16="http://schemas.microsoft.com/office/drawing/2014/main" id="{D08AD816-D5E9-42C6-3793-CB3C8A751AF2}"/>
              </a:ext>
            </a:extLst>
          </p:cNvPr>
          <p:cNvSpPr/>
          <p:nvPr/>
        </p:nvSpPr>
        <p:spPr>
          <a:xfrm>
            <a:off x="14292438" y="-356681"/>
            <a:ext cx="2386683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AdBatchApplication</a:t>
            </a:r>
            <a:endParaRPr kumimoji="1" lang="ko-KR" altLang="en-US" sz="1000" dirty="0"/>
          </a:p>
        </p:txBody>
      </p:sp>
      <p:sp>
        <p:nvSpPr>
          <p:cNvPr id="286" name="타원 285">
            <a:extLst>
              <a:ext uri="{FF2B5EF4-FFF2-40B4-BE49-F238E27FC236}">
                <a16:creationId xmlns:a16="http://schemas.microsoft.com/office/drawing/2014/main" id="{ADD89200-73B9-4655-434F-0A36F741C036}"/>
              </a:ext>
            </a:extLst>
          </p:cNvPr>
          <p:cNvSpPr/>
          <p:nvPr/>
        </p:nvSpPr>
        <p:spPr>
          <a:xfrm>
            <a:off x="-2797233" y="-267581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500EFD92-EBD2-5021-6B03-B189F7D7AD70}"/>
              </a:ext>
            </a:extLst>
          </p:cNvPr>
          <p:cNvSpPr txBox="1"/>
          <p:nvPr/>
        </p:nvSpPr>
        <p:spPr>
          <a:xfrm>
            <a:off x="-3352647" y="2104"/>
            <a:ext cx="13244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6.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ad-batch </a:t>
            </a:r>
            <a:r>
              <a:rPr kumimoji="1" lang="ko-KR" altLang="en-US" sz="1000" dirty="0">
                <a:solidFill>
                  <a:srgbClr val="0070C0"/>
                </a:solidFill>
              </a:rPr>
              <a:t>앱 기동</a:t>
            </a:r>
          </a:p>
        </p:txBody>
      </p:sp>
      <p:cxnSp>
        <p:nvCxnSpPr>
          <p:cNvPr id="288" name="직선 화살표 연결선 287">
            <a:extLst>
              <a:ext uri="{FF2B5EF4-FFF2-40B4-BE49-F238E27FC236}">
                <a16:creationId xmlns:a16="http://schemas.microsoft.com/office/drawing/2014/main" id="{B348E0BA-FE04-1BE8-7F4D-2B32C5DD1EC8}"/>
              </a:ext>
            </a:extLst>
          </p:cNvPr>
          <p:cNvCxnSpPr>
            <a:cxnSpLocks/>
            <a:stCxn id="286" idx="6"/>
            <a:endCxn id="285" idx="1"/>
          </p:cNvCxnSpPr>
          <p:nvPr/>
        </p:nvCxnSpPr>
        <p:spPr>
          <a:xfrm flipV="1">
            <a:off x="-2563317" y="-178340"/>
            <a:ext cx="16855755" cy="3835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직사각형 291">
            <a:extLst>
              <a:ext uri="{FF2B5EF4-FFF2-40B4-BE49-F238E27FC236}">
                <a16:creationId xmlns:a16="http://schemas.microsoft.com/office/drawing/2014/main" id="{2C3B3F10-E3D5-E2BE-242B-4D7B2B67FFD1}"/>
              </a:ext>
            </a:extLst>
          </p:cNvPr>
          <p:cNvSpPr/>
          <p:nvPr/>
        </p:nvSpPr>
        <p:spPr>
          <a:xfrm>
            <a:off x="15541191" y="1488301"/>
            <a:ext cx="1114780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jdbc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93" name="직사각형 292">
            <a:extLst>
              <a:ext uri="{FF2B5EF4-FFF2-40B4-BE49-F238E27FC236}">
                <a16:creationId xmlns:a16="http://schemas.microsoft.com/office/drawing/2014/main" id="{673A297B-18EC-F2AA-A816-B4D073DEFE9D}"/>
              </a:ext>
            </a:extLst>
          </p:cNvPr>
          <p:cNvSpPr/>
          <p:nvPr/>
        </p:nvSpPr>
        <p:spPr>
          <a:xfrm>
            <a:off x="14316203" y="1488301"/>
            <a:ext cx="1089703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</a:t>
            </a:r>
          </a:p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C2043464-F4AA-6168-AAE9-69D3207DC4A5}"/>
              </a:ext>
            </a:extLst>
          </p:cNvPr>
          <p:cNvSpPr/>
          <p:nvPr/>
        </p:nvSpPr>
        <p:spPr>
          <a:xfrm>
            <a:off x="14688273" y="2363569"/>
            <a:ext cx="1574157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HourlyStatsJob</a:t>
            </a:r>
            <a:endParaRPr kumimoji="1" lang="ko-KR" altLang="en-US" sz="1000" dirty="0"/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4C7F94EB-326A-3792-6BBD-42924E654536}"/>
              </a:ext>
            </a:extLst>
          </p:cNvPr>
          <p:cNvCxnSpPr>
            <a:cxnSpLocks/>
            <a:endCxn id="293" idx="0"/>
          </p:cNvCxnSpPr>
          <p:nvPr/>
        </p:nvCxnSpPr>
        <p:spPr>
          <a:xfrm>
            <a:off x="14861055" y="0"/>
            <a:ext cx="0" cy="14883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6" name="직선 화살표 연결선 305">
            <a:extLst>
              <a:ext uri="{FF2B5EF4-FFF2-40B4-BE49-F238E27FC236}">
                <a16:creationId xmlns:a16="http://schemas.microsoft.com/office/drawing/2014/main" id="{EEA78FF1-D940-3BE4-17FE-03A334EB592E}"/>
              </a:ext>
            </a:extLst>
          </p:cNvPr>
          <p:cNvCxnSpPr>
            <a:cxnSpLocks/>
            <a:endCxn id="292" idx="0"/>
          </p:cNvCxnSpPr>
          <p:nvPr/>
        </p:nvCxnSpPr>
        <p:spPr>
          <a:xfrm>
            <a:off x="16098581" y="0"/>
            <a:ext cx="0" cy="14883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1" name="구부러진 연결선[U] 310">
            <a:extLst>
              <a:ext uri="{FF2B5EF4-FFF2-40B4-BE49-F238E27FC236}">
                <a16:creationId xmlns:a16="http://schemas.microsoft.com/office/drawing/2014/main" id="{84DE2004-CA5C-354A-2C87-4BB7C3EE6C10}"/>
              </a:ext>
            </a:extLst>
          </p:cNvPr>
          <p:cNvCxnSpPr>
            <a:stCxn id="297" idx="0"/>
            <a:endCxn id="297" idx="2"/>
          </p:cNvCxnSpPr>
          <p:nvPr/>
        </p:nvCxnSpPr>
        <p:spPr>
          <a:xfrm rot="16200000" flipH="1">
            <a:off x="15297011" y="2541909"/>
            <a:ext cx="356681" cy="12700"/>
          </a:xfrm>
          <a:prstGeom prst="curvedConnector5">
            <a:avLst>
              <a:gd name="adj1" fmla="val -64091"/>
              <a:gd name="adj2" fmla="val 7997472"/>
              <a:gd name="adj3" fmla="val 164091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FC20570-1C42-A02C-DDD0-E5E00C0F2D5B}"/>
              </a:ext>
            </a:extLst>
          </p:cNvPr>
          <p:cNvCxnSpPr>
            <a:cxnSpLocks/>
            <a:endCxn id="293" idx="2"/>
          </p:cNvCxnSpPr>
          <p:nvPr/>
        </p:nvCxnSpPr>
        <p:spPr>
          <a:xfrm flipV="1">
            <a:off x="14861055" y="1861302"/>
            <a:ext cx="0" cy="488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16" name="직선 화살표 연결선 315">
            <a:extLst>
              <a:ext uri="{FF2B5EF4-FFF2-40B4-BE49-F238E27FC236}">
                <a16:creationId xmlns:a16="http://schemas.microsoft.com/office/drawing/2014/main" id="{963417CE-74C5-3517-2822-5E53DD8EC4D4}"/>
              </a:ext>
            </a:extLst>
          </p:cNvPr>
          <p:cNvCxnSpPr>
            <a:cxnSpLocks/>
            <a:endCxn id="292" idx="2"/>
          </p:cNvCxnSpPr>
          <p:nvPr/>
        </p:nvCxnSpPr>
        <p:spPr>
          <a:xfrm flipV="1">
            <a:off x="16098581" y="1861302"/>
            <a:ext cx="0" cy="488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21" name="직선 화살표 연결선 320">
            <a:extLst>
              <a:ext uri="{FF2B5EF4-FFF2-40B4-BE49-F238E27FC236}">
                <a16:creationId xmlns:a16="http://schemas.microsoft.com/office/drawing/2014/main" id="{6C10FFCA-7F70-3DB5-18A6-C4A1FE4C88AA}"/>
              </a:ext>
            </a:extLst>
          </p:cNvPr>
          <p:cNvCxnSpPr>
            <a:cxnSpLocks/>
            <a:stCxn id="292" idx="3"/>
          </p:cNvCxnSpPr>
          <p:nvPr/>
        </p:nvCxnSpPr>
        <p:spPr>
          <a:xfrm>
            <a:off x="16655971" y="1674802"/>
            <a:ext cx="8333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0" name="TextBox 329">
            <a:extLst>
              <a:ext uri="{FF2B5EF4-FFF2-40B4-BE49-F238E27FC236}">
                <a16:creationId xmlns:a16="http://schemas.microsoft.com/office/drawing/2014/main" id="{2EF207AD-4780-B9F6-984F-4C9CAE3C5FF5}"/>
              </a:ext>
            </a:extLst>
          </p:cNvPr>
          <p:cNvSpPr txBox="1"/>
          <p:nvPr/>
        </p:nvSpPr>
        <p:spPr>
          <a:xfrm>
            <a:off x="16794608" y="1479692"/>
            <a:ext cx="53251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DB CRUD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9A94B7B8-C2BA-12D7-8C60-E6D47A87BFDA}"/>
              </a:ext>
            </a:extLst>
          </p:cNvPr>
          <p:cNvSpPr txBox="1"/>
          <p:nvPr/>
        </p:nvSpPr>
        <p:spPr>
          <a:xfrm>
            <a:off x="16102056" y="1966680"/>
            <a:ext cx="8226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sz="600" b="1" dirty="0">
                <a:solidFill>
                  <a:schemeClr val="accent2"/>
                </a:solidFill>
              </a:rPr>
              <a:t>앱 시작 </a:t>
            </a:r>
            <a:r>
              <a:rPr kumimoji="1" lang="en-US" altLang="ko-KR" sz="600" b="1" dirty="0">
                <a:solidFill>
                  <a:schemeClr val="accent2"/>
                </a:solidFill>
              </a:rPr>
              <a:t>5</a:t>
            </a:r>
            <a:r>
              <a:rPr kumimoji="1" lang="ko-KR" altLang="en-US" sz="600" b="1" dirty="0">
                <a:solidFill>
                  <a:schemeClr val="accent2"/>
                </a:solidFill>
              </a:rPr>
              <a:t>초 뒤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5</a:t>
            </a:r>
            <a:r>
              <a:rPr kumimoji="1" lang="ko-KR" altLang="en-US" sz="600" b="1" dirty="0">
                <a:solidFill>
                  <a:schemeClr val="accent2"/>
                </a:solidFill>
              </a:rPr>
              <a:t>분 마다 배치실행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E94FBF07-94FF-2F49-0C40-93C44CB74488}"/>
              </a:ext>
            </a:extLst>
          </p:cNvPr>
          <p:cNvSpPr txBox="1"/>
          <p:nvPr/>
        </p:nvSpPr>
        <p:spPr>
          <a:xfrm>
            <a:off x="16541892" y="1687824"/>
            <a:ext cx="10727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UPDATE ad_stats_hourly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1CCF17A5-929F-8182-F602-F51C6E92CE54}"/>
              </a:ext>
            </a:extLst>
          </p:cNvPr>
          <p:cNvSpPr txBox="1"/>
          <p:nvPr/>
        </p:nvSpPr>
        <p:spPr>
          <a:xfrm>
            <a:off x="14373566" y="2989286"/>
            <a:ext cx="53251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DB CRUD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72C239EF-8205-A497-DCCE-D2D81176154C}"/>
              </a:ext>
            </a:extLst>
          </p:cNvPr>
          <p:cNvSpPr txBox="1"/>
          <p:nvPr/>
        </p:nvSpPr>
        <p:spPr>
          <a:xfrm>
            <a:off x="14235539" y="3198034"/>
            <a:ext cx="79861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INSERT ad_event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BF324B13-D3B7-AB8C-19FA-C2FB8479C834}"/>
              </a:ext>
            </a:extLst>
          </p:cNvPr>
          <p:cNvSpPr txBox="1"/>
          <p:nvPr/>
        </p:nvSpPr>
        <p:spPr>
          <a:xfrm>
            <a:off x="-3408936" y="-2912337"/>
            <a:ext cx="168815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버전</a:t>
            </a:r>
            <a:r>
              <a:rPr kumimoji="1" lang="en-US" altLang="ko-KR" dirty="0"/>
              <a:t>2:</a:t>
            </a:r>
          </a:p>
          <a:p>
            <a:r>
              <a:rPr kumimoji="1" lang="en-US" altLang="ko-KR" dirty="0"/>
              <a:t>MySQL </a:t>
            </a:r>
            <a:r>
              <a:rPr kumimoji="1" lang="ko-KR" altLang="en-US" dirty="0"/>
              <a:t>및</a:t>
            </a:r>
            <a:endParaRPr kumimoji="1" lang="en-US" altLang="ko-KR" dirty="0"/>
          </a:p>
          <a:p>
            <a:r>
              <a:rPr kumimoji="1" lang="en-US" altLang="ko-KR" dirty="0"/>
              <a:t>Ad-batch</a:t>
            </a:r>
            <a:r>
              <a:rPr kumimoji="1" lang="ko-KR" altLang="en-US" dirty="0"/>
              <a:t> 추가</a:t>
            </a:r>
          </a:p>
        </p:txBody>
      </p:sp>
    </p:spTree>
    <p:extLst>
      <p:ext uri="{BB962C8B-B14F-4D97-AF65-F5344CB8AC3E}">
        <p14:creationId xmlns:p14="http://schemas.microsoft.com/office/powerpoint/2010/main" val="1161034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2391</TotalTime>
  <Words>1338</Words>
  <Application>Microsoft Macintosh PowerPoint</Application>
  <PresentationFormat>와이드스크린</PresentationFormat>
  <Paragraphs>315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JUNHO JEONG</dc:creator>
  <cp:lastModifiedBy>JUNHO JEONG</cp:lastModifiedBy>
  <cp:revision>9</cp:revision>
  <dcterms:created xsi:type="dcterms:W3CDTF">2026-10-05T06:21:11Z</dcterms:created>
  <dcterms:modified xsi:type="dcterms:W3CDTF">2026-10-08T08:57:19Z</dcterms:modified>
</cp:coreProperties>
</file>